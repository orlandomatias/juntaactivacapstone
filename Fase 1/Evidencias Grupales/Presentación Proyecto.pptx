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Montserrat"/>
      <p:regular r:id="rId17"/>
    </p:embeddedFont>
    <p:embeddedFont>
      <p:font typeface="Montserrat"/>
      <p:regular r:id="rId18"/>
    </p:embeddedFont>
    <p:embeddedFont>
      <p:font typeface="Montserrat"/>
      <p:regular r:id="rId19"/>
    </p:embeddedFont>
    <p:embeddedFont>
      <p:font typeface="Montserrat"/>
      <p:regular r:id="rId20"/>
    </p:embeddedFont>
    <p:embeddedFont>
      <p:font typeface="Source Sans 3"/>
      <p:regular r:id="rId21"/>
    </p:embeddedFont>
    <p:embeddedFont>
      <p:font typeface="Source Sans 3"/>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D1F2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D1F2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image" Target="../media/image-5-9.png"/><Relationship Id="rId10" Type="http://schemas.openxmlformats.org/officeDocument/2006/relationships/image" Target="../media/image-5-10.svg"/><Relationship Id="rId11" Type="http://schemas.openxmlformats.org/officeDocument/2006/relationships/slideLayout" Target="../slideLayouts/slideLayout6.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sv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sv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sv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image" Target="../media/image-9-15.svg"/><Relationship Id="rId16" Type="http://schemas.openxmlformats.org/officeDocument/2006/relationships/slideLayout" Target="../slideLayouts/slideLayout10.xml"/><Relationship Id="rId1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63798" y="1713786"/>
            <a:ext cx="7416403" cy="2454116"/>
          </a:xfrm>
          <a:prstGeom prst="rect">
            <a:avLst/>
          </a:prstGeom>
          <a:noFill/>
          <a:ln/>
        </p:spPr>
        <p:txBody>
          <a:bodyPr wrap="square" lIns="0" tIns="0" rIns="0" bIns="0" rtlCol="0" anchor="t"/>
          <a:lstStyle/>
          <a:p>
            <a:pPr algn="ctr" indent="0" marL="0">
              <a:lnSpc>
                <a:spcPts val="9650"/>
              </a:lnSpc>
              <a:buNone/>
            </a:pPr>
            <a:r>
              <a:rPr lang="en-US" sz="7700" b="1" dirty="0">
                <a:solidFill>
                  <a:srgbClr val="FFFFFF"/>
                </a:solidFill>
                <a:latin typeface="Montserrat Bold" pitchFamily="34" charset="0"/>
                <a:ea typeface="Montserrat Bold" pitchFamily="34" charset="-122"/>
                <a:cs typeface="Montserrat Bold" pitchFamily="34" charset="-120"/>
              </a:rPr>
              <a:t>Proyecto APT – Fase 1</a:t>
            </a:r>
            <a:endParaRPr lang="en-US" sz="7700" dirty="0"/>
          </a:p>
        </p:txBody>
      </p:sp>
      <p:sp>
        <p:nvSpPr>
          <p:cNvPr id="4" name="Text 1"/>
          <p:cNvSpPr/>
          <p:nvPr/>
        </p:nvSpPr>
        <p:spPr>
          <a:xfrm>
            <a:off x="863798" y="4491752"/>
            <a:ext cx="7416403" cy="2024063"/>
          </a:xfrm>
          <a:prstGeom prst="rect">
            <a:avLst/>
          </a:prstGeom>
          <a:noFill/>
          <a:ln/>
        </p:spPr>
        <p:txBody>
          <a:bodyPr wrap="square" lIns="0" tIns="0" rIns="0" bIns="0" rtlCol="0" anchor="t"/>
          <a:lstStyle/>
          <a:p>
            <a:pPr algn="ctr" indent="0" marL="0">
              <a:lnSpc>
                <a:spcPts val="3150"/>
              </a:lnSpc>
              <a:buNone/>
            </a:pPr>
            <a:r>
              <a:rPr lang="en-US" sz="2100" b="1" dirty="0">
                <a:solidFill>
                  <a:srgbClr val="E2E6E9"/>
                </a:solidFill>
                <a:latin typeface="Source Sans 3" pitchFamily="34" charset="0"/>
                <a:ea typeface="Source Sans 3" pitchFamily="34" charset="-122"/>
                <a:cs typeface="Source Sans 3" pitchFamily="34" charset="-120"/>
              </a:rPr>
              <a:t>Asignatura:</a:t>
            </a:r>
            <a:pPr algn="ctr" indent="0" marL="0">
              <a:lnSpc>
                <a:spcPts val="3150"/>
              </a:lnSpc>
              <a:buNone/>
            </a:pPr>
            <a:r>
              <a:rPr lang="en-US" sz="2100" dirty="0">
                <a:solidFill>
                  <a:srgbClr val="E2E6E9"/>
                </a:solidFill>
                <a:latin typeface="Source Sans 3" pitchFamily="34" charset="0"/>
                <a:ea typeface="Source Sans 3" pitchFamily="34" charset="-122"/>
                <a:cs typeface="Source Sans 3" pitchFamily="34" charset="-120"/>
              </a:rPr>
              <a:t> Capstone – PT4614 </a:t>
            </a:r>
            <a:pPr algn="ctr" indent="0" marL="0">
              <a:lnSpc>
                <a:spcPts val="3150"/>
              </a:lnSpc>
              <a:buNone/>
            </a:pPr>
            <a:r>
              <a:rPr lang="en-US" sz="2100" b="1" dirty="0">
                <a:solidFill>
                  <a:srgbClr val="E2E6E9"/>
                </a:solidFill>
                <a:latin typeface="Source Sans 3" pitchFamily="34" charset="0"/>
                <a:ea typeface="Source Sans 3" pitchFamily="34" charset="-122"/>
                <a:cs typeface="Source Sans 3" pitchFamily="34" charset="-120"/>
              </a:rPr>
              <a:t>Integrantes:</a:t>
            </a:r>
            <a:pPr algn="ctr" indent="0" marL="0">
              <a:lnSpc>
                <a:spcPts val="3150"/>
              </a:lnSpc>
              <a:buNone/>
            </a:pPr>
            <a:r>
              <a:rPr lang="en-US" sz="2100" dirty="0">
                <a:solidFill>
                  <a:srgbClr val="E2E6E9"/>
                </a:solidFill>
                <a:latin typeface="Source Sans 3" pitchFamily="34" charset="0"/>
                <a:ea typeface="Source Sans 3" pitchFamily="34" charset="-122"/>
                <a:cs typeface="Source Sans 3" pitchFamily="34" charset="-120"/>
              </a:rPr>
              <a:t> Danae Ugarte, Matías Contreras, Elías López </a:t>
            </a:r>
            <a:pPr algn="ctr" indent="0" marL="0">
              <a:lnSpc>
                <a:spcPts val="3150"/>
              </a:lnSpc>
              <a:buNone/>
            </a:pPr>
            <a:r>
              <a:rPr lang="en-US" sz="2100" b="1" dirty="0">
                <a:solidFill>
                  <a:srgbClr val="E2E6E9"/>
                </a:solidFill>
                <a:latin typeface="Source Sans 3" pitchFamily="34" charset="0"/>
                <a:ea typeface="Source Sans 3" pitchFamily="34" charset="-122"/>
                <a:cs typeface="Source Sans 3" pitchFamily="34" charset="-120"/>
              </a:rPr>
              <a:t>Carrera:</a:t>
            </a:r>
            <a:pPr algn="ctr" indent="0" marL="0">
              <a:lnSpc>
                <a:spcPts val="3150"/>
              </a:lnSpc>
              <a:buNone/>
            </a:pPr>
            <a:r>
              <a:rPr lang="en-US" sz="2100" dirty="0">
                <a:solidFill>
                  <a:srgbClr val="E2E6E9"/>
                </a:solidFill>
                <a:latin typeface="Source Sans 3" pitchFamily="34" charset="0"/>
                <a:ea typeface="Source Sans 3" pitchFamily="34" charset="-122"/>
                <a:cs typeface="Source Sans 3" pitchFamily="34" charset="-120"/>
              </a:rPr>
              <a:t> Ingeniería en Informática </a:t>
            </a:r>
            <a:pPr algn="ctr" indent="0" marL="0">
              <a:lnSpc>
                <a:spcPts val="3150"/>
              </a:lnSpc>
              <a:buNone/>
            </a:pPr>
            <a:r>
              <a:rPr lang="en-US" sz="2100" b="1" dirty="0">
                <a:solidFill>
                  <a:srgbClr val="E2E6E9"/>
                </a:solidFill>
                <a:latin typeface="Source Sans 3" pitchFamily="34" charset="0"/>
                <a:ea typeface="Source Sans 3" pitchFamily="34" charset="-122"/>
                <a:cs typeface="Source Sans 3" pitchFamily="34" charset="-120"/>
              </a:rPr>
              <a:t>Sede:</a:t>
            </a:r>
            <a:pPr algn="ctr" indent="0" marL="0">
              <a:lnSpc>
                <a:spcPts val="3150"/>
              </a:lnSpc>
              <a:buNone/>
            </a:pPr>
            <a:r>
              <a:rPr lang="en-US" sz="2100" dirty="0">
                <a:solidFill>
                  <a:srgbClr val="E2E6E9"/>
                </a:solidFill>
                <a:latin typeface="Source Sans 3" pitchFamily="34" charset="0"/>
                <a:ea typeface="Source Sans 3" pitchFamily="34" charset="-122"/>
                <a:cs typeface="Source Sans 3" pitchFamily="34" charset="-120"/>
              </a:rPr>
              <a:t> San Joaquín </a:t>
            </a:r>
            <a:pPr algn="ctr" indent="0" marL="0">
              <a:lnSpc>
                <a:spcPts val="3150"/>
              </a:lnSpc>
              <a:buNone/>
            </a:pPr>
            <a:r>
              <a:rPr lang="en-US" sz="2100" b="1" dirty="0">
                <a:solidFill>
                  <a:srgbClr val="E2E6E9"/>
                </a:solidFill>
                <a:latin typeface="Source Sans 3" pitchFamily="34" charset="0"/>
                <a:ea typeface="Source Sans 3" pitchFamily="34" charset="-122"/>
                <a:cs typeface="Source Sans 3" pitchFamily="34" charset="-120"/>
              </a:rPr>
              <a:t>Fecha:</a:t>
            </a:r>
            <a:pPr algn="ctr" indent="0" marL="0">
              <a:lnSpc>
                <a:spcPts val="3150"/>
              </a:lnSpc>
              <a:buNone/>
            </a:pPr>
            <a:r>
              <a:rPr lang="en-US" sz="2100" dirty="0">
                <a:solidFill>
                  <a:srgbClr val="E2E6E9"/>
                </a:solidFill>
                <a:latin typeface="Source Sans 3" pitchFamily="34" charset="0"/>
                <a:ea typeface="Source Sans 3" pitchFamily="34" charset="-122"/>
                <a:cs typeface="Source Sans 3" pitchFamily="34" charset="-120"/>
              </a:rPr>
              <a:t> 09 de Septiembre de 2025</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63798" y="714970"/>
            <a:ext cx="4172188" cy="521494"/>
          </a:xfrm>
          <a:prstGeom prst="rect">
            <a:avLst/>
          </a:prstGeom>
          <a:noFill/>
          <a:ln/>
        </p:spPr>
        <p:txBody>
          <a:bodyPr wrap="none" lIns="0" tIns="0" rIns="0" bIns="0" rtlCol="0" anchor="t"/>
          <a:lstStyle/>
          <a:p>
            <a:pPr algn="l" indent="0" marL="0">
              <a:lnSpc>
                <a:spcPts val="4100"/>
              </a:lnSpc>
              <a:buNone/>
            </a:pPr>
            <a:r>
              <a:rPr lang="en-US" sz="3250" b="1" dirty="0">
                <a:solidFill>
                  <a:srgbClr val="FFFFFF"/>
                </a:solidFill>
                <a:latin typeface="Montserrat Bold" pitchFamily="34" charset="0"/>
                <a:ea typeface="Montserrat Bold" pitchFamily="34" charset="-122"/>
                <a:cs typeface="Montserrat Bold" pitchFamily="34" charset="-120"/>
              </a:rPr>
              <a:t>Índice</a:t>
            </a:r>
            <a:endParaRPr lang="en-US" sz="3250" dirty="0"/>
          </a:p>
        </p:txBody>
      </p:sp>
      <p:sp>
        <p:nvSpPr>
          <p:cNvPr id="3" name="Shape 1"/>
          <p:cNvSpPr/>
          <p:nvPr/>
        </p:nvSpPr>
        <p:spPr>
          <a:xfrm>
            <a:off x="863798" y="1701046"/>
            <a:ext cx="91678" cy="91678"/>
          </a:xfrm>
          <a:prstGeom prst="roundRect">
            <a:avLst>
              <a:gd name="adj" fmla="val 498702"/>
            </a:avLst>
          </a:prstGeom>
          <a:solidFill>
            <a:srgbClr val="FFFFFF"/>
          </a:solidFill>
          <a:ln/>
        </p:spPr>
      </p:sp>
      <p:sp>
        <p:nvSpPr>
          <p:cNvPr id="4" name="Text 2"/>
          <p:cNvSpPr/>
          <p:nvPr/>
        </p:nvSpPr>
        <p:spPr>
          <a:xfrm>
            <a:off x="1138952" y="1603534"/>
            <a:ext cx="2086094" cy="260747"/>
          </a:xfrm>
          <a:prstGeom prst="rect">
            <a:avLst/>
          </a:prstGeom>
          <a:noFill/>
          <a:ln/>
        </p:spPr>
        <p:txBody>
          <a:bodyPr wrap="none" lIns="0" tIns="0" rIns="0" bIns="0" rtlCol="0" anchor="t"/>
          <a:lstStyle/>
          <a:p>
            <a:pPr algn="l" indent="0" marL="0">
              <a:lnSpc>
                <a:spcPts val="2050"/>
              </a:lnSpc>
              <a:buNone/>
            </a:pPr>
            <a:r>
              <a:rPr lang="en-US" sz="1600" b="1" dirty="0">
                <a:solidFill>
                  <a:srgbClr val="E2E6E9"/>
                </a:solidFill>
                <a:latin typeface="Montserrat Bold" pitchFamily="34" charset="0"/>
                <a:ea typeface="Montserrat Bold" pitchFamily="34" charset="-122"/>
                <a:cs typeface="Montserrat Bold" pitchFamily="34" charset="-120"/>
              </a:rPr>
              <a:t>Abstract</a:t>
            </a:r>
            <a:endParaRPr lang="en-US" sz="1600" dirty="0"/>
          </a:p>
        </p:txBody>
      </p:sp>
      <p:sp>
        <p:nvSpPr>
          <p:cNvPr id="5" name="Shape 3"/>
          <p:cNvSpPr/>
          <p:nvPr/>
        </p:nvSpPr>
        <p:spPr>
          <a:xfrm>
            <a:off x="863798" y="2328863"/>
            <a:ext cx="91678" cy="91678"/>
          </a:xfrm>
          <a:prstGeom prst="roundRect">
            <a:avLst>
              <a:gd name="adj" fmla="val 498702"/>
            </a:avLst>
          </a:prstGeom>
          <a:solidFill>
            <a:srgbClr val="FFFFFF"/>
          </a:solidFill>
          <a:ln/>
        </p:spPr>
      </p:sp>
      <p:sp>
        <p:nvSpPr>
          <p:cNvPr id="6" name="Text 4"/>
          <p:cNvSpPr/>
          <p:nvPr/>
        </p:nvSpPr>
        <p:spPr>
          <a:xfrm>
            <a:off x="1138952" y="2231350"/>
            <a:ext cx="4156353" cy="260747"/>
          </a:xfrm>
          <a:prstGeom prst="rect">
            <a:avLst/>
          </a:prstGeom>
          <a:noFill/>
          <a:ln/>
        </p:spPr>
        <p:txBody>
          <a:bodyPr wrap="none" lIns="0" tIns="0" rIns="0" bIns="0" rtlCol="0" anchor="t"/>
          <a:lstStyle/>
          <a:p>
            <a:pPr algn="l" indent="0" marL="0">
              <a:lnSpc>
                <a:spcPts val="2050"/>
              </a:lnSpc>
              <a:buNone/>
            </a:pPr>
            <a:r>
              <a:rPr lang="en-US" sz="1600" b="1" dirty="0">
                <a:solidFill>
                  <a:srgbClr val="E2E6E9"/>
                </a:solidFill>
                <a:latin typeface="Montserrat Bold" pitchFamily="34" charset="0"/>
                <a:ea typeface="Montserrat Bold" pitchFamily="34" charset="-122"/>
                <a:cs typeface="Montserrat Bold" pitchFamily="34" charset="-120"/>
              </a:rPr>
              <a:t>Descripción y Relevancia del Proyecto</a:t>
            </a:r>
            <a:endParaRPr lang="en-US" sz="1600" dirty="0"/>
          </a:p>
        </p:txBody>
      </p:sp>
      <p:sp>
        <p:nvSpPr>
          <p:cNvPr id="7" name="Shape 5"/>
          <p:cNvSpPr/>
          <p:nvPr/>
        </p:nvSpPr>
        <p:spPr>
          <a:xfrm>
            <a:off x="863798" y="2956679"/>
            <a:ext cx="91678" cy="91678"/>
          </a:xfrm>
          <a:prstGeom prst="roundRect">
            <a:avLst>
              <a:gd name="adj" fmla="val 498702"/>
            </a:avLst>
          </a:prstGeom>
          <a:solidFill>
            <a:srgbClr val="FFFFFF"/>
          </a:solidFill>
          <a:ln/>
        </p:spPr>
      </p:sp>
      <p:sp>
        <p:nvSpPr>
          <p:cNvPr id="8" name="Text 6"/>
          <p:cNvSpPr/>
          <p:nvPr/>
        </p:nvSpPr>
        <p:spPr>
          <a:xfrm>
            <a:off x="1138952" y="2859167"/>
            <a:ext cx="5209699" cy="260747"/>
          </a:xfrm>
          <a:prstGeom prst="rect">
            <a:avLst/>
          </a:prstGeom>
          <a:noFill/>
          <a:ln/>
        </p:spPr>
        <p:txBody>
          <a:bodyPr wrap="none" lIns="0" tIns="0" rIns="0" bIns="0" rtlCol="0" anchor="t"/>
          <a:lstStyle/>
          <a:p>
            <a:pPr algn="l" indent="0" marL="0">
              <a:lnSpc>
                <a:spcPts val="2050"/>
              </a:lnSpc>
              <a:buNone/>
            </a:pPr>
            <a:r>
              <a:rPr lang="en-US" sz="1600" b="1" dirty="0">
                <a:solidFill>
                  <a:srgbClr val="E2E6E9"/>
                </a:solidFill>
                <a:latin typeface="Montserrat Bold" pitchFamily="34" charset="0"/>
                <a:ea typeface="Montserrat Bold" pitchFamily="34" charset="-122"/>
                <a:cs typeface="Montserrat Bold" pitchFamily="34" charset="-120"/>
              </a:rPr>
              <a:t>Relación con Competencias del Perfil de Egreso</a:t>
            </a:r>
            <a:endParaRPr lang="en-US" sz="1600" dirty="0"/>
          </a:p>
        </p:txBody>
      </p:sp>
      <p:sp>
        <p:nvSpPr>
          <p:cNvPr id="9" name="Shape 7"/>
          <p:cNvSpPr/>
          <p:nvPr/>
        </p:nvSpPr>
        <p:spPr>
          <a:xfrm>
            <a:off x="863798" y="3584496"/>
            <a:ext cx="91678" cy="91678"/>
          </a:xfrm>
          <a:prstGeom prst="roundRect">
            <a:avLst>
              <a:gd name="adj" fmla="val 498702"/>
            </a:avLst>
          </a:prstGeom>
          <a:solidFill>
            <a:srgbClr val="FFFFFF"/>
          </a:solidFill>
          <a:ln/>
        </p:spPr>
      </p:sp>
      <p:sp>
        <p:nvSpPr>
          <p:cNvPr id="10" name="Text 8"/>
          <p:cNvSpPr/>
          <p:nvPr/>
        </p:nvSpPr>
        <p:spPr>
          <a:xfrm>
            <a:off x="1138952" y="3486983"/>
            <a:ext cx="3999309" cy="260747"/>
          </a:xfrm>
          <a:prstGeom prst="rect">
            <a:avLst/>
          </a:prstGeom>
          <a:noFill/>
          <a:ln/>
        </p:spPr>
        <p:txBody>
          <a:bodyPr wrap="none" lIns="0" tIns="0" rIns="0" bIns="0" rtlCol="0" anchor="t"/>
          <a:lstStyle/>
          <a:p>
            <a:pPr algn="l" indent="0" marL="0">
              <a:lnSpc>
                <a:spcPts val="2050"/>
              </a:lnSpc>
              <a:buNone/>
            </a:pPr>
            <a:r>
              <a:rPr lang="en-US" sz="1600" b="1" dirty="0">
                <a:solidFill>
                  <a:srgbClr val="E2E6E9"/>
                </a:solidFill>
                <a:latin typeface="Montserrat Bold" pitchFamily="34" charset="0"/>
                <a:ea typeface="Montserrat Bold" pitchFamily="34" charset="-122"/>
                <a:cs typeface="Montserrat Bold" pitchFamily="34" charset="-120"/>
              </a:rPr>
              <a:t>Relación con Intereses Profesionales</a:t>
            </a:r>
            <a:endParaRPr lang="en-US" sz="1600" dirty="0"/>
          </a:p>
        </p:txBody>
      </p:sp>
      <p:sp>
        <p:nvSpPr>
          <p:cNvPr id="11" name="Shape 9"/>
          <p:cNvSpPr/>
          <p:nvPr/>
        </p:nvSpPr>
        <p:spPr>
          <a:xfrm>
            <a:off x="863798" y="4212312"/>
            <a:ext cx="91678" cy="91678"/>
          </a:xfrm>
          <a:prstGeom prst="roundRect">
            <a:avLst>
              <a:gd name="adj" fmla="val 498702"/>
            </a:avLst>
          </a:prstGeom>
          <a:solidFill>
            <a:srgbClr val="FFFFFF"/>
          </a:solidFill>
          <a:ln/>
        </p:spPr>
      </p:sp>
      <p:sp>
        <p:nvSpPr>
          <p:cNvPr id="12" name="Text 10"/>
          <p:cNvSpPr/>
          <p:nvPr/>
        </p:nvSpPr>
        <p:spPr>
          <a:xfrm>
            <a:off x="1138952" y="4114800"/>
            <a:ext cx="3800832" cy="260747"/>
          </a:xfrm>
          <a:prstGeom prst="rect">
            <a:avLst/>
          </a:prstGeom>
          <a:noFill/>
          <a:ln/>
        </p:spPr>
        <p:txBody>
          <a:bodyPr wrap="none" lIns="0" tIns="0" rIns="0" bIns="0" rtlCol="0" anchor="t"/>
          <a:lstStyle/>
          <a:p>
            <a:pPr algn="l" indent="0" marL="0">
              <a:lnSpc>
                <a:spcPts val="2050"/>
              </a:lnSpc>
              <a:buNone/>
            </a:pPr>
            <a:r>
              <a:rPr lang="en-US" sz="1600" b="1" dirty="0">
                <a:solidFill>
                  <a:srgbClr val="E2E6E9"/>
                </a:solidFill>
                <a:latin typeface="Montserrat Bold" pitchFamily="34" charset="0"/>
                <a:ea typeface="Montserrat Bold" pitchFamily="34" charset="-122"/>
                <a:cs typeface="Montserrat Bold" pitchFamily="34" charset="-120"/>
              </a:rPr>
              <a:t>Fundamentación de la Factibilidad</a:t>
            </a:r>
            <a:endParaRPr lang="en-US" sz="1600" dirty="0"/>
          </a:p>
        </p:txBody>
      </p:sp>
      <p:sp>
        <p:nvSpPr>
          <p:cNvPr id="13" name="Shape 11"/>
          <p:cNvSpPr/>
          <p:nvPr/>
        </p:nvSpPr>
        <p:spPr>
          <a:xfrm>
            <a:off x="863798" y="4840129"/>
            <a:ext cx="91678" cy="91678"/>
          </a:xfrm>
          <a:prstGeom prst="roundRect">
            <a:avLst>
              <a:gd name="adj" fmla="val 498702"/>
            </a:avLst>
          </a:prstGeom>
          <a:solidFill>
            <a:srgbClr val="FFFFFF"/>
          </a:solidFill>
          <a:ln/>
        </p:spPr>
      </p:sp>
      <p:sp>
        <p:nvSpPr>
          <p:cNvPr id="14" name="Text 12"/>
          <p:cNvSpPr/>
          <p:nvPr/>
        </p:nvSpPr>
        <p:spPr>
          <a:xfrm>
            <a:off x="1138952" y="4742617"/>
            <a:ext cx="2466380" cy="260747"/>
          </a:xfrm>
          <a:prstGeom prst="rect">
            <a:avLst/>
          </a:prstGeom>
          <a:noFill/>
          <a:ln/>
        </p:spPr>
        <p:txBody>
          <a:bodyPr wrap="none" lIns="0" tIns="0" rIns="0" bIns="0" rtlCol="0" anchor="t"/>
          <a:lstStyle/>
          <a:p>
            <a:pPr algn="l" indent="0" marL="0">
              <a:lnSpc>
                <a:spcPts val="2050"/>
              </a:lnSpc>
              <a:buNone/>
            </a:pPr>
            <a:r>
              <a:rPr lang="en-US" sz="1600" b="1" dirty="0">
                <a:solidFill>
                  <a:srgbClr val="E2E6E9"/>
                </a:solidFill>
                <a:latin typeface="Montserrat Bold" pitchFamily="34" charset="0"/>
                <a:ea typeface="Montserrat Bold" pitchFamily="34" charset="-122"/>
                <a:cs typeface="Montserrat Bold" pitchFamily="34" charset="-120"/>
              </a:rPr>
              <a:t>Objetivos del Proyecto</a:t>
            </a:r>
            <a:endParaRPr lang="en-US" sz="1600" dirty="0"/>
          </a:p>
        </p:txBody>
      </p:sp>
      <p:sp>
        <p:nvSpPr>
          <p:cNvPr id="15" name="Shape 13"/>
          <p:cNvSpPr/>
          <p:nvPr/>
        </p:nvSpPr>
        <p:spPr>
          <a:xfrm>
            <a:off x="863798" y="5467945"/>
            <a:ext cx="91678" cy="91678"/>
          </a:xfrm>
          <a:prstGeom prst="roundRect">
            <a:avLst>
              <a:gd name="adj" fmla="val 498702"/>
            </a:avLst>
          </a:prstGeom>
          <a:solidFill>
            <a:srgbClr val="FFFFFF"/>
          </a:solidFill>
          <a:ln/>
        </p:spPr>
      </p:sp>
      <p:sp>
        <p:nvSpPr>
          <p:cNvPr id="16" name="Text 14"/>
          <p:cNvSpPr/>
          <p:nvPr/>
        </p:nvSpPr>
        <p:spPr>
          <a:xfrm>
            <a:off x="1138952" y="5370433"/>
            <a:ext cx="2573536" cy="260747"/>
          </a:xfrm>
          <a:prstGeom prst="rect">
            <a:avLst/>
          </a:prstGeom>
          <a:noFill/>
          <a:ln/>
        </p:spPr>
        <p:txBody>
          <a:bodyPr wrap="none" lIns="0" tIns="0" rIns="0" bIns="0" rtlCol="0" anchor="t"/>
          <a:lstStyle/>
          <a:p>
            <a:pPr algn="l" indent="0" marL="0">
              <a:lnSpc>
                <a:spcPts val="2050"/>
              </a:lnSpc>
              <a:buNone/>
            </a:pPr>
            <a:r>
              <a:rPr lang="en-US" sz="1600" b="1" dirty="0">
                <a:solidFill>
                  <a:srgbClr val="E2E6E9"/>
                </a:solidFill>
                <a:latin typeface="Montserrat Bold" pitchFamily="34" charset="0"/>
                <a:ea typeface="Montserrat Bold" pitchFamily="34" charset="-122"/>
                <a:cs typeface="Montserrat Bold" pitchFamily="34" charset="-120"/>
              </a:rPr>
              <a:t>Metodología de Trabajo</a:t>
            </a:r>
            <a:endParaRPr lang="en-US" sz="1600" dirty="0"/>
          </a:p>
        </p:txBody>
      </p:sp>
      <p:sp>
        <p:nvSpPr>
          <p:cNvPr id="17" name="Shape 15"/>
          <p:cNvSpPr/>
          <p:nvPr/>
        </p:nvSpPr>
        <p:spPr>
          <a:xfrm>
            <a:off x="863798" y="6095762"/>
            <a:ext cx="91678" cy="91678"/>
          </a:xfrm>
          <a:prstGeom prst="roundRect">
            <a:avLst>
              <a:gd name="adj" fmla="val 498702"/>
            </a:avLst>
          </a:prstGeom>
          <a:solidFill>
            <a:srgbClr val="FFFFFF"/>
          </a:solidFill>
          <a:ln/>
        </p:spPr>
      </p:sp>
      <p:sp>
        <p:nvSpPr>
          <p:cNvPr id="18" name="Text 16"/>
          <p:cNvSpPr/>
          <p:nvPr/>
        </p:nvSpPr>
        <p:spPr>
          <a:xfrm>
            <a:off x="1138952" y="5998250"/>
            <a:ext cx="2803922" cy="260747"/>
          </a:xfrm>
          <a:prstGeom prst="rect">
            <a:avLst/>
          </a:prstGeom>
          <a:noFill/>
          <a:ln/>
        </p:spPr>
        <p:txBody>
          <a:bodyPr wrap="none" lIns="0" tIns="0" rIns="0" bIns="0" rtlCol="0" anchor="t"/>
          <a:lstStyle/>
          <a:p>
            <a:pPr algn="l" indent="0" marL="0">
              <a:lnSpc>
                <a:spcPts val="2050"/>
              </a:lnSpc>
              <a:buNone/>
            </a:pPr>
            <a:r>
              <a:rPr lang="en-US" sz="1600" b="1" dirty="0">
                <a:solidFill>
                  <a:srgbClr val="E2E6E9"/>
                </a:solidFill>
                <a:latin typeface="Montserrat Bold" pitchFamily="34" charset="0"/>
                <a:ea typeface="Montserrat Bold" pitchFamily="34" charset="-122"/>
                <a:cs typeface="Montserrat Bold" pitchFamily="34" charset="-120"/>
              </a:rPr>
              <a:t>Plan de Trabajo Detallado</a:t>
            </a:r>
            <a:endParaRPr lang="en-US" sz="1600" dirty="0"/>
          </a:p>
        </p:txBody>
      </p:sp>
      <p:sp>
        <p:nvSpPr>
          <p:cNvPr id="19" name="Shape 17"/>
          <p:cNvSpPr/>
          <p:nvPr/>
        </p:nvSpPr>
        <p:spPr>
          <a:xfrm>
            <a:off x="863798" y="6723578"/>
            <a:ext cx="91678" cy="91678"/>
          </a:xfrm>
          <a:prstGeom prst="roundRect">
            <a:avLst>
              <a:gd name="adj" fmla="val 498702"/>
            </a:avLst>
          </a:prstGeom>
          <a:solidFill>
            <a:srgbClr val="FFFFFF"/>
          </a:solidFill>
          <a:ln/>
        </p:spPr>
      </p:sp>
      <p:sp>
        <p:nvSpPr>
          <p:cNvPr id="20" name="Text 18"/>
          <p:cNvSpPr/>
          <p:nvPr/>
        </p:nvSpPr>
        <p:spPr>
          <a:xfrm>
            <a:off x="1138952" y="6626066"/>
            <a:ext cx="2746772" cy="260747"/>
          </a:xfrm>
          <a:prstGeom prst="rect">
            <a:avLst/>
          </a:prstGeom>
          <a:noFill/>
          <a:ln/>
        </p:spPr>
        <p:txBody>
          <a:bodyPr wrap="none" lIns="0" tIns="0" rIns="0" bIns="0" rtlCol="0" anchor="t"/>
          <a:lstStyle/>
          <a:p>
            <a:pPr algn="l" indent="0" marL="0">
              <a:lnSpc>
                <a:spcPts val="2050"/>
              </a:lnSpc>
              <a:buNone/>
            </a:pPr>
            <a:r>
              <a:rPr lang="en-US" sz="1600" b="1" dirty="0">
                <a:solidFill>
                  <a:srgbClr val="E2E6E9"/>
                </a:solidFill>
                <a:latin typeface="Montserrat Bold" pitchFamily="34" charset="0"/>
                <a:ea typeface="Montserrat Bold" pitchFamily="34" charset="-122"/>
                <a:cs typeface="Montserrat Bold" pitchFamily="34" charset="-120"/>
              </a:rPr>
              <a:t>Evidencias del Desarrollo</a:t>
            </a:r>
            <a:endParaRPr lang="en-US" sz="1600" dirty="0"/>
          </a:p>
        </p:txBody>
      </p:sp>
      <p:sp>
        <p:nvSpPr>
          <p:cNvPr id="21" name="Shape 19"/>
          <p:cNvSpPr/>
          <p:nvPr/>
        </p:nvSpPr>
        <p:spPr>
          <a:xfrm>
            <a:off x="863798" y="7351395"/>
            <a:ext cx="91678" cy="91678"/>
          </a:xfrm>
          <a:prstGeom prst="roundRect">
            <a:avLst>
              <a:gd name="adj" fmla="val 498702"/>
            </a:avLst>
          </a:prstGeom>
          <a:solidFill>
            <a:srgbClr val="FFFFFF"/>
          </a:solidFill>
          <a:ln/>
        </p:spPr>
      </p:sp>
      <p:sp>
        <p:nvSpPr>
          <p:cNvPr id="22" name="Text 20"/>
          <p:cNvSpPr/>
          <p:nvPr/>
        </p:nvSpPr>
        <p:spPr>
          <a:xfrm>
            <a:off x="1138952" y="7253883"/>
            <a:ext cx="3311128" cy="260747"/>
          </a:xfrm>
          <a:prstGeom prst="rect">
            <a:avLst/>
          </a:prstGeom>
          <a:noFill/>
          <a:ln/>
        </p:spPr>
        <p:txBody>
          <a:bodyPr wrap="none" lIns="0" tIns="0" rIns="0" bIns="0" rtlCol="0" anchor="t"/>
          <a:lstStyle/>
          <a:p>
            <a:pPr algn="l" indent="0" marL="0">
              <a:lnSpc>
                <a:spcPts val="2050"/>
              </a:lnSpc>
              <a:buNone/>
            </a:pPr>
            <a:r>
              <a:rPr lang="en-US" sz="1600" b="1" dirty="0">
                <a:solidFill>
                  <a:srgbClr val="E2E6E9"/>
                </a:solidFill>
                <a:latin typeface="Montserrat Bold" pitchFamily="34" charset="0"/>
                <a:ea typeface="Montserrat Bold" pitchFamily="34" charset="-122"/>
                <a:cs typeface="Montserrat Bold" pitchFamily="34" charset="-120"/>
              </a:rPr>
              <a:t>Conclusiones y Reflexión Final</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860965" y="2093833"/>
            <a:ext cx="4908471" cy="613529"/>
          </a:xfrm>
          <a:prstGeom prst="rect">
            <a:avLst/>
          </a:prstGeom>
          <a:noFill/>
          <a:ln/>
        </p:spPr>
        <p:txBody>
          <a:bodyPr wrap="none" lIns="0" tIns="0" rIns="0" bIns="0" rtlCol="0" anchor="t"/>
          <a:lstStyle/>
          <a:p>
            <a:pPr algn="ctr" indent="0" marL="0">
              <a:lnSpc>
                <a:spcPts val="4800"/>
              </a:lnSpc>
              <a:buNone/>
            </a:pPr>
            <a:r>
              <a:rPr lang="en-US" sz="3850" b="1" dirty="0">
                <a:solidFill>
                  <a:srgbClr val="000000"/>
                </a:solidFill>
                <a:latin typeface="Montserrat Bold" pitchFamily="34" charset="0"/>
                <a:ea typeface="Montserrat Bold" pitchFamily="34" charset="-122"/>
                <a:cs typeface="Montserrat Bold" pitchFamily="34" charset="-120"/>
              </a:rPr>
              <a:t>Abstract</a:t>
            </a:r>
            <a:endParaRPr lang="en-US" sz="3850" dirty="0"/>
          </a:p>
        </p:txBody>
      </p:sp>
      <p:sp>
        <p:nvSpPr>
          <p:cNvPr id="3" name="Text 1"/>
          <p:cNvSpPr/>
          <p:nvPr/>
        </p:nvSpPr>
        <p:spPr>
          <a:xfrm>
            <a:off x="1187648" y="3382089"/>
            <a:ext cx="12578953" cy="1295876"/>
          </a:xfrm>
          <a:prstGeom prst="rect">
            <a:avLst/>
          </a:prstGeom>
          <a:noFill/>
          <a:ln/>
        </p:spPr>
        <p:txBody>
          <a:bodyPr wrap="square" lIns="0" tIns="0" rIns="0" bIns="0" rtlCol="0" anchor="t"/>
          <a:lstStyle/>
          <a:p>
            <a:pPr algn="l" indent="0" marL="0">
              <a:lnSpc>
                <a:spcPts val="2550"/>
              </a:lnSpc>
              <a:buNone/>
            </a:pPr>
            <a:r>
              <a:rPr lang="en-US" sz="1700" dirty="0">
                <a:solidFill>
                  <a:srgbClr val="000000"/>
                </a:solidFill>
                <a:latin typeface="Source Sans 3" pitchFamily="34" charset="0"/>
                <a:ea typeface="Source Sans 3" pitchFamily="34" charset="-122"/>
                <a:cs typeface="Source Sans 3" pitchFamily="34" charset="-120"/>
              </a:rPr>
              <a:t>Este proyecto tiene como objetivo diseñar y desarrollar un </a:t>
            </a:r>
            <a:pPr algn="l" indent="0" marL="0">
              <a:lnSpc>
                <a:spcPts val="2550"/>
              </a:lnSpc>
              <a:buNone/>
            </a:pPr>
            <a:r>
              <a:rPr lang="en-US" sz="1700" b="1" dirty="0">
                <a:solidFill>
                  <a:srgbClr val="000000"/>
                </a:solidFill>
                <a:latin typeface="Source Sans 3" pitchFamily="34" charset="0"/>
                <a:ea typeface="Source Sans 3" pitchFamily="34" charset="-122"/>
                <a:cs typeface="Source Sans 3" pitchFamily="34" charset="-120"/>
              </a:rPr>
              <a:t>sistema web responsivo</a:t>
            </a:r>
            <a:pPr algn="l" indent="0" marL="0">
              <a:lnSpc>
                <a:spcPts val="2550"/>
              </a:lnSpc>
              <a:buNone/>
            </a:pPr>
            <a:r>
              <a:rPr lang="en-US" sz="1700" dirty="0">
                <a:solidFill>
                  <a:srgbClr val="000000"/>
                </a:solidFill>
                <a:latin typeface="Source Sans 3" pitchFamily="34" charset="0"/>
                <a:ea typeface="Source Sans 3" pitchFamily="34" charset="-122"/>
                <a:cs typeface="Source Sans 3" pitchFamily="34" charset="-120"/>
              </a:rPr>
              <a:t> para mejorar la gestión de una junta de vecinos. La solución permitirá que los vecinos se inscriban, soliciten certificados de residencia, postulen proyectos comunitarios, reciban notificaciones y gestionen recursos públicos mediante una plataforma digital. El proyecto busca aportar a la </a:t>
            </a:r>
            <a:pPr algn="l" indent="0" marL="0">
              <a:lnSpc>
                <a:spcPts val="2550"/>
              </a:lnSpc>
              <a:buNone/>
            </a:pPr>
            <a:r>
              <a:rPr lang="en-US" sz="1700" dirty="0">
                <a:solidFill>
                  <a:srgbClr val="5E98F1"/>
                </a:solidFill>
                <a:latin typeface="Source Sans 3" pitchFamily="34" charset="0"/>
                <a:ea typeface="Source Sans 3" pitchFamily="34" charset="-122"/>
                <a:cs typeface="Source Sans 3" pitchFamily="34" charset="-120"/>
              </a:rPr>
              <a:t>transparencia</a:t>
            </a:r>
            <a:pPr algn="l" indent="0" marL="0">
              <a:lnSpc>
                <a:spcPts val="2550"/>
              </a:lnSpc>
              <a:buNone/>
            </a:pPr>
            <a:r>
              <a:rPr lang="en-US" sz="1700" dirty="0">
                <a:solidFill>
                  <a:srgbClr val="000000"/>
                </a:solidFill>
                <a:latin typeface="Source Sans 3" pitchFamily="34" charset="0"/>
                <a:ea typeface="Source Sans 3" pitchFamily="34" charset="-122"/>
                <a:cs typeface="Source Sans 3" pitchFamily="34" charset="-120"/>
              </a:rPr>
              <a:t>, </a:t>
            </a:r>
            <a:pPr algn="l" indent="0" marL="0">
              <a:lnSpc>
                <a:spcPts val="2550"/>
              </a:lnSpc>
              <a:buNone/>
            </a:pPr>
            <a:r>
              <a:rPr lang="en-US" sz="1700" dirty="0">
                <a:solidFill>
                  <a:srgbClr val="5CC97B"/>
                </a:solidFill>
                <a:latin typeface="Source Sans 3" pitchFamily="34" charset="0"/>
                <a:ea typeface="Source Sans 3" pitchFamily="34" charset="-122"/>
                <a:cs typeface="Source Sans 3" pitchFamily="34" charset="-120"/>
              </a:rPr>
              <a:t>eficiencia</a:t>
            </a:r>
            <a:pPr algn="l" indent="0" marL="0">
              <a:lnSpc>
                <a:spcPts val="2550"/>
              </a:lnSpc>
              <a:buNone/>
            </a:pPr>
            <a:r>
              <a:rPr lang="en-US" sz="1700" dirty="0">
                <a:solidFill>
                  <a:srgbClr val="000000"/>
                </a:solidFill>
                <a:latin typeface="Source Sans 3" pitchFamily="34" charset="0"/>
                <a:ea typeface="Source Sans 3" pitchFamily="34" charset="-122"/>
                <a:cs typeface="Source Sans 3" pitchFamily="34" charset="-120"/>
              </a:rPr>
              <a:t> y </a:t>
            </a:r>
            <a:pPr algn="l" indent="0" marL="0">
              <a:lnSpc>
                <a:spcPts val="2550"/>
              </a:lnSpc>
              <a:buNone/>
            </a:pPr>
            <a:r>
              <a:rPr lang="en-US" sz="1700" dirty="0">
                <a:solidFill>
                  <a:srgbClr val="F9D933"/>
                </a:solidFill>
                <a:latin typeface="Source Sans 3" pitchFamily="34" charset="0"/>
                <a:ea typeface="Source Sans 3" pitchFamily="34" charset="-122"/>
                <a:cs typeface="Source Sans 3" pitchFamily="34" charset="-120"/>
              </a:rPr>
              <a:t>comunicación</a:t>
            </a:r>
            <a:pPr algn="l" indent="0" marL="0">
              <a:lnSpc>
                <a:spcPts val="2550"/>
              </a:lnSpc>
              <a:buNone/>
            </a:pPr>
            <a:r>
              <a:rPr lang="en-US" sz="1700" dirty="0">
                <a:solidFill>
                  <a:srgbClr val="000000"/>
                </a:solidFill>
                <a:latin typeface="Source Sans 3" pitchFamily="34" charset="0"/>
                <a:ea typeface="Source Sans 3" pitchFamily="34" charset="-122"/>
                <a:cs typeface="Source Sans 3" pitchFamily="34" charset="-120"/>
              </a:rPr>
              <a:t> entre la junta de vecinos y sus integrantes.</a:t>
            </a:r>
            <a:endParaRPr lang="en-US" sz="1700" dirty="0"/>
          </a:p>
        </p:txBody>
      </p:sp>
      <p:sp>
        <p:nvSpPr>
          <p:cNvPr id="4" name="Shape 2"/>
          <p:cNvSpPr/>
          <p:nvPr/>
        </p:nvSpPr>
        <p:spPr>
          <a:xfrm>
            <a:off x="863798" y="3139202"/>
            <a:ext cx="30480" cy="1781651"/>
          </a:xfrm>
          <a:prstGeom prst="rect">
            <a:avLst/>
          </a:prstGeom>
          <a:solidFill>
            <a:srgbClr val="FFFFFF"/>
          </a:solidFill>
          <a:ln/>
        </p:spPr>
      </p:sp>
      <p:sp>
        <p:nvSpPr>
          <p:cNvPr id="5" name="Text 3"/>
          <p:cNvSpPr/>
          <p:nvPr/>
        </p:nvSpPr>
        <p:spPr>
          <a:xfrm>
            <a:off x="863798" y="5163741"/>
            <a:ext cx="12902803" cy="971907"/>
          </a:xfrm>
          <a:prstGeom prst="rect">
            <a:avLst/>
          </a:prstGeom>
          <a:noFill/>
          <a:ln/>
        </p:spPr>
        <p:txBody>
          <a:bodyPr wrap="square" lIns="0" tIns="0" rIns="0" bIns="0" rtlCol="0" anchor="t"/>
          <a:lstStyle/>
          <a:p>
            <a:pPr algn="l" indent="0" marL="0">
              <a:lnSpc>
                <a:spcPts val="2550"/>
              </a:lnSpc>
              <a:buNone/>
            </a:pPr>
            <a:r>
              <a:rPr lang="en-US" sz="1700" dirty="0">
                <a:solidFill>
                  <a:srgbClr val="000000"/>
                </a:solidFill>
                <a:latin typeface="Source Sans 3" pitchFamily="34" charset="0"/>
                <a:ea typeface="Source Sans 3" pitchFamily="34" charset="-122"/>
                <a:cs typeface="Source Sans 3" pitchFamily="34" charset="-120"/>
              </a:rPr>
              <a:t>En un mundo cada vez más digitalizado, la necesidad de herramientas que faciliten la interacción y la administración en el ámbito comunitario es inminente. Nuestro sistema web no solo modernizará los procesos de una junta de vecinos, sino que también empoderará a sus miembros, brindándoles acceso directo a información y servicios, fomentando así una participación más activa y una comunidad más cohesionada.</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63798" y="711994"/>
            <a:ext cx="10553462" cy="398859"/>
          </a:xfrm>
          <a:prstGeom prst="rect">
            <a:avLst/>
          </a:prstGeom>
          <a:noFill/>
          <a:ln/>
        </p:spPr>
        <p:txBody>
          <a:bodyPr wrap="none" lIns="0" tIns="0" rIns="0" bIns="0" rtlCol="0" anchor="t"/>
          <a:lstStyle/>
          <a:p>
            <a:pPr algn="l" indent="0" marL="0">
              <a:lnSpc>
                <a:spcPts val="3100"/>
              </a:lnSpc>
              <a:buNone/>
            </a:pPr>
            <a:r>
              <a:rPr lang="en-US" sz="2500" b="1" dirty="0">
                <a:solidFill>
                  <a:srgbClr val="FFFFFF"/>
                </a:solidFill>
                <a:latin typeface="Montserrat Bold" pitchFamily="34" charset="0"/>
                <a:ea typeface="Montserrat Bold" pitchFamily="34" charset="-122"/>
                <a:cs typeface="Montserrat Bold" pitchFamily="34" charset="-120"/>
              </a:rPr>
              <a:t>Descripción y Relevancia: Un Puente Digital para la Comunidad</a:t>
            </a:r>
            <a:endParaRPr lang="en-US" sz="2500" dirty="0"/>
          </a:p>
        </p:txBody>
      </p:sp>
      <p:sp>
        <p:nvSpPr>
          <p:cNvPr id="3" name="Text 1"/>
          <p:cNvSpPr/>
          <p:nvPr/>
        </p:nvSpPr>
        <p:spPr>
          <a:xfrm>
            <a:off x="863798" y="1461730"/>
            <a:ext cx="2299454" cy="239316"/>
          </a:xfrm>
          <a:prstGeom prst="rect">
            <a:avLst/>
          </a:prstGeom>
          <a:noFill/>
          <a:ln/>
        </p:spPr>
        <p:txBody>
          <a:bodyPr wrap="none" lIns="0" tIns="0" rIns="0" bIns="0" rtlCol="0" anchor="t"/>
          <a:lstStyle/>
          <a:p>
            <a:pPr algn="l" indent="0" marL="0">
              <a:lnSpc>
                <a:spcPts val="1850"/>
              </a:lnSpc>
              <a:buNone/>
            </a:pPr>
            <a:r>
              <a:rPr lang="en-US" sz="1500" b="1" dirty="0">
                <a:solidFill>
                  <a:srgbClr val="FFFFFF"/>
                </a:solidFill>
                <a:latin typeface="Montserrat Bold" pitchFamily="34" charset="0"/>
                <a:ea typeface="Montserrat Bold" pitchFamily="34" charset="-122"/>
                <a:cs typeface="Montserrat Bold" pitchFamily="34" charset="-120"/>
              </a:rPr>
              <a:t>Funcionalidades Clave:</a:t>
            </a:r>
            <a:endParaRPr lang="en-US" sz="1500" dirty="0"/>
          </a:p>
        </p:txBody>
      </p:sp>
      <p:sp>
        <p:nvSpPr>
          <p:cNvPr id="4" name="Shape 2"/>
          <p:cNvSpPr/>
          <p:nvPr/>
        </p:nvSpPr>
        <p:spPr>
          <a:xfrm>
            <a:off x="863798" y="1858923"/>
            <a:ext cx="6280190" cy="1072039"/>
          </a:xfrm>
          <a:prstGeom prst="roundRect">
            <a:avLst>
              <a:gd name="adj" fmla="val 6824"/>
            </a:avLst>
          </a:prstGeom>
          <a:solidFill>
            <a:srgbClr val="111213"/>
          </a:solidFill>
          <a:ln w="15240">
            <a:solidFill>
              <a:srgbClr val="494A4B"/>
            </a:solidFill>
            <a:prstDash val="solid"/>
          </a:ln>
        </p:spPr>
      </p:sp>
      <p:sp>
        <p:nvSpPr>
          <p:cNvPr id="5" name="Shape 3"/>
          <p:cNvSpPr/>
          <p:nvPr/>
        </p:nvSpPr>
        <p:spPr>
          <a:xfrm>
            <a:off x="848558" y="1858923"/>
            <a:ext cx="60960" cy="1072039"/>
          </a:xfrm>
          <a:prstGeom prst="roundRect">
            <a:avLst>
              <a:gd name="adj" fmla="val 34544"/>
            </a:avLst>
          </a:prstGeom>
          <a:solidFill>
            <a:srgbClr val="FFFFFF"/>
          </a:solidFill>
          <a:ln/>
        </p:spPr>
      </p:sp>
      <p:sp>
        <p:nvSpPr>
          <p:cNvPr id="6" name="Text 4"/>
          <p:cNvSpPr/>
          <p:nvPr/>
        </p:nvSpPr>
        <p:spPr>
          <a:xfrm>
            <a:off x="1065133" y="2014538"/>
            <a:ext cx="1877020" cy="199430"/>
          </a:xfrm>
          <a:prstGeom prst="rect">
            <a:avLst/>
          </a:prstGeom>
          <a:noFill/>
          <a:ln/>
        </p:spPr>
        <p:txBody>
          <a:bodyPr wrap="none" lIns="0" tIns="0" rIns="0" bIns="0" rtlCol="0" anchor="t"/>
          <a:lstStyle/>
          <a:p>
            <a:pPr algn="l" indent="0" marL="0">
              <a:lnSpc>
                <a:spcPts val="1550"/>
              </a:lnSpc>
              <a:buNone/>
            </a:pPr>
            <a:r>
              <a:rPr lang="en-US" sz="1250" b="1" dirty="0">
                <a:solidFill>
                  <a:srgbClr val="E2E6E9"/>
                </a:solidFill>
                <a:latin typeface="Montserrat Bold" pitchFamily="34" charset="0"/>
                <a:ea typeface="Montserrat Bold" pitchFamily="34" charset="-122"/>
                <a:cs typeface="Montserrat Bold" pitchFamily="34" charset="-120"/>
              </a:rPr>
              <a:t>Inscripción de Vecinos</a:t>
            </a:r>
            <a:endParaRPr lang="en-US" sz="1250" dirty="0"/>
          </a:p>
        </p:txBody>
      </p:sp>
      <p:sp>
        <p:nvSpPr>
          <p:cNvPr id="7" name="Text 5"/>
          <p:cNvSpPr/>
          <p:nvPr/>
        </p:nvSpPr>
        <p:spPr>
          <a:xfrm>
            <a:off x="1065133" y="2354342"/>
            <a:ext cx="5923240" cy="421005"/>
          </a:xfrm>
          <a:prstGeom prst="rect">
            <a:avLst/>
          </a:prstGeom>
          <a:noFill/>
          <a:ln/>
        </p:spPr>
        <p:txBody>
          <a:bodyPr wrap="square" lIns="0" tIns="0" rIns="0" bIns="0" rtlCol="0" anchor="t"/>
          <a:lstStyle/>
          <a:p>
            <a:pPr algn="l" indent="0" marL="0">
              <a:lnSpc>
                <a:spcPts val="1650"/>
              </a:lnSpc>
              <a:buNone/>
            </a:pPr>
            <a:r>
              <a:rPr lang="en-US" sz="1100" dirty="0">
                <a:solidFill>
                  <a:srgbClr val="E2E6E9"/>
                </a:solidFill>
                <a:latin typeface="Source Sans 3" pitchFamily="34" charset="0"/>
                <a:ea typeface="Source Sans 3" pitchFamily="34" charset="-122"/>
                <a:cs typeface="Source Sans 3" pitchFamily="34" charset="-120"/>
              </a:rPr>
              <a:t>Registro y gestión de datos de los miembros de la comunidad, facilitando la base de datos de usuarios.</a:t>
            </a:r>
            <a:endParaRPr lang="en-US" sz="1100" dirty="0"/>
          </a:p>
        </p:txBody>
      </p:sp>
      <p:sp>
        <p:nvSpPr>
          <p:cNvPr id="8" name="Shape 6"/>
          <p:cNvSpPr/>
          <p:nvPr/>
        </p:nvSpPr>
        <p:spPr>
          <a:xfrm>
            <a:off x="863798" y="3071336"/>
            <a:ext cx="6280190" cy="861536"/>
          </a:xfrm>
          <a:prstGeom prst="roundRect">
            <a:avLst>
              <a:gd name="adj" fmla="val 8491"/>
            </a:avLst>
          </a:prstGeom>
          <a:solidFill>
            <a:srgbClr val="111213"/>
          </a:solidFill>
          <a:ln w="15240">
            <a:solidFill>
              <a:srgbClr val="494A4B"/>
            </a:solidFill>
            <a:prstDash val="solid"/>
          </a:ln>
        </p:spPr>
      </p:sp>
      <p:sp>
        <p:nvSpPr>
          <p:cNvPr id="9" name="Shape 7"/>
          <p:cNvSpPr/>
          <p:nvPr/>
        </p:nvSpPr>
        <p:spPr>
          <a:xfrm>
            <a:off x="848558" y="3071336"/>
            <a:ext cx="60960" cy="861536"/>
          </a:xfrm>
          <a:prstGeom prst="roundRect">
            <a:avLst>
              <a:gd name="adj" fmla="val 34544"/>
            </a:avLst>
          </a:prstGeom>
          <a:solidFill>
            <a:srgbClr val="FFFFFF"/>
          </a:solidFill>
          <a:ln/>
        </p:spPr>
      </p:sp>
      <p:sp>
        <p:nvSpPr>
          <p:cNvPr id="10" name="Text 8"/>
          <p:cNvSpPr/>
          <p:nvPr/>
        </p:nvSpPr>
        <p:spPr>
          <a:xfrm>
            <a:off x="1065133" y="3226951"/>
            <a:ext cx="2217658" cy="199430"/>
          </a:xfrm>
          <a:prstGeom prst="rect">
            <a:avLst/>
          </a:prstGeom>
          <a:noFill/>
          <a:ln/>
        </p:spPr>
        <p:txBody>
          <a:bodyPr wrap="none" lIns="0" tIns="0" rIns="0" bIns="0" rtlCol="0" anchor="t"/>
          <a:lstStyle/>
          <a:p>
            <a:pPr algn="l" indent="0" marL="0">
              <a:lnSpc>
                <a:spcPts val="1550"/>
              </a:lnSpc>
              <a:buNone/>
            </a:pPr>
            <a:r>
              <a:rPr lang="en-US" sz="1250" b="1" dirty="0">
                <a:solidFill>
                  <a:srgbClr val="E2E6E9"/>
                </a:solidFill>
                <a:latin typeface="Montserrat Bold" pitchFamily="34" charset="0"/>
                <a:ea typeface="Montserrat Bold" pitchFamily="34" charset="-122"/>
                <a:cs typeface="Montserrat Bold" pitchFamily="34" charset="-120"/>
              </a:rPr>
              <a:t>Certificados de Residencia</a:t>
            </a:r>
            <a:endParaRPr lang="en-US" sz="1250" dirty="0"/>
          </a:p>
        </p:txBody>
      </p:sp>
      <p:sp>
        <p:nvSpPr>
          <p:cNvPr id="11" name="Text 9"/>
          <p:cNvSpPr/>
          <p:nvPr/>
        </p:nvSpPr>
        <p:spPr>
          <a:xfrm>
            <a:off x="1065133" y="3566755"/>
            <a:ext cx="5923240" cy="210502"/>
          </a:xfrm>
          <a:prstGeom prst="rect">
            <a:avLst/>
          </a:prstGeom>
          <a:noFill/>
          <a:ln/>
        </p:spPr>
        <p:txBody>
          <a:bodyPr wrap="none" lIns="0" tIns="0" rIns="0" bIns="0" rtlCol="0" anchor="t"/>
          <a:lstStyle/>
          <a:p>
            <a:pPr algn="l" indent="0" marL="0">
              <a:lnSpc>
                <a:spcPts val="1650"/>
              </a:lnSpc>
              <a:buNone/>
            </a:pPr>
            <a:r>
              <a:rPr lang="en-US" sz="1100" dirty="0">
                <a:solidFill>
                  <a:srgbClr val="E2E6E9"/>
                </a:solidFill>
                <a:latin typeface="Source Sans 3" pitchFamily="34" charset="0"/>
                <a:ea typeface="Source Sans 3" pitchFamily="34" charset="-122"/>
                <a:cs typeface="Source Sans 3" pitchFamily="34" charset="-120"/>
              </a:rPr>
              <a:t>Proceso simplificado para solicitar y emitir certificados de forma digital, ahorrando tiempo y recursos.</a:t>
            </a:r>
            <a:endParaRPr lang="en-US" sz="1100" dirty="0"/>
          </a:p>
        </p:txBody>
      </p:sp>
      <p:sp>
        <p:nvSpPr>
          <p:cNvPr id="12" name="Shape 10"/>
          <p:cNvSpPr/>
          <p:nvPr/>
        </p:nvSpPr>
        <p:spPr>
          <a:xfrm>
            <a:off x="863798" y="4073247"/>
            <a:ext cx="6280190" cy="1072039"/>
          </a:xfrm>
          <a:prstGeom prst="roundRect">
            <a:avLst>
              <a:gd name="adj" fmla="val 6824"/>
            </a:avLst>
          </a:prstGeom>
          <a:solidFill>
            <a:srgbClr val="111213"/>
          </a:solidFill>
          <a:ln w="15240">
            <a:solidFill>
              <a:srgbClr val="494A4B"/>
            </a:solidFill>
            <a:prstDash val="solid"/>
          </a:ln>
        </p:spPr>
      </p:sp>
      <p:sp>
        <p:nvSpPr>
          <p:cNvPr id="13" name="Shape 11"/>
          <p:cNvSpPr/>
          <p:nvPr/>
        </p:nvSpPr>
        <p:spPr>
          <a:xfrm>
            <a:off x="848558" y="4073247"/>
            <a:ext cx="60960" cy="1072039"/>
          </a:xfrm>
          <a:prstGeom prst="roundRect">
            <a:avLst>
              <a:gd name="adj" fmla="val 34544"/>
            </a:avLst>
          </a:prstGeom>
          <a:solidFill>
            <a:srgbClr val="FFFFFF"/>
          </a:solidFill>
          <a:ln/>
        </p:spPr>
      </p:sp>
      <p:sp>
        <p:nvSpPr>
          <p:cNvPr id="14" name="Text 12"/>
          <p:cNvSpPr/>
          <p:nvPr/>
        </p:nvSpPr>
        <p:spPr>
          <a:xfrm>
            <a:off x="1065133" y="4228862"/>
            <a:ext cx="1668423" cy="199430"/>
          </a:xfrm>
          <a:prstGeom prst="rect">
            <a:avLst/>
          </a:prstGeom>
          <a:noFill/>
          <a:ln/>
        </p:spPr>
        <p:txBody>
          <a:bodyPr wrap="none" lIns="0" tIns="0" rIns="0" bIns="0" rtlCol="0" anchor="t"/>
          <a:lstStyle/>
          <a:p>
            <a:pPr algn="l" indent="0" marL="0">
              <a:lnSpc>
                <a:spcPts val="1550"/>
              </a:lnSpc>
              <a:buNone/>
            </a:pPr>
            <a:r>
              <a:rPr lang="en-US" sz="1250" b="1" dirty="0">
                <a:solidFill>
                  <a:srgbClr val="E2E6E9"/>
                </a:solidFill>
                <a:latin typeface="Montserrat Bold" pitchFamily="34" charset="0"/>
                <a:ea typeface="Montserrat Bold" pitchFamily="34" charset="-122"/>
                <a:cs typeface="Montserrat Bold" pitchFamily="34" charset="-120"/>
              </a:rPr>
              <a:t>Proyectos Vecinales</a:t>
            </a:r>
            <a:endParaRPr lang="en-US" sz="1250" dirty="0"/>
          </a:p>
        </p:txBody>
      </p:sp>
      <p:sp>
        <p:nvSpPr>
          <p:cNvPr id="15" name="Text 13"/>
          <p:cNvSpPr/>
          <p:nvPr/>
        </p:nvSpPr>
        <p:spPr>
          <a:xfrm>
            <a:off x="1065133" y="4568666"/>
            <a:ext cx="5923240" cy="421005"/>
          </a:xfrm>
          <a:prstGeom prst="rect">
            <a:avLst/>
          </a:prstGeom>
          <a:noFill/>
          <a:ln/>
        </p:spPr>
        <p:txBody>
          <a:bodyPr wrap="square" lIns="0" tIns="0" rIns="0" bIns="0" rtlCol="0" anchor="t"/>
          <a:lstStyle/>
          <a:p>
            <a:pPr algn="l" indent="0" marL="0">
              <a:lnSpc>
                <a:spcPts val="1650"/>
              </a:lnSpc>
              <a:buNone/>
            </a:pPr>
            <a:r>
              <a:rPr lang="en-US" sz="1100" dirty="0">
                <a:solidFill>
                  <a:srgbClr val="E2E6E9"/>
                </a:solidFill>
                <a:latin typeface="Source Sans 3" pitchFamily="34" charset="0"/>
                <a:ea typeface="Source Sans 3" pitchFamily="34" charset="-122"/>
                <a:cs typeface="Source Sans 3" pitchFamily="34" charset="-120"/>
              </a:rPr>
              <a:t>Plataforma para la postulación, seguimiento y gestión de iniciativas comunitarias, impulsando la participación.</a:t>
            </a:r>
            <a:endParaRPr lang="en-US" sz="1100" dirty="0"/>
          </a:p>
        </p:txBody>
      </p:sp>
      <p:sp>
        <p:nvSpPr>
          <p:cNvPr id="16" name="Shape 14"/>
          <p:cNvSpPr/>
          <p:nvPr/>
        </p:nvSpPr>
        <p:spPr>
          <a:xfrm>
            <a:off x="863798" y="5285661"/>
            <a:ext cx="6280190" cy="1072039"/>
          </a:xfrm>
          <a:prstGeom prst="roundRect">
            <a:avLst>
              <a:gd name="adj" fmla="val 6824"/>
            </a:avLst>
          </a:prstGeom>
          <a:solidFill>
            <a:srgbClr val="111213"/>
          </a:solidFill>
          <a:ln w="15240">
            <a:solidFill>
              <a:srgbClr val="494A4B"/>
            </a:solidFill>
            <a:prstDash val="solid"/>
          </a:ln>
        </p:spPr>
      </p:sp>
      <p:sp>
        <p:nvSpPr>
          <p:cNvPr id="17" name="Shape 15"/>
          <p:cNvSpPr/>
          <p:nvPr/>
        </p:nvSpPr>
        <p:spPr>
          <a:xfrm>
            <a:off x="848558" y="5285661"/>
            <a:ext cx="60960" cy="1072039"/>
          </a:xfrm>
          <a:prstGeom prst="roundRect">
            <a:avLst>
              <a:gd name="adj" fmla="val 34544"/>
            </a:avLst>
          </a:prstGeom>
          <a:solidFill>
            <a:srgbClr val="FFFFFF"/>
          </a:solidFill>
          <a:ln/>
        </p:spPr>
      </p:sp>
      <p:sp>
        <p:nvSpPr>
          <p:cNvPr id="18" name="Text 16"/>
          <p:cNvSpPr/>
          <p:nvPr/>
        </p:nvSpPr>
        <p:spPr>
          <a:xfrm>
            <a:off x="1065133" y="5441275"/>
            <a:ext cx="2164556" cy="199430"/>
          </a:xfrm>
          <a:prstGeom prst="rect">
            <a:avLst/>
          </a:prstGeom>
          <a:noFill/>
          <a:ln/>
        </p:spPr>
        <p:txBody>
          <a:bodyPr wrap="none" lIns="0" tIns="0" rIns="0" bIns="0" rtlCol="0" anchor="t"/>
          <a:lstStyle/>
          <a:p>
            <a:pPr algn="l" indent="0" marL="0">
              <a:lnSpc>
                <a:spcPts val="1550"/>
              </a:lnSpc>
              <a:buNone/>
            </a:pPr>
            <a:r>
              <a:rPr lang="en-US" sz="1250" b="1" dirty="0">
                <a:solidFill>
                  <a:srgbClr val="E2E6E9"/>
                </a:solidFill>
                <a:latin typeface="Montserrat Bold" pitchFamily="34" charset="0"/>
                <a:ea typeface="Montserrat Bold" pitchFamily="34" charset="-122"/>
                <a:cs typeface="Montserrat Bold" pitchFamily="34" charset="-120"/>
              </a:rPr>
              <a:t>Sistema de Notificaciones</a:t>
            </a:r>
            <a:endParaRPr lang="en-US" sz="1250" dirty="0"/>
          </a:p>
        </p:txBody>
      </p:sp>
      <p:sp>
        <p:nvSpPr>
          <p:cNvPr id="19" name="Text 17"/>
          <p:cNvSpPr/>
          <p:nvPr/>
        </p:nvSpPr>
        <p:spPr>
          <a:xfrm>
            <a:off x="1065133" y="5781080"/>
            <a:ext cx="5923240" cy="421005"/>
          </a:xfrm>
          <a:prstGeom prst="rect">
            <a:avLst/>
          </a:prstGeom>
          <a:noFill/>
          <a:ln/>
        </p:spPr>
        <p:txBody>
          <a:bodyPr wrap="square" lIns="0" tIns="0" rIns="0" bIns="0" rtlCol="0" anchor="t"/>
          <a:lstStyle/>
          <a:p>
            <a:pPr algn="l" indent="0" marL="0">
              <a:lnSpc>
                <a:spcPts val="1650"/>
              </a:lnSpc>
              <a:buNone/>
            </a:pPr>
            <a:r>
              <a:rPr lang="en-US" sz="1100" dirty="0">
                <a:solidFill>
                  <a:srgbClr val="E2E6E9"/>
                </a:solidFill>
                <a:latin typeface="Source Sans 3" pitchFamily="34" charset="0"/>
                <a:ea typeface="Source Sans 3" pitchFamily="34" charset="-122"/>
                <a:cs typeface="Source Sans 3" pitchFamily="34" charset="-120"/>
              </a:rPr>
              <a:t>Envío eficiente de comunicados vía email, WhatsApp y publicaciones en la plataforma, asegurando que la información llegue a todos.</a:t>
            </a:r>
            <a:endParaRPr lang="en-US" sz="1100" dirty="0"/>
          </a:p>
        </p:txBody>
      </p:sp>
      <p:sp>
        <p:nvSpPr>
          <p:cNvPr id="20" name="Shape 18"/>
          <p:cNvSpPr/>
          <p:nvPr/>
        </p:nvSpPr>
        <p:spPr>
          <a:xfrm>
            <a:off x="863798" y="6498074"/>
            <a:ext cx="6280190" cy="861536"/>
          </a:xfrm>
          <a:prstGeom prst="roundRect">
            <a:avLst>
              <a:gd name="adj" fmla="val 8491"/>
            </a:avLst>
          </a:prstGeom>
          <a:solidFill>
            <a:srgbClr val="111213"/>
          </a:solidFill>
          <a:ln w="15240">
            <a:solidFill>
              <a:srgbClr val="494A4B"/>
            </a:solidFill>
            <a:prstDash val="solid"/>
          </a:ln>
        </p:spPr>
      </p:sp>
      <p:sp>
        <p:nvSpPr>
          <p:cNvPr id="21" name="Shape 19"/>
          <p:cNvSpPr/>
          <p:nvPr/>
        </p:nvSpPr>
        <p:spPr>
          <a:xfrm>
            <a:off x="848558" y="6498074"/>
            <a:ext cx="60960" cy="861536"/>
          </a:xfrm>
          <a:prstGeom prst="roundRect">
            <a:avLst>
              <a:gd name="adj" fmla="val 34544"/>
            </a:avLst>
          </a:prstGeom>
          <a:solidFill>
            <a:srgbClr val="FFFFFF"/>
          </a:solidFill>
          <a:ln/>
        </p:spPr>
      </p:sp>
      <p:sp>
        <p:nvSpPr>
          <p:cNvPr id="22" name="Text 20"/>
          <p:cNvSpPr/>
          <p:nvPr/>
        </p:nvSpPr>
        <p:spPr>
          <a:xfrm>
            <a:off x="1065133" y="6653689"/>
            <a:ext cx="1966912" cy="199430"/>
          </a:xfrm>
          <a:prstGeom prst="rect">
            <a:avLst/>
          </a:prstGeom>
          <a:noFill/>
          <a:ln/>
        </p:spPr>
        <p:txBody>
          <a:bodyPr wrap="none" lIns="0" tIns="0" rIns="0" bIns="0" rtlCol="0" anchor="t"/>
          <a:lstStyle/>
          <a:p>
            <a:pPr algn="l" indent="0" marL="0">
              <a:lnSpc>
                <a:spcPts val="1550"/>
              </a:lnSpc>
              <a:buNone/>
            </a:pPr>
            <a:r>
              <a:rPr lang="en-US" sz="1250" b="1" dirty="0">
                <a:solidFill>
                  <a:srgbClr val="E2E6E9"/>
                </a:solidFill>
                <a:latin typeface="Montserrat Bold" pitchFamily="34" charset="0"/>
                <a:ea typeface="Montserrat Bold" pitchFamily="34" charset="-122"/>
                <a:cs typeface="Montserrat Bold" pitchFamily="34" charset="-120"/>
              </a:rPr>
              <a:t>Calendario de Recursos</a:t>
            </a:r>
            <a:endParaRPr lang="en-US" sz="1250" dirty="0"/>
          </a:p>
        </p:txBody>
      </p:sp>
      <p:sp>
        <p:nvSpPr>
          <p:cNvPr id="23" name="Text 21"/>
          <p:cNvSpPr/>
          <p:nvPr/>
        </p:nvSpPr>
        <p:spPr>
          <a:xfrm>
            <a:off x="1065133" y="6993493"/>
            <a:ext cx="5923240" cy="210502"/>
          </a:xfrm>
          <a:prstGeom prst="rect">
            <a:avLst/>
          </a:prstGeom>
          <a:noFill/>
          <a:ln/>
        </p:spPr>
        <p:txBody>
          <a:bodyPr wrap="none" lIns="0" tIns="0" rIns="0" bIns="0" rtlCol="0" anchor="t"/>
          <a:lstStyle/>
          <a:p>
            <a:pPr algn="l" indent="0" marL="0">
              <a:lnSpc>
                <a:spcPts val="1650"/>
              </a:lnSpc>
              <a:buNone/>
            </a:pPr>
            <a:r>
              <a:rPr lang="en-US" sz="1100" dirty="0">
                <a:solidFill>
                  <a:srgbClr val="E2E6E9"/>
                </a:solidFill>
                <a:latin typeface="Source Sans 3" pitchFamily="34" charset="0"/>
                <a:ea typeface="Source Sans 3" pitchFamily="34" charset="-122"/>
                <a:cs typeface="Source Sans 3" pitchFamily="34" charset="-120"/>
              </a:rPr>
              <a:t>Administración y reserva de espacios o equipos comunitarios, optimizando su uso y disponibilidad.</a:t>
            </a:r>
            <a:endParaRPr lang="en-US" sz="1100" dirty="0"/>
          </a:p>
        </p:txBody>
      </p:sp>
      <p:sp>
        <p:nvSpPr>
          <p:cNvPr id="24" name="Text 22"/>
          <p:cNvSpPr/>
          <p:nvPr/>
        </p:nvSpPr>
        <p:spPr>
          <a:xfrm>
            <a:off x="7494032" y="1461730"/>
            <a:ext cx="2192298" cy="239316"/>
          </a:xfrm>
          <a:prstGeom prst="rect">
            <a:avLst/>
          </a:prstGeom>
          <a:noFill/>
          <a:ln/>
        </p:spPr>
        <p:txBody>
          <a:bodyPr wrap="none" lIns="0" tIns="0" rIns="0" bIns="0" rtlCol="0" anchor="t"/>
          <a:lstStyle/>
          <a:p>
            <a:pPr algn="l" indent="0" marL="0">
              <a:lnSpc>
                <a:spcPts val="1850"/>
              </a:lnSpc>
              <a:buNone/>
            </a:pPr>
            <a:r>
              <a:rPr lang="en-US" sz="1500" b="1" dirty="0">
                <a:solidFill>
                  <a:srgbClr val="FFFFFF"/>
                </a:solidFill>
                <a:latin typeface="Montserrat Bold" pitchFamily="34" charset="0"/>
                <a:ea typeface="Montserrat Bold" pitchFamily="34" charset="-122"/>
                <a:cs typeface="Montserrat Bold" pitchFamily="34" charset="-120"/>
              </a:rPr>
              <a:t>Impacto y Relevancia:</a:t>
            </a:r>
            <a:endParaRPr lang="en-US" sz="1500" dirty="0"/>
          </a:p>
        </p:txBody>
      </p:sp>
      <p:sp>
        <p:nvSpPr>
          <p:cNvPr id="25" name="Text 23"/>
          <p:cNvSpPr/>
          <p:nvPr/>
        </p:nvSpPr>
        <p:spPr>
          <a:xfrm>
            <a:off x="7494032" y="1841421"/>
            <a:ext cx="6280190" cy="421005"/>
          </a:xfrm>
          <a:prstGeom prst="rect">
            <a:avLst/>
          </a:prstGeom>
          <a:noFill/>
          <a:ln/>
        </p:spPr>
        <p:txBody>
          <a:bodyPr wrap="square" lIns="0" tIns="0" rIns="0" bIns="0" rtlCol="0" anchor="t"/>
          <a:lstStyle/>
          <a:p>
            <a:pPr algn="l" indent="0" marL="0">
              <a:lnSpc>
                <a:spcPts val="1650"/>
              </a:lnSpc>
              <a:buNone/>
            </a:pPr>
            <a:r>
              <a:rPr lang="en-US" sz="1100" dirty="0">
                <a:solidFill>
                  <a:srgbClr val="E2E6E9"/>
                </a:solidFill>
                <a:latin typeface="Source Sans 3" pitchFamily="34" charset="0"/>
                <a:ea typeface="Source Sans 3" pitchFamily="34" charset="-122"/>
                <a:cs typeface="Source Sans 3" pitchFamily="34" charset="-120"/>
              </a:rPr>
              <a:t>Este proyecto es de suma importancia porque aborda una necesidad crítica en la </a:t>
            </a:r>
            <a:pPr algn="l" indent="0" marL="0">
              <a:lnSpc>
                <a:spcPts val="1650"/>
              </a:lnSpc>
              <a:buNone/>
            </a:pPr>
            <a:r>
              <a:rPr lang="en-US" sz="1100" b="1" dirty="0">
                <a:solidFill>
                  <a:srgbClr val="E2E6E9"/>
                </a:solidFill>
                <a:latin typeface="Source Sans 3" pitchFamily="34" charset="0"/>
                <a:ea typeface="Source Sans 3" pitchFamily="34" charset="-122"/>
                <a:cs typeface="Source Sans 3" pitchFamily="34" charset="-120"/>
              </a:rPr>
              <a:t>digitalización de procesos comunitarios</a:t>
            </a:r>
            <a:pPr algn="l" indent="0" marL="0">
              <a:lnSpc>
                <a:spcPts val="1650"/>
              </a:lnSpc>
              <a:buNone/>
            </a:pPr>
            <a:r>
              <a:rPr lang="en-US" sz="1100" dirty="0">
                <a:solidFill>
                  <a:srgbClr val="E2E6E9"/>
                </a:solidFill>
                <a:latin typeface="Source Sans 3" pitchFamily="34" charset="0"/>
                <a:ea typeface="Source Sans 3" pitchFamily="34" charset="-122"/>
                <a:cs typeface="Source Sans 3" pitchFamily="34" charset="-120"/>
              </a:rPr>
              <a:t>. Contribuye significativamente a:</a:t>
            </a:r>
            <a:endParaRPr lang="en-US" sz="1100" dirty="0"/>
          </a:p>
        </p:txBody>
      </p:sp>
      <p:sp>
        <p:nvSpPr>
          <p:cNvPr id="26" name="Text 24"/>
          <p:cNvSpPr/>
          <p:nvPr/>
        </p:nvSpPr>
        <p:spPr>
          <a:xfrm>
            <a:off x="7494032" y="2388751"/>
            <a:ext cx="6280190" cy="210502"/>
          </a:xfrm>
          <a:prstGeom prst="rect">
            <a:avLst/>
          </a:prstGeom>
          <a:noFill/>
          <a:ln/>
        </p:spPr>
        <p:txBody>
          <a:bodyPr wrap="none" lIns="0" tIns="0" rIns="0" bIns="0" rtlCol="0" anchor="t"/>
          <a:lstStyle/>
          <a:p>
            <a:pPr algn="l" marL="342900" indent="-342900">
              <a:lnSpc>
                <a:spcPts val="1650"/>
              </a:lnSpc>
              <a:buSzPct val="100000"/>
              <a:buChar char="•"/>
            </a:pPr>
            <a:r>
              <a:rPr lang="en-US" sz="1100" b="1" dirty="0">
                <a:solidFill>
                  <a:srgbClr val="E2E6E9"/>
                </a:solidFill>
                <a:latin typeface="Source Sans 3" pitchFamily="34" charset="0"/>
                <a:ea typeface="Source Sans 3" pitchFamily="34" charset="-122"/>
                <a:cs typeface="Source Sans 3" pitchFamily="34" charset="-120"/>
              </a:rPr>
              <a:t>Mejorar la Comunicación</a:t>
            </a:r>
            <a:endParaRPr lang="en-US" sz="1100" dirty="0"/>
          </a:p>
        </p:txBody>
      </p:sp>
      <p:sp>
        <p:nvSpPr>
          <p:cNvPr id="27" name="Text 25"/>
          <p:cNvSpPr/>
          <p:nvPr/>
        </p:nvSpPr>
        <p:spPr>
          <a:xfrm>
            <a:off x="7494032" y="2648307"/>
            <a:ext cx="6280190" cy="210502"/>
          </a:xfrm>
          <a:prstGeom prst="rect">
            <a:avLst/>
          </a:prstGeom>
          <a:noFill/>
          <a:ln/>
        </p:spPr>
        <p:txBody>
          <a:bodyPr wrap="none" lIns="0" tIns="0" rIns="0" bIns="0" rtlCol="0" anchor="t"/>
          <a:lstStyle/>
          <a:p>
            <a:pPr algn="l" marL="342900" indent="-342900">
              <a:lnSpc>
                <a:spcPts val="1650"/>
              </a:lnSpc>
              <a:buSzPct val="100000"/>
              <a:buChar char="•"/>
            </a:pPr>
            <a:r>
              <a:rPr lang="en-US" sz="1100" b="1" dirty="0">
                <a:solidFill>
                  <a:srgbClr val="E2E6E9"/>
                </a:solidFill>
                <a:latin typeface="Source Sans 3" pitchFamily="34" charset="0"/>
                <a:ea typeface="Source Sans 3" pitchFamily="34" charset="-122"/>
                <a:cs typeface="Source Sans 3" pitchFamily="34" charset="-120"/>
              </a:rPr>
              <a:t>Aumentar la Eficiencia Administrativa</a:t>
            </a:r>
            <a:endParaRPr lang="en-US" sz="1100" dirty="0"/>
          </a:p>
        </p:txBody>
      </p:sp>
      <p:sp>
        <p:nvSpPr>
          <p:cNvPr id="28" name="Text 26"/>
          <p:cNvSpPr/>
          <p:nvPr/>
        </p:nvSpPr>
        <p:spPr>
          <a:xfrm>
            <a:off x="7494032" y="2907863"/>
            <a:ext cx="6280190" cy="210502"/>
          </a:xfrm>
          <a:prstGeom prst="rect">
            <a:avLst/>
          </a:prstGeom>
          <a:noFill/>
          <a:ln/>
        </p:spPr>
        <p:txBody>
          <a:bodyPr wrap="none" lIns="0" tIns="0" rIns="0" bIns="0" rtlCol="0" anchor="t"/>
          <a:lstStyle/>
          <a:p>
            <a:pPr algn="l" marL="342900" indent="-342900">
              <a:lnSpc>
                <a:spcPts val="1650"/>
              </a:lnSpc>
              <a:buSzPct val="100000"/>
              <a:buChar char="•"/>
            </a:pPr>
            <a:r>
              <a:rPr lang="en-US" sz="1100" b="1" dirty="0">
                <a:solidFill>
                  <a:srgbClr val="E2E6E9"/>
                </a:solidFill>
                <a:latin typeface="Source Sans 3" pitchFamily="34" charset="0"/>
                <a:ea typeface="Source Sans 3" pitchFamily="34" charset="-122"/>
                <a:cs typeface="Source Sans 3" pitchFamily="34" charset="-120"/>
              </a:rPr>
              <a:t>Fomentar la Participación Ciudadana</a:t>
            </a:r>
            <a:endParaRPr lang="en-US" sz="1100" dirty="0"/>
          </a:p>
        </p:txBody>
      </p:sp>
      <p:sp>
        <p:nvSpPr>
          <p:cNvPr id="29" name="Text 27"/>
          <p:cNvSpPr/>
          <p:nvPr/>
        </p:nvSpPr>
        <p:spPr>
          <a:xfrm>
            <a:off x="7494032" y="3167420"/>
            <a:ext cx="6280190" cy="210502"/>
          </a:xfrm>
          <a:prstGeom prst="rect">
            <a:avLst/>
          </a:prstGeom>
          <a:noFill/>
          <a:ln/>
        </p:spPr>
        <p:txBody>
          <a:bodyPr wrap="none" lIns="0" tIns="0" rIns="0" bIns="0" rtlCol="0" anchor="t"/>
          <a:lstStyle/>
          <a:p>
            <a:pPr algn="l" marL="342900" indent="-342900">
              <a:lnSpc>
                <a:spcPts val="1650"/>
              </a:lnSpc>
              <a:buSzPct val="100000"/>
              <a:buChar char="•"/>
            </a:pPr>
            <a:r>
              <a:rPr lang="en-US" sz="1100" b="1" dirty="0">
                <a:solidFill>
                  <a:srgbClr val="E2E6E9"/>
                </a:solidFill>
                <a:latin typeface="Source Sans 3" pitchFamily="34" charset="0"/>
                <a:ea typeface="Source Sans 3" pitchFamily="34" charset="-122"/>
                <a:cs typeface="Source Sans 3" pitchFamily="34" charset="-120"/>
              </a:rPr>
              <a:t>Promover la Transparencia</a:t>
            </a:r>
            <a:endParaRPr lang="en-US" sz="1100" dirty="0"/>
          </a:p>
        </p:txBody>
      </p:sp>
      <p:pic>
        <p:nvPicPr>
          <p:cNvPr id="30" name="Image 0" descr="preencoded.png">    </p:cNvPr>
          <p:cNvPicPr>
            <a:picLocks noChangeAspect="1"/>
          </p:cNvPicPr>
          <p:nvPr/>
        </p:nvPicPr>
        <p:blipFill>
          <a:blip r:embed="rId1"/>
          <a:stretch>
            <a:fillRect/>
          </a:stretch>
        </p:blipFill>
        <p:spPr>
          <a:xfrm>
            <a:off x="7494032" y="3535799"/>
            <a:ext cx="3711535" cy="371153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63798" y="664131"/>
            <a:ext cx="12902803" cy="1042988"/>
          </a:xfrm>
          <a:prstGeom prst="rect">
            <a:avLst/>
          </a:prstGeom>
          <a:noFill/>
          <a:ln/>
        </p:spPr>
        <p:txBody>
          <a:bodyPr wrap="square" lIns="0" tIns="0" rIns="0" bIns="0" rtlCol="0" anchor="t"/>
          <a:lstStyle/>
          <a:p>
            <a:pPr algn="l" indent="0" marL="0">
              <a:lnSpc>
                <a:spcPts val="4100"/>
              </a:lnSpc>
              <a:buNone/>
            </a:pPr>
            <a:r>
              <a:rPr lang="en-US" sz="3250" b="1" dirty="0">
                <a:solidFill>
                  <a:srgbClr val="FFFFFF"/>
                </a:solidFill>
                <a:latin typeface="Montserrat Bold" pitchFamily="34" charset="0"/>
                <a:ea typeface="Montserrat Bold" pitchFamily="34" charset="-122"/>
                <a:cs typeface="Montserrat Bold" pitchFamily="34" charset="-120"/>
              </a:rPr>
              <a:t>Integrando Competencias: Nuestro Proyecto y el Perfil de Egreso</a:t>
            </a:r>
            <a:endParaRPr lang="en-US" sz="3250" dirty="0"/>
          </a:p>
        </p:txBody>
      </p:sp>
      <p:sp>
        <p:nvSpPr>
          <p:cNvPr id="3" name="Text 1"/>
          <p:cNvSpPr/>
          <p:nvPr/>
        </p:nvSpPr>
        <p:spPr>
          <a:xfrm>
            <a:off x="863798" y="2074188"/>
            <a:ext cx="12902803" cy="550783"/>
          </a:xfrm>
          <a:prstGeom prst="rect">
            <a:avLst/>
          </a:prstGeom>
          <a:noFill/>
          <a:ln/>
        </p:spPr>
        <p:txBody>
          <a:bodyPr wrap="square" lIns="0" tIns="0" rIns="0" bIns="0" rtlCol="0" anchor="t"/>
          <a:lstStyle/>
          <a:p>
            <a:pPr algn="l" indent="0" marL="0">
              <a:lnSpc>
                <a:spcPts val="2150"/>
              </a:lnSpc>
              <a:buNone/>
            </a:pPr>
            <a:r>
              <a:rPr lang="en-US" sz="1400" dirty="0">
                <a:solidFill>
                  <a:srgbClr val="E2E6E9"/>
                </a:solidFill>
                <a:latin typeface="Source Sans 3" pitchFamily="34" charset="0"/>
                <a:ea typeface="Source Sans 3" pitchFamily="34" charset="-122"/>
                <a:cs typeface="Source Sans 3" pitchFamily="34" charset="-120"/>
              </a:rPr>
              <a:t>Nuestro proyecto de gestión vecinal no solo resuelve una necesidad comunitaria, sino que también es una aplicación directa y práctica de las competencias clave desarrolladas en la carrera de Ingeniería en Informática. Cada etapa del desarrollo ha sido diseñada para fortalecer y demostrar nuestra capacidad profesional.</a:t>
            </a:r>
            <a:endParaRPr lang="en-US" sz="1400" dirty="0"/>
          </a:p>
        </p:txBody>
      </p:sp>
      <p:sp>
        <p:nvSpPr>
          <p:cNvPr id="4" name="Shape 2"/>
          <p:cNvSpPr/>
          <p:nvPr/>
        </p:nvSpPr>
        <p:spPr>
          <a:xfrm>
            <a:off x="863798" y="3106698"/>
            <a:ext cx="4178618" cy="2137648"/>
          </a:xfrm>
          <a:prstGeom prst="roundRect">
            <a:avLst>
              <a:gd name="adj" fmla="val 5133"/>
            </a:avLst>
          </a:prstGeom>
          <a:solidFill>
            <a:srgbClr val="111213"/>
          </a:solidFill>
          <a:ln/>
        </p:spPr>
      </p:sp>
      <p:sp>
        <p:nvSpPr>
          <p:cNvPr id="5" name="Shape 3"/>
          <p:cNvSpPr/>
          <p:nvPr/>
        </p:nvSpPr>
        <p:spPr>
          <a:xfrm>
            <a:off x="863798" y="3083838"/>
            <a:ext cx="4178618" cy="91440"/>
          </a:xfrm>
          <a:prstGeom prst="roundRect">
            <a:avLst>
              <a:gd name="adj" fmla="val 30115"/>
            </a:avLst>
          </a:prstGeom>
          <a:solidFill>
            <a:srgbClr val="FFFFFF"/>
          </a:solidFill>
          <a:ln/>
        </p:spPr>
      </p:sp>
      <p:sp>
        <p:nvSpPr>
          <p:cNvPr id="6" name="Shape 4"/>
          <p:cNvSpPr/>
          <p:nvPr/>
        </p:nvSpPr>
        <p:spPr>
          <a:xfrm>
            <a:off x="2677775" y="2831425"/>
            <a:ext cx="550664" cy="550664"/>
          </a:xfrm>
          <a:prstGeom prst="roundRect">
            <a:avLst>
              <a:gd name="adj" fmla="val 166054"/>
            </a:avLst>
          </a:prstGeom>
          <a:solidFill>
            <a:srgbClr val="FFFFFF"/>
          </a:solidFill>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842915" y="2996565"/>
            <a:ext cx="220266" cy="220266"/>
          </a:xfrm>
          <a:prstGeom prst="rect">
            <a:avLst/>
          </a:prstGeom>
        </p:spPr>
      </p:pic>
      <p:sp>
        <p:nvSpPr>
          <p:cNvPr id="8" name="Text 5"/>
          <p:cNvSpPr/>
          <p:nvPr/>
        </p:nvSpPr>
        <p:spPr>
          <a:xfrm>
            <a:off x="1070134" y="3565565"/>
            <a:ext cx="2699504" cy="260747"/>
          </a:xfrm>
          <a:prstGeom prst="rect">
            <a:avLst/>
          </a:prstGeom>
          <a:noFill/>
          <a:ln/>
        </p:spPr>
        <p:txBody>
          <a:bodyPr wrap="none" lIns="0" tIns="0" rIns="0" bIns="0" rtlCol="0" anchor="t"/>
          <a:lstStyle/>
          <a:p>
            <a:pPr algn="l" indent="0" marL="0">
              <a:lnSpc>
                <a:spcPts val="2050"/>
              </a:lnSpc>
              <a:buNone/>
            </a:pPr>
            <a:r>
              <a:rPr lang="en-US" sz="1600" b="1" dirty="0">
                <a:solidFill>
                  <a:srgbClr val="E2E6E9"/>
                </a:solidFill>
                <a:latin typeface="Montserrat Bold" pitchFamily="34" charset="0"/>
                <a:ea typeface="Montserrat Bold" pitchFamily="34" charset="-122"/>
                <a:cs typeface="Montserrat Bold" pitchFamily="34" charset="-120"/>
              </a:rPr>
              <a:t>Calidad del Software (C1)</a:t>
            </a:r>
            <a:endParaRPr lang="en-US" sz="1600" dirty="0"/>
          </a:p>
        </p:txBody>
      </p:sp>
      <p:sp>
        <p:nvSpPr>
          <p:cNvPr id="9" name="Text 6"/>
          <p:cNvSpPr/>
          <p:nvPr/>
        </p:nvSpPr>
        <p:spPr>
          <a:xfrm>
            <a:off x="1070134" y="3936444"/>
            <a:ext cx="3765947" cy="1101566"/>
          </a:xfrm>
          <a:prstGeom prst="rect">
            <a:avLst/>
          </a:prstGeom>
          <a:noFill/>
          <a:ln/>
        </p:spPr>
        <p:txBody>
          <a:bodyPr wrap="square" lIns="0" tIns="0" rIns="0" bIns="0" rtlCol="0" anchor="t"/>
          <a:lstStyle/>
          <a:p>
            <a:pPr algn="l" indent="0" marL="0">
              <a:lnSpc>
                <a:spcPts val="2150"/>
              </a:lnSpc>
              <a:buNone/>
            </a:pPr>
            <a:r>
              <a:rPr lang="en-US" sz="1400" dirty="0">
                <a:solidFill>
                  <a:srgbClr val="E2E6E9"/>
                </a:solidFill>
                <a:latin typeface="Source Sans 3" pitchFamily="34" charset="0"/>
                <a:ea typeface="Source Sans 3" pitchFamily="34" charset="-122"/>
                <a:cs typeface="Source Sans 3" pitchFamily="34" charset="-120"/>
              </a:rPr>
              <a:t>Implementaremos rigurosas pruebas de certificación y validación para asegurar que el sistema sea robusto, confiable y cumpla con los estándares de calidad esperados.</a:t>
            </a:r>
            <a:endParaRPr lang="en-US" sz="1400" dirty="0"/>
          </a:p>
        </p:txBody>
      </p:sp>
      <p:sp>
        <p:nvSpPr>
          <p:cNvPr id="10" name="Shape 7"/>
          <p:cNvSpPr/>
          <p:nvPr/>
        </p:nvSpPr>
        <p:spPr>
          <a:xfrm>
            <a:off x="5225891" y="3106698"/>
            <a:ext cx="4178618" cy="2137648"/>
          </a:xfrm>
          <a:prstGeom prst="roundRect">
            <a:avLst>
              <a:gd name="adj" fmla="val 5133"/>
            </a:avLst>
          </a:prstGeom>
          <a:solidFill>
            <a:srgbClr val="111213"/>
          </a:solidFill>
          <a:ln/>
        </p:spPr>
      </p:sp>
      <p:sp>
        <p:nvSpPr>
          <p:cNvPr id="11" name="Shape 8"/>
          <p:cNvSpPr/>
          <p:nvPr/>
        </p:nvSpPr>
        <p:spPr>
          <a:xfrm>
            <a:off x="5225891" y="3083838"/>
            <a:ext cx="4178618" cy="91440"/>
          </a:xfrm>
          <a:prstGeom prst="roundRect">
            <a:avLst>
              <a:gd name="adj" fmla="val 30115"/>
            </a:avLst>
          </a:prstGeom>
          <a:solidFill>
            <a:srgbClr val="FFFFFF"/>
          </a:solidFill>
          <a:ln/>
        </p:spPr>
      </p:sp>
      <p:sp>
        <p:nvSpPr>
          <p:cNvPr id="12" name="Shape 9"/>
          <p:cNvSpPr/>
          <p:nvPr/>
        </p:nvSpPr>
        <p:spPr>
          <a:xfrm>
            <a:off x="7039868" y="2831425"/>
            <a:ext cx="550664" cy="550664"/>
          </a:xfrm>
          <a:prstGeom prst="roundRect">
            <a:avLst>
              <a:gd name="adj" fmla="val 166054"/>
            </a:avLst>
          </a:prstGeom>
          <a:solidFill>
            <a:srgbClr val="FFFFFF"/>
          </a:solidFill>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05008" y="2996565"/>
            <a:ext cx="220266" cy="220266"/>
          </a:xfrm>
          <a:prstGeom prst="rect">
            <a:avLst/>
          </a:prstGeom>
        </p:spPr>
      </p:pic>
      <p:sp>
        <p:nvSpPr>
          <p:cNvPr id="14" name="Text 10"/>
          <p:cNvSpPr/>
          <p:nvPr/>
        </p:nvSpPr>
        <p:spPr>
          <a:xfrm>
            <a:off x="5432227" y="3565565"/>
            <a:ext cx="2796421" cy="260747"/>
          </a:xfrm>
          <a:prstGeom prst="rect">
            <a:avLst/>
          </a:prstGeom>
          <a:noFill/>
          <a:ln/>
        </p:spPr>
        <p:txBody>
          <a:bodyPr wrap="none" lIns="0" tIns="0" rIns="0" bIns="0" rtlCol="0" anchor="t"/>
          <a:lstStyle/>
          <a:p>
            <a:pPr algn="l" indent="0" marL="0">
              <a:lnSpc>
                <a:spcPts val="2050"/>
              </a:lnSpc>
              <a:buNone/>
            </a:pPr>
            <a:r>
              <a:rPr lang="en-US" sz="1600" b="1" dirty="0">
                <a:solidFill>
                  <a:srgbClr val="E2E6E9"/>
                </a:solidFill>
                <a:latin typeface="Montserrat Bold" pitchFamily="34" charset="0"/>
                <a:ea typeface="Montserrat Bold" pitchFamily="34" charset="-122"/>
                <a:cs typeface="Montserrat Bold" pitchFamily="34" charset="-120"/>
              </a:rPr>
              <a:t>Gestión de Proyectos (C2)</a:t>
            </a:r>
            <a:endParaRPr lang="en-US" sz="1600" dirty="0"/>
          </a:p>
        </p:txBody>
      </p:sp>
      <p:sp>
        <p:nvSpPr>
          <p:cNvPr id="15" name="Text 11"/>
          <p:cNvSpPr/>
          <p:nvPr/>
        </p:nvSpPr>
        <p:spPr>
          <a:xfrm>
            <a:off x="5432227" y="3936444"/>
            <a:ext cx="3765947" cy="1101566"/>
          </a:xfrm>
          <a:prstGeom prst="rect">
            <a:avLst/>
          </a:prstGeom>
          <a:noFill/>
          <a:ln/>
        </p:spPr>
        <p:txBody>
          <a:bodyPr wrap="square" lIns="0" tIns="0" rIns="0" bIns="0" rtlCol="0" anchor="t"/>
          <a:lstStyle/>
          <a:p>
            <a:pPr algn="l" indent="0" marL="0">
              <a:lnSpc>
                <a:spcPts val="2150"/>
              </a:lnSpc>
              <a:buNone/>
            </a:pPr>
            <a:r>
              <a:rPr lang="en-US" sz="1400" dirty="0">
                <a:solidFill>
                  <a:srgbClr val="E2E6E9"/>
                </a:solidFill>
                <a:latin typeface="Source Sans 3" pitchFamily="34" charset="0"/>
                <a:ea typeface="Source Sans 3" pitchFamily="34" charset="-122"/>
                <a:cs typeface="Source Sans 3" pitchFamily="34" charset="-120"/>
              </a:rPr>
              <a:t>El proyecto será gestionado mediante una planificación detallada y un seguimiento continuo, aplicando metodologías ágiles para asegurar el cumplimiento de plazos y objetivos.</a:t>
            </a:r>
            <a:endParaRPr lang="en-US" sz="1400" dirty="0"/>
          </a:p>
        </p:txBody>
      </p:sp>
      <p:sp>
        <p:nvSpPr>
          <p:cNvPr id="16" name="Shape 12"/>
          <p:cNvSpPr/>
          <p:nvPr/>
        </p:nvSpPr>
        <p:spPr>
          <a:xfrm>
            <a:off x="9587984" y="3106698"/>
            <a:ext cx="4178618" cy="2137648"/>
          </a:xfrm>
          <a:prstGeom prst="roundRect">
            <a:avLst>
              <a:gd name="adj" fmla="val 5133"/>
            </a:avLst>
          </a:prstGeom>
          <a:solidFill>
            <a:srgbClr val="111213"/>
          </a:solidFill>
          <a:ln/>
        </p:spPr>
      </p:sp>
      <p:sp>
        <p:nvSpPr>
          <p:cNvPr id="17" name="Shape 13"/>
          <p:cNvSpPr/>
          <p:nvPr/>
        </p:nvSpPr>
        <p:spPr>
          <a:xfrm>
            <a:off x="9587984" y="3083838"/>
            <a:ext cx="4178618" cy="91440"/>
          </a:xfrm>
          <a:prstGeom prst="roundRect">
            <a:avLst>
              <a:gd name="adj" fmla="val 30115"/>
            </a:avLst>
          </a:prstGeom>
          <a:solidFill>
            <a:srgbClr val="FFFFFF"/>
          </a:solidFill>
          <a:ln/>
        </p:spPr>
      </p:sp>
      <p:sp>
        <p:nvSpPr>
          <p:cNvPr id="18" name="Shape 14"/>
          <p:cNvSpPr/>
          <p:nvPr/>
        </p:nvSpPr>
        <p:spPr>
          <a:xfrm>
            <a:off x="11401961" y="2831425"/>
            <a:ext cx="550664" cy="550664"/>
          </a:xfrm>
          <a:prstGeom prst="roundRect">
            <a:avLst>
              <a:gd name="adj" fmla="val 166054"/>
            </a:avLst>
          </a:prstGeom>
          <a:solidFill>
            <a:srgbClr val="FFFFFF"/>
          </a:solidFill>
          <a:ln/>
        </p:spPr>
      </p:sp>
      <p:pic>
        <p:nvPicPr>
          <p:cNvPr id="1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567100" y="2996565"/>
            <a:ext cx="220266" cy="220266"/>
          </a:xfrm>
          <a:prstGeom prst="rect">
            <a:avLst/>
          </a:prstGeom>
        </p:spPr>
      </p:pic>
      <p:sp>
        <p:nvSpPr>
          <p:cNvPr id="20" name="Text 15"/>
          <p:cNvSpPr/>
          <p:nvPr/>
        </p:nvSpPr>
        <p:spPr>
          <a:xfrm>
            <a:off x="9794319" y="3565565"/>
            <a:ext cx="2270165" cy="260747"/>
          </a:xfrm>
          <a:prstGeom prst="rect">
            <a:avLst/>
          </a:prstGeom>
          <a:noFill/>
          <a:ln/>
        </p:spPr>
        <p:txBody>
          <a:bodyPr wrap="none" lIns="0" tIns="0" rIns="0" bIns="0" rtlCol="0" anchor="t"/>
          <a:lstStyle/>
          <a:p>
            <a:pPr algn="l" indent="0" marL="0">
              <a:lnSpc>
                <a:spcPts val="2050"/>
              </a:lnSpc>
              <a:buNone/>
            </a:pPr>
            <a:r>
              <a:rPr lang="en-US" sz="1600" b="1" dirty="0">
                <a:solidFill>
                  <a:srgbClr val="E2E6E9"/>
                </a:solidFill>
                <a:latin typeface="Montserrat Bold" pitchFamily="34" charset="0"/>
                <a:ea typeface="Montserrat Bold" pitchFamily="34" charset="-122"/>
                <a:cs typeface="Montserrat Bold" pitchFamily="34" charset="-120"/>
              </a:rPr>
              <a:t>Diseño de Datos (C3)</a:t>
            </a:r>
            <a:endParaRPr lang="en-US" sz="1600" dirty="0"/>
          </a:p>
        </p:txBody>
      </p:sp>
      <p:sp>
        <p:nvSpPr>
          <p:cNvPr id="21" name="Text 16"/>
          <p:cNvSpPr/>
          <p:nvPr/>
        </p:nvSpPr>
        <p:spPr>
          <a:xfrm>
            <a:off x="9794319" y="3936444"/>
            <a:ext cx="3765947" cy="1101566"/>
          </a:xfrm>
          <a:prstGeom prst="rect">
            <a:avLst/>
          </a:prstGeom>
          <a:noFill/>
          <a:ln/>
        </p:spPr>
        <p:txBody>
          <a:bodyPr wrap="square" lIns="0" tIns="0" rIns="0" bIns="0" rtlCol="0" anchor="t"/>
          <a:lstStyle/>
          <a:p>
            <a:pPr algn="l" indent="0" marL="0">
              <a:lnSpc>
                <a:spcPts val="2150"/>
              </a:lnSpc>
              <a:buNone/>
            </a:pPr>
            <a:r>
              <a:rPr lang="en-US" sz="1400" dirty="0">
                <a:solidFill>
                  <a:srgbClr val="E2E6E9"/>
                </a:solidFill>
                <a:latin typeface="Source Sans 3" pitchFamily="34" charset="0"/>
                <a:ea typeface="Source Sans 3" pitchFamily="34" charset="-122"/>
                <a:cs typeface="Source Sans 3" pitchFamily="34" charset="-120"/>
              </a:rPr>
              <a:t>Diseñaremos e implementaremos un modelo de datos escalable y optimizado, capaz de manejar de manera eficiente todas las inscripciones, solicitudes y notificaciones.</a:t>
            </a:r>
            <a:endParaRPr lang="en-US" sz="1400" dirty="0"/>
          </a:p>
        </p:txBody>
      </p:sp>
      <p:sp>
        <p:nvSpPr>
          <p:cNvPr id="22" name="Shape 17"/>
          <p:cNvSpPr/>
          <p:nvPr/>
        </p:nvSpPr>
        <p:spPr>
          <a:xfrm>
            <a:off x="863798" y="5703094"/>
            <a:ext cx="6359604" cy="1862257"/>
          </a:xfrm>
          <a:prstGeom prst="roundRect">
            <a:avLst>
              <a:gd name="adj" fmla="val 5892"/>
            </a:avLst>
          </a:prstGeom>
          <a:solidFill>
            <a:srgbClr val="111213"/>
          </a:solidFill>
          <a:ln/>
        </p:spPr>
      </p:sp>
      <p:sp>
        <p:nvSpPr>
          <p:cNvPr id="23" name="Shape 18"/>
          <p:cNvSpPr/>
          <p:nvPr/>
        </p:nvSpPr>
        <p:spPr>
          <a:xfrm>
            <a:off x="863798" y="5680234"/>
            <a:ext cx="6359604" cy="91440"/>
          </a:xfrm>
          <a:prstGeom prst="roundRect">
            <a:avLst>
              <a:gd name="adj" fmla="val 30115"/>
            </a:avLst>
          </a:prstGeom>
          <a:solidFill>
            <a:srgbClr val="FFFFFF"/>
          </a:solidFill>
          <a:ln/>
        </p:spPr>
      </p:sp>
      <p:sp>
        <p:nvSpPr>
          <p:cNvPr id="24" name="Shape 19"/>
          <p:cNvSpPr/>
          <p:nvPr/>
        </p:nvSpPr>
        <p:spPr>
          <a:xfrm>
            <a:off x="3768269" y="5427821"/>
            <a:ext cx="550664" cy="550664"/>
          </a:xfrm>
          <a:prstGeom prst="roundRect">
            <a:avLst>
              <a:gd name="adj" fmla="val 166054"/>
            </a:avLst>
          </a:prstGeom>
          <a:solidFill>
            <a:srgbClr val="FFFFFF"/>
          </a:solidFill>
          <a:ln/>
        </p:spPr>
      </p:sp>
      <p:pic>
        <p:nvPicPr>
          <p:cNvPr id="2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933408" y="5592961"/>
            <a:ext cx="220266" cy="220266"/>
          </a:xfrm>
          <a:prstGeom prst="rect">
            <a:avLst/>
          </a:prstGeom>
        </p:spPr>
      </p:pic>
      <p:sp>
        <p:nvSpPr>
          <p:cNvPr id="26" name="Text 20"/>
          <p:cNvSpPr/>
          <p:nvPr/>
        </p:nvSpPr>
        <p:spPr>
          <a:xfrm>
            <a:off x="1070134" y="6161961"/>
            <a:ext cx="2990017" cy="260747"/>
          </a:xfrm>
          <a:prstGeom prst="rect">
            <a:avLst/>
          </a:prstGeom>
          <a:noFill/>
          <a:ln/>
        </p:spPr>
        <p:txBody>
          <a:bodyPr wrap="none" lIns="0" tIns="0" rIns="0" bIns="0" rtlCol="0" anchor="t"/>
          <a:lstStyle/>
          <a:p>
            <a:pPr algn="l" indent="0" marL="0">
              <a:lnSpc>
                <a:spcPts val="2050"/>
              </a:lnSpc>
              <a:buNone/>
            </a:pPr>
            <a:r>
              <a:rPr lang="en-US" sz="1600" b="1" dirty="0">
                <a:solidFill>
                  <a:srgbClr val="E2E6E9"/>
                </a:solidFill>
                <a:latin typeface="Montserrat Bold" pitchFamily="34" charset="0"/>
                <a:ea typeface="Montserrat Bold" pitchFamily="34" charset="-122"/>
                <a:cs typeface="Montserrat Bold" pitchFamily="34" charset="-120"/>
              </a:rPr>
              <a:t>Desarrollo de Software (C4)</a:t>
            </a:r>
            <a:endParaRPr lang="en-US" sz="1600" dirty="0"/>
          </a:p>
        </p:txBody>
      </p:sp>
      <p:sp>
        <p:nvSpPr>
          <p:cNvPr id="27" name="Text 21"/>
          <p:cNvSpPr/>
          <p:nvPr/>
        </p:nvSpPr>
        <p:spPr>
          <a:xfrm>
            <a:off x="1070134" y="6532840"/>
            <a:ext cx="5946934" cy="826175"/>
          </a:xfrm>
          <a:prstGeom prst="rect">
            <a:avLst/>
          </a:prstGeom>
          <a:noFill/>
          <a:ln/>
        </p:spPr>
        <p:txBody>
          <a:bodyPr wrap="square" lIns="0" tIns="0" rIns="0" bIns="0" rtlCol="0" anchor="t"/>
          <a:lstStyle/>
          <a:p>
            <a:pPr algn="l" indent="0" marL="0">
              <a:lnSpc>
                <a:spcPts val="2150"/>
              </a:lnSpc>
              <a:buNone/>
            </a:pPr>
            <a:r>
              <a:rPr lang="en-US" sz="1400" dirty="0">
                <a:solidFill>
                  <a:srgbClr val="E2E6E9"/>
                </a:solidFill>
                <a:latin typeface="Source Sans 3" pitchFamily="34" charset="0"/>
                <a:ea typeface="Source Sans 3" pitchFamily="34" charset="-122"/>
                <a:cs typeface="Source Sans 3" pitchFamily="34" charset="-120"/>
              </a:rPr>
              <a:t>La solución será desarrollada siguiendo las mejores prácticas de programación y estándares de la industria, garantizando un código limpio, modular y mantenible.</a:t>
            </a:r>
            <a:endParaRPr lang="en-US" sz="1400" dirty="0"/>
          </a:p>
        </p:txBody>
      </p:sp>
      <p:sp>
        <p:nvSpPr>
          <p:cNvPr id="28" name="Shape 22"/>
          <p:cNvSpPr/>
          <p:nvPr/>
        </p:nvSpPr>
        <p:spPr>
          <a:xfrm>
            <a:off x="7406878" y="5703094"/>
            <a:ext cx="6359723" cy="1862257"/>
          </a:xfrm>
          <a:prstGeom prst="roundRect">
            <a:avLst>
              <a:gd name="adj" fmla="val 5892"/>
            </a:avLst>
          </a:prstGeom>
          <a:solidFill>
            <a:srgbClr val="111213"/>
          </a:solidFill>
          <a:ln/>
        </p:spPr>
      </p:sp>
      <p:sp>
        <p:nvSpPr>
          <p:cNvPr id="29" name="Shape 23"/>
          <p:cNvSpPr/>
          <p:nvPr/>
        </p:nvSpPr>
        <p:spPr>
          <a:xfrm>
            <a:off x="7406878" y="5680234"/>
            <a:ext cx="6359723" cy="91440"/>
          </a:xfrm>
          <a:prstGeom prst="roundRect">
            <a:avLst>
              <a:gd name="adj" fmla="val 30115"/>
            </a:avLst>
          </a:prstGeom>
          <a:solidFill>
            <a:srgbClr val="FFFFFF"/>
          </a:solidFill>
          <a:ln/>
        </p:spPr>
      </p:sp>
      <p:sp>
        <p:nvSpPr>
          <p:cNvPr id="30" name="Shape 24"/>
          <p:cNvSpPr/>
          <p:nvPr/>
        </p:nvSpPr>
        <p:spPr>
          <a:xfrm>
            <a:off x="10311348" y="5427821"/>
            <a:ext cx="550664" cy="550664"/>
          </a:xfrm>
          <a:prstGeom prst="roundRect">
            <a:avLst>
              <a:gd name="adj" fmla="val 166054"/>
            </a:avLst>
          </a:prstGeom>
          <a:solidFill>
            <a:srgbClr val="FFFFFF"/>
          </a:solidFill>
          <a:ln/>
        </p:spPr>
      </p:sp>
      <p:pic>
        <p:nvPicPr>
          <p:cNvPr id="3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476488" y="5592961"/>
            <a:ext cx="220266" cy="220266"/>
          </a:xfrm>
          <a:prstGeom prst="rect">
            <a:avLst/>
          </a:prstGeom>
        </p:spPr>
      </p:pic>
      <p:sp>
        <p:nvSpPr>
          <p:cNvPr id="32" name="Text 25"/>
          <p:cNvSpPr/>
          <p:nvPr/>
        </p:nvSpPr>
        <p:spPr>
          <a:xfrm>
            <a:off x="7613213" y="6161961"/>
            <a:ext cx="3123248" cy="260747"/>
          </a:xfrm>
          <a:prstGeom prst="rect">
            <a:avLst/>
          </a:prstGeom>
          <a:noFill/>
          <a:ln/>
        </p:spPr>
        <p:txBody>
          <a:bodyPr wrap="none" lIns="0" tIns="0" rIns="0" bIns="0" rtlCol="0" anchor="t"/>
          <a:lstStyle/>
          <a:p>
            <a:pPr algn="l" indent="0" marL="0">
              <a:lnSpc>
                <a:spcPts val="2050"/>
              </a:lnSpc>
              <a:buNone/>
            </a:pPr>
            <a:r>
              <a:rPr lang="en-US" sz="1600" b="1" dirty="0">
                <a:solidFill>
                  <a:srgbClr val="E2E6E9"/>
                </a:solidFill>
                <a:latin typeface="Montserrat Bold" pitchFamily="34" charset="0"/>
                <a:ea typeface="Montserrat Bold" pitchFamily="34" charset="-122"/>
                <a:cs typeface="Montserrat Bold" pitchFamily="34" charset="-120"/>
              </a:rPr>
              <a:t>Documentación Técnica (C5)</a:t>
            </a:r>
            <a:endParaRPr lang="en-US" sz="1600" dirty="0"/>
          </a:p>
        </p:txBody>
      </p:sp>
      <p:sp>
        <p:nvSpPr>
          <p:cNvPr id="33" name="Text 26"/>
          <p:cNvSpPr/>
          <p:nvPr/>
        </p:nvSpPr>
        <p:spPr>
          <a:xfrm>
            <a:off x="7613213" y="6532840"/>
            <a:ext cx="5947053" cy="826175"/>
          </a:xfrm>
          <a:prstGeom prst="rect">
            <a:avLst/>
          </a:prstGeom>
          <a:noFill/>
          <a:ln/>
        </p:spPr>
        <p:txBody>
          <a:bodyPr wrap="square" lIns="0" tIns="0" rIns="0" bIns="0" rtlCol="0" anchor="t"/>
          <a:lstStyle/>
          <a:p>
            <a:pPr algn="l" indent="0" marL="0">
              <a:lnSpc>
                <a:spcPts val="2150"/>
              </a:lnSpc>
              <a:buNone/>
            </a:pPr>
            <a:r>
              <a:rPr lang="en-US" sz="1400" dirty="0">
                <a:solidFill>
                  <a:srgbClr val="E2E6E9"/>
                </a:solidFill>
                <a:latin typeface="Source Sans 3" pitchFamily="34" charset="0"/>
                <a:ea typeface="Source Sans 3" pitchFamily="34" charset="-122"/>
                <a:cs typeface="Source Sans 3" pitchFamily="34" charset="-120"/>
              </a:rPr>
              <a:t>Elaboraremos una documentación técnica completa y un manual de usuario intuitivo, incorporando terminología en inglés cuando sea pertinente para una comunicación global.</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63798" y="1225629"/>
            <a:ext cx="12902803" cy="1227058"/>
          </a:xfrm>
          <a:prstGeom prst="rect">
            <a:avLst/>
          </a:prstGeom>
          <a:noFill/>
          <a:ln/>
        </p:spPr>
        <p:txBody>
          <a:bodyPr wrap="square" lIns="0" tIns="0" rIns="0" bIns="0" rtlCol="0" anchor="t"/>
          <a:lstStyle/>
          <a:p>
            <a:pPr algn="l" indent="0" marL="0">
              <a:lnSpc>
                <a:spcPts val="4800"/>
              </a:lnSpc>
              <a:buNone/>
            </a:pPr>
            <a:r>
              <a:rPr lang="en-US" sz="3850" b="1" dirty="0">
                <a:solidFill>
                  <a:srgbClr val="FFFFFF"/>
                </a:solidFill>
                <a:latin typeface="Montserrat Bold" pitchFamily="34" charset="0"/>
                <a:ea typeface="Montserrat Bold" pitchFamily="34" charset="-122"/>
                <a:cs typeface="Montserrat Bold" pitchFamily="34" charset="-120"/>
              </a:rPr>
              <a:t>Intereses Profesionales: Impacto Real a Través de la Tecnología</a:t>
            </a:r>
            <a:endParaRPr lang="en-US" sz="3850" dirty="0"/>
          </a:p>
        </p:txBody>
      </p:sp>
      <p:sp>
        <p:nvSpPr>
          <p:cNvPr id="3" name="Text 1"/>
          <p:cNvSpPr/>
          <p:nvPr/>
        </p:nvSpPr>
        <p:spPr>
          <a:xfrm>
            <a:off x="863798" y="2884527"/>
            <a:ext cx="12902803" cy="971907"/>
          </a:xfrm>
          <a:prstGeom prst="rect">
            <a:avLst/>
          </a:prstGeom>
          <a:noFill/>
          <a:ln/>
        </p:spPr>
        <p:txBody>
          <a:bodyPr wrap="square" lIns="0" tIns="0" rIns="0" bIns="0" rtlCol="0" anchor="t"/>
          <a:lstStyle/>
          <a:p>
            <a:pPr algn="l" indent="0" marL="0">
              <a:lnSpc>
                <a:spcPts val="2550"/>
              </a:lnSpc>
              <a:buNone/>
            </a:pPr>
            <a:r>
              <a:rPr lang="en-US" sz="1700" dirty="0">
                <a:solidFill>
                  <a:srgbClr val="E2E6E9"/>
                </a:solidFill>
                <a:latin typeface="Source Sans 3" pitchFamily="34" charset="0"/>
                <a:ea typeface="Source Sans 3" pitchFamily="34" charset="-122"/>
                <a:cs typeface="Source Sans 3" pitchFamily="34" charset="-120"/>
              </a:rPr>
              <a:t>Este proyecto representa una oportunidad invaluable para alinear nuestros conocimientos académicos con nuestras pasiones profesionales. Nos impulsa la posibilidad de </a:t>
            </a:r>
            <a:pPr algn="l" indent="0" marL="0">
              <a:lnSpc>
                <a:spcPts val="2550"/>
              </a:lnSpc>
              <a:buNone/>
            </a:pPr>
            <a:r>
              <a:rPr lang="en-US" sz="1700" b="1" dirty="0">
                <a:solidFill>
                  <a:srgbClr val="E2E6E9"/>
                </a:solidFill>
                <a:latin typeface="Source Sans 3" pitchFamily="34" charset="0"/>
                <a:ea typeface="Source Sans 3" pitchFamily="34" charset="-122"/>
                <a:cs typeface="Source Sans 3" pitchFamily="34" charset="-120"/>
              </a:rPr>
              <a:t>crear soluciones tecnológicas que generen un impacto tangible</a:t>
            </a:r>
            <a:pPr algn="l" indent="0" marL="0">
              <a:lnSpc>
                <a:spcPts val="2550"/>
              </a:lnSpc>
              <a:buNone/>
            </a:pPr>
            <a:r>
              <a:rPr lang="en-US" sz="1700" dirty="0">
                <a:solidFill>
                  <a:srgbClr val="E2E6E9"/>
                </a:solidFill>
                <a:latin typeface="Source Sans 3" pitchFamily="34" charset="0"/>
                <a:ea typeface="Source Sans 3" pitchFamily="34" charset="-122"/>
                <a:cs typeface="Source Sans 3" pitchFamily="34" charset="-120"/>
              </a:rPr>
              <a:t> en comunidades reales y mejoren la vida de las personas.</a:t>
            </a:r>
            <a:endParaRPr lang="en-US" sz="1700" dirty="0"/>
          </a:p>
        </p:txBody>
      </p:sp>
      <p:sp>
        <p:nvSpPr>
          <p:cNvPr id="4" name="Text 2"/>
          <p:cNvSpPr/>
          <p:nvPr/>
        </p:nvSpPr>
        <p:spPr>
          <a:xfrm>
            <a:off x="863798" y="4099322"/>
            <a:ext cx="12902803" cy="647938"/>
          </a:xfrm>
          <a:prstGeom prst="rect">
            <a:avLst/>
          </a:prstGeom>
          <a:noFill/>
          <a:ln/>
        </p:spPr>
        <p:txBody>
          <a:bodyPr wrap="square" lIns="0" tIns="0" rIns="0" bIns="0" rtlCol="0" anchor="t"/>
          <a:lstStyle/>
          <a:p>
            <a:pPr algn="l" indent="0" marL="0">
              <a:lnSpc>
                <a:spcPts val="2550"/>
              </a:lnSpc>
              <a:buNone/>
            </a:pPr>
            <a:r>
              <a:rPr lang="en-US" sz="1700" dirty="0">
                <a:solidFill>
                  <a:srgbClr val="E2E6E9"/>
                </a:solidFill>
                <a:latin typeface="Source Sans 3" pitchFamily="34" charset="0"/>
                <a:ea typeface="Source Sans 3" pitchFamily="34" charset="-122"/>
                <a:cs typeface="Source Sans 3" pitchFamily="34" charset="-120"/>
              </a:rPr>
              <a:t>La experiencia de desarrollar un sistema de gestión vecinal nos permite no solo aplicar, sino también profundizar nuestros conocimientos en áreas fundamentales como:</a:t>
            </a:r>
            <a:endParaRPr lang="en-US" sz="1700" dirty="0"/>
          </a:p>
        </p:txBody>
      </p:sp>
      <p:sp>
        <p:nvSpPr>
          <p:cNvPr id="5" name="Text 3"/>
          <p:cNvSpPr/>
          <p:nvPr/>
        </p:nvSpPr>
        <p:spPr>
          <a:xfrm>
            <a:off x="863798" y="4990148"/>
            <a:ext cx="12902803" cy="323969"/>
          </a:xfrm>
          <a:prstGeom prst="rect">
            <a:avLst/>
          </a:prstGeom>
          <a:noFill/>
          <a:ln/>
        </p:spPr>
        <p:txBody>
          <a:bodyPr wrap="none" lIns="0" tIns="0" rIns="0" bIns="0" rtlCol="0" anchor="t"/>
          <a:lstStyle/>
          <a:p>
            <a:pPr algn="l" marL="342900" indent="-342900">
              <a:lnSpc>
                <a:spcPts val="2550"/>
              </a:lnSpc>
              <a:buSzPct val="100000"/>
              <a:buChar char="•"/>
            </a:pPr>
            <a:r>
              <a:rPr lang="en-US" sz="1700" b="1" dirty="0">
                <a:solidFill>
                  <a:srgbClr val="E2E6E9"/>
                </a:solidFill>
                <a:latin typeface="Source Sans 3" pitchFamily="34" charset="0"/>
                <a:ea typeface="Source Sans 3" pitchFamily="34" charset="-122"/>
                <a:cs typeface="Source Sans 3" pitchFamily="34" charset="-120"/>
              </a:rPr>
              <a:t>Desarrollo de Software:</a:t>
            </a:r>
            <a:pPr algn="l" indent="0" marL="0">
              <a:lnSpc>
                <a:spcPts val="2550"/>
              </a:lnSpc>
              <a:buNone/>
            </a:pPr>
            <a:r>
              <a:rPr lang="en-US" sz="1700" dirty="0">
                <a:solidFill>
                  <a:srgbClr val="E2E6E9"/>
                </a:solidFill>
                <a:latin typeface="Source Sans 3" pitchFamily="34" charset="0"/>
                <a:ea typeface="Source Sans 3" pitchFamily="34" charset="-122"/>
                <a:cs typeface="Source Sans 3" pitchFamily="34" charset="-120"/>
              </a:rPr>
              <a:t> Desde la concepción arquitectónica hasta la implementación de cada funcionalidad.</a:t>
            </a:r>
            <a:endParaRPr lang="en-US" sz="1700" dirty="0"/>
          </a:p>
        </p:txBody>
      </p:sp>
      <p:sp>
        <p:nvSpPr>
          <p:cNvPr id="6" name="Text 4"/>
          <p:cNvSpPr/>
          <p:nvPr/>
        </p:nvSpPr>
        <p:spPr>
          <a:xfrm>
            <a:off x="863798" y="5389602"/>
            <a:ext cx="12902803" cy="323969"/>
          </a:xfrm>
          <a:prstGeom prst="rect">
            <a:avLst/>
          </a:prstGeom>
          <a:noFill/>
          <a:ln/>
        </p:spPr>
        <p:txBody>
          <a:bodyPr wrap="none" lIns="0" tIns="0" rIns="0" bIns="0" rtlCol="0" anchor="t"/>
          <a:lstStyle/>
          <a:p>
            <a:pPr algn="l" marL="342900" indent="-342900">
              <a:lnSpc>
                <a:spcPts val="2550"/>
              </a:lnSpc>
              <a:buSzPct val="100000"/>
              <a:buChar char="•"/>
            </a:pPr>
            <a:r>
              <a:rPr lang="en-US" sz="1700" b="1" dirty="0">
                <a:solidFill>
                  <a:srgbClr val="E2E6E9"/>
                </a:solidFill>
                <a:latin typeface="Source Sans 3" pitchFamily="34" charset="0"/>
                <a:ea typeface="Source Sans 3" pitchFamily="34" charset="-122"/>
                <a:cs typeface="Source Sans 3" pitchFamily="34" charset="-120"/>
              </a:rPr>
              <a:t>Bases de Datos:</a:t>
            </a:r>
            <a:pPr algn="l" indent="0" marL="0">
              <a:lnSpc>
                <a:spcPts val="2550"/>
              </a:lnSpc>
              <a:buNone/>
            </a:pPr>
            <a:r>
              <a:rPr lang="en-US" sz="1700" dirty="0">
                <a:solidFill>
                  <a:srgbClr val="E2E6E9"/>
                </a:solidFill>
                <a:latin typeface="Source Sans 3" pitchFamily="34" charset="0"/>
                <a:ea typeface="Source Sans 3" pitchFamily="34" charset="-122"/>
                <a:cs typeface="Source Sans 3" pitchFamily="34" charset="-120"/>
              </a:rPr>
              <a:t> Diseñando estructuras eficientes para el almacenamiento y recuperación de información sensible.</a:t>
            </a:r>
            <a:endParaRPr lang="en-US" sz="1700" dirty="0"/>
          </a:p>
        </p:txBody>
      </p:sp>
      <p:sp>
        <p:nvSpPr>
          <p:cNvPr id="7" name="Text 5"/>
          <p:cNvSpPr/>
          <p:nvPr/>
        </p:nvSpPr>
        <p:spPr>
          <a:xfrm>
            <a:off x="863798" y="5789057"/>
            <a:ext cx="12902803" cy="323969"/>
          </a:xfrm>
          <a:prstGeom prst="rect">
            <a:avLst/>
          </a:prstGeom>
          <a:noFill/>
          <a:ln/>
        </p:spPr>
        <p:txBody>
          <a:bodyPr wrap="none" lIns="0" tIns="0" rIns="0" bIns="0" rtlCol="0" anchor="t"/>
          <a:lstStyle/>
          <a:p>
            <a:pPr algn="l" marL="342900" indent="-342900">
              <a:lnSpc>
                <a:spcPts val="2550"/>
              </a:lnSpc>
              <a:buSzPct val="100000"/>
              <a:buChar char="•"/>
            </a:pPr>
            <a:r>
              <a:rPr lang="en-US" sz="1700" b="1" dirty="0">
                <a:solidFill>
                  <a:srgbClr val="E2E6E9"/>
                </a:solidFill>
                <a:latin typeface="Source Sans 3" pitchFamily="34" charset="0"/>
                <a:ea typeface="Source Sans 3" pitchFamily="34" charset="-122"/>
                <a:cs typeface="Source Sans 3" pitchFamily="34" charset="-120"/>
              </a:rPr>
              <a:t>Metodologías Ágiles:</a:t>
            </a:r>
            <a:pPr algn="l" indent="0" marL="0">
              <a:lnSpc>
                <a:spcPts val="2550"/>
              </a:lnSpc>
              <a:buNone/>
            </a:pPr>
            <a:r>
              <a:rPr lang="en-US" sz="1700" dirty="0">
                <a:solidFill>
                  <a:srgbClr val="E2E6E9"/>
                </a:solidFill>
                <a:latin typeface="Source Sans 3" pitchFamily="34" charset="0"/>
                <a:ea typeface="Source Sans 3" pitchFamily="34" charset="-122"/>
                <a:cs typeface="Source Sans 3" pitchFamily="34" charset="-120"/>
              </a:rPr>
              <a:t> Poniendo en práctica Scrum para una gestión de proyecto efectiva y colaborativa.</a:t>
            </a:r>
            <a:endParaRPr lang="en-US" sz="1700" dirty="0"/>
          </a:p>
        </p:txBody>
      </p:sp>
      <p:sp>
        <p:nvSpPr>
          <p:cNvPr id="8" name="Text 6"/>
          <p:cNvSpPr/>
          <p:nvPr/>
        </p:nvSpPr>
        <p:spPr>
          <a:xfrm>
            <a:off x="863798" y="6355913"/>
            <a:ext cx="12902803" cy="647938"/>
          </a:xfrm>
          <a:prstGeom prst="rect">
            <a:avLst/>
          </a:prstGeom>
          <a:noFill/>
          <a:ln/>
        </p:spPr>
        <p:txBody>
          <a:bodyPr wrap="square" lIns="0" tIns="0" rIns="0" bIns="0" rtlCol="0" anchor="t"/>
          <a:lstStyle/>
          <a:p>
            <a:pPr algn="l" indent="0" marL="0">
              <a:lnSpc>
                <a:spcPts val="2550"/>
              </a:lnSpc>
              <a:buNone/>
            </a:pPr>
            <a:r>
              <a:rPr lang="en-US" sz="1700" dirty="0">
                <a:solidFill>
                  <a:srgbClr val="E2E6E9"/>
                </a:solidFill>
                <a:latin typeface="Source Sans 3" pitchFamily="34" charset="0"/>
                <a:ea typeface="Source Sans 3" pitchFamily="34" charset="-122"/>
                <a:cs typeface="Source Sans 3" pitchFamily="34" charset="-120"/>
              </a:rPr>
              <a:t>Esta iniciativa no es solo un requisito académico; es un </a:t>
            </a:r>
            <a:pPr algn="l" indent="0" marL="0">
              <a:lnSpc>
                <a:spcPts val="2550"/>
              </a:lnSpc>
              <a:buNone/>
            </a:pPr>
            <a:r>
              <a:rPr lang="en-US" sz="1700" dirty="0">
                <a:solidFill>
                  <a:srgbClr val="F9D933"/>
                </a:solidFill>
                <a:latin typeface="Source Sans 3" pitchFamily="34" charset="0"/>
                <a:ea typeface="Source Sans 3" pitchFamily="34" charset="-122"/>
                <a:cs typeface="Source Sans 3" pitchFamily="34" charset="-120"/>
              </a:rPr>
              <a:t>trampolín para futuros proyectos profesionales</a:t>
            </a:r>
            <a:pPr algn="l" indent="0" marL="0">
              <a:lnSpc>
                <a:spcPts val="2550"/>
              </a:lnSpc>
              <a:buNone/>
            </a:pPr>
            <a:r>
              <a:rPr lang="en-US" sz="1700" dirty="0">
                <a:solidFill>
                  <a:srgbClr val="E2E6E9"/>
                </a:solidFill>
                <a:latin typeface="Source Sans 3" pitchFamily="34" charset="0"/>
                <a:ea typeface="Source Sans 3" pitchFamily="34" charset="-122"/>
                <a:cs typeface="Source Sans 3" pitchFamily="34" charset="-120"/>
              </a:rPr>
              <a:t> en el desarrollo de sistemas, permitiéndonos construir un portafolio sólido y demostrar nuestra capacidad para innovar y resolver problemas complejos en contextos reales.</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63798" y="687467"/>
            <a:ext cx="9839682" cy="490776"/>
          </a:xfrm>
          <a:prstGeom prst="rect">
            <a:avLst/>
          </a:prstGeom>
          <a:noFill/>
          <a:ln/>
        </p:spPr>
        <p:txBody>
          <a:bodyPr wrap="none" lIns="0" tIns="0" rIns="0" bIns="0" rtlCol="0" anchor="t"/>
          <a:lstStyle/>
          <a:p>
            <a:pPr algn="l" indent="0" marL="0">
              <a:lnSpc>
                <a:spcPts val="3850"/>
              </a:lnSpc>
              <a:buNone/>
            </a:pPr>
            <a:r>
              <a:rPr lang="en-US" sz="3050" b="1" dirty="0">
                <a:solidFill>
                  <a:srgbClr val="FFFFFF"/>
                </a:solidFill>
                <a:latin typeface="Montserrat Bold" pitchFamily="34" charset="0"/>
                <a:ea typeface="Montserrat Bold" pitchFamily="34" charset="-122"/>
                <a:cs typeface="Montserrat Bold" pitchFamily="34" charset="-120"/>
              </a:rPr>
              <a:t>Factibilidad del Proyecto: Desafíos y Estrategias</a:t>
            </a:r>
            <a:endParaRPr lang="en-US" sz="3050" dirty="0"/>
          </a:p>
        </p:txBody>
      </p:sp>
      <p:sp>
        <p:nvSpPr>
          <p:cNvPr id="3" name="Text 1"/>
          <p:cNvSpPr/>
          <p:nvPr/>
        </p:nvSpPr>
        <p:spPr>
          <a:xfrm>
            <a:off x="863798" y="1523762"/>
            <a:ext cx="12902803" cy="518160"/>
          </a:xfrm>
          <a:prstGeom prst="rect">
            <a:avLst/>
          </a:prstGeom>
          <a:noFill/>
          <a:ln/>
        </p:spPr>
        <p:txBody>
          <a:bodyPr wrap="square" lIns="0" tIns="0" rIns="0" bIns="0" rtlCol="0" anchor="t"/>
          <a:lstStyle/>
          <a:p>
            <a:pPr algn="l" indent="0" marL="0">
              <a:lnSpc>
                <a:spcPts val="2000"/>
              </a:lnSpc>
              <a:buNone/>
            </a:pPr>
            <a:r>
              <a:rPr lang="en-US" sz="1350" dirty="0">
                <a:solidFill>
                  <a:srgbClr val="E2E6E9"/>
                </a:solidFill>
                <a:latin typeface="Source Sans 3" pitchFamily="34" charset="0"/>
                <a:ea typeface="Source Sans 3" pitchFamily="34" charset="-122"/>
                <a:cs typeface="Source Sans 3" pitchFamily="34" charset="-120"/>
              </a:rPr>
              <a:t>La viabilidad de este proyecto dentro del marco de la asignatura Capstone ha sido cuidadosamente evaluada, considerando tanto los recursos disponibles como los posibles obstáculos. Estamos seguros de poder completarlo exitosamente en las 18 semanas del semestre.</a:t>
            </a:r>
            <a:endParaRPr lang="en-US" sz="1350" dirty="0"/>
          </a:p>
        </p:txBody>
      </p:sp>
      <p:sp>
        <p:nvSpPr>
          <p:cNvPr id="4" name="Text 2"/>
          <p:cNvSpPr/>
          <p:nvPr/>
        </p:nvSpPr>
        <p:spPr>
          <a:xfrm>
            <a:off x="863798" y="2408992"/>
            <a:ext cx="2767251" cy="294442"/>
          </a:xfrm>
          <a:prstGeom prst="rect">
            <a:avLst/>
          </a:prstGeom>
          <a:noFill/>
          <a:ln/>
        </p:spPr>
        <p:txBody>
          <a:bodyPr wrap="none" lIns="0" tIns="0" rIns="0" bIns="0" rtlCol="0" anchor="t"/>
          <a:lstStyle/>
          <a:p>
            <a:pPr algn="l" indent="0" marL="0">
              <a:lnSpc>
                <a:spcPts val="2300"/>
              </a:lnSpc>
              <a:buNone/>
            </a:pPr>
            <a:r>
              <a:rPr lang="en-US" sz="1850" b="1" dirty="0">
                <a:solidFill>
                  <a:srgbClr val="FFFFFF"/>
                </a:solidFill>
                <a:latin typeface="Montserrat Bold" pitchFamily="34" charset="0"/>
                <a:ea typeface="Montserrat Bold" pitchFamily="34" charset="-122"/>
                <a:cs typeface="Montserrat Bold" pitchFamily="34" charset="-120"/>
              </a:rPr>
              <a:t>Factores Facilitadores:</a:t>
            </a:r>
            <a:endParaRPr lang="en-US" sz="1850" dirty="0"/>
          </a:p>
        </p:txBody>
      </p:sp>
      <p:sp>
        <p:nvSpPr>
          <p:cNvPr id="5" name="Shape 3"/>
          <p:cNvSpPr/>
          <p:nvPr/>
        </p:nvSpPr>
        <p:spPr>
          <a:xfrm>
            <a:off x="863798" y="2897743"/>
            <a:ext cx="6240661" cy="1540907"/>
          </a:xfrm>
          <a:prstGeom prst="roundRect">
            <a:avLst>
              <a:gd name="adj" fmla="val 26911"/>
            </a:avLst>
          </a:prstGeom>
          <a:solidFill>
            <a:srgbClr val="303132"/>
          </a:solidFill>
          <a:ln/>
        </p:spPr>
      </p:sp>
      <p:sp>
        <p:nvSpPr>
          <p:cNvPr id="6" name="Text 4"/>
          <p:cNvSpPr/>
          <p:nvPr/>
        </p:nvSpPr>
        <p:spPr>
          <a:xfrm>
            <a:off x="1036558" y="3070503"/>
            <a:ext cx="2720816" cy="245388"/>
          </a:xfrm>
          <a:prstGeom prst="rect">
            <a:avLst/>
          </a:prstGeom>
          <a:noFill/>
          <a:ln/>
        </p:spPr>
        <p:txBody>
          <a:bodyPr wrap="none" lIns="0" tIns="0" rIns="0" bIns="0" rtlCol="0" anchor="t"/>
          <a:lstStyle/>
          <a:p>
            <a:pPr algn="l" indent="0" marL="0">
              <a:lnSpc>
                <a:spcPts val="1900"/>
              </a:lnSpc>
              <a:buNone/>
            </a:pPr>
            <a:r>
              <a:rPr lang="en-US" sz="1500" b="1" dirty="0">
                <a:solidFill>
                  <a:srgbClr val="E2E6E9"/>
                </a:solidFill>
                <a:latin typeface="Montserrat Bold" pitchFamily="34" charset="0"/>
                <a:ea typeface="Montserrat Bold" pitchFamily="34" charset="-122"/>
                <a:cs typeface="Montserrat Bold" pitchFamily="34" charset="-120"/>
              </a:rPr>
              <a:t>Acceso a Información Real</a:t>
            </a:r>
            <a:endParaRPr lang="en-US" sz="1500" dirty="0"/>
          </a:p>
        </p:txBody>
      </p:sp>
      <p:sp>
        <p:nvSpPr>
          <p:cNvPr id="7" name="Text 5"/>
          <p:cNvSpPr/>
          <p:nvPr/>
        </p:nvSpPr>
        <p:spPr>
          <a:xfrm>
            <a:off x="1036558" y="3488650"/>
            <a:ext cx="5895142" cy="777240"/>
          </a:xfrm>
          <a:prstGeom prst="rect">
            <a:avLst/>
          </a:prstGeom>
          <a:noFill/>
          <a:ln/>
        </p:spPr>
        <p:txBody>
          <a:bodyPr wrap="square" lIns="0" tIns="0" rIns="0" bIns="0" rtlCol="0" anchor="t"/>
          <a:lstStyle/>
          <a:p>
            <a:pPr algn="l" indent="0" marL="0">
              <a:lnSpc>
                <a:spcPts val="2000"/>
              </a:lnSpc>
              <a:buNone/>
            </a:pPr>
            <a:r>
              <a:rPr lang="en-US" sz="1350" dirty="0">
                <a:solidFill>
                  <a:srgbClr val="E2E6E9"/>
                </a:solidFill>
                <a:latin typeface="Source Sans 3" pitchFamily="34" charset="0"/>
                <a:ea typeface="Source Sans 3" pitchFamily="34" charset="-122"/>
                <a:cs typeface="Source Sans 3" pitchFamily="34" charset="-120"/>
              </a:rPr>
              <a:t>Contamos con la posibilidad de obtener información y requerimientos directamente de una junta de vecinos, lo que asegura la relevancia y utilidad del sistema.</a:t>
            </a:r>
            <a:endParaRPr lang="en-US" sz="1350" dirty="0"/>
          </a:p>
        </p:txBody>
      </p:sp>
      <p:sp>
        <p:nvSpPr>
          <p:cNvPr id="8" name="Shape 6"/>
          <p:cNvSpPr/>
          <p:nvPr/>
        </p:nvSpPr>
        <p:spPr>
          <a:xfrm>
            <a:off x="863798" y="4611410"/>
            <a:ext cx="6240661" cy="1281827"/>
          </a:xfrm>
          <a:prstGeom prst="roundRect">
            <a:avLst>
              <a:gd name="adj" fmla="val 32351"/>
            </a:avLst>
          </a:prstGeom>
          <a:solidFill>
            <a:srgbClr val="303132"/>
          </a:solidFill>
          <a:ln/>
        </p:spPr>
      </p:sp>
      <p:sp>
        <p:nvSpPr>
          <p:cNvPr id="9" name="Text 7"/>
          <p:cNvSpPr/>
          <p:nvPr/>
        </p:nvSpPr>
        <p:spPr>
          <a:xfrm>
            <a:off x="1036558" y="4784169"/>
            <a:ext cx="3810119" cy="245388"/>
          </a:xfrm>
          <a:prstGeom prst="rect">
            <a:avLst/>
          </a:prstGeom>
          <a:noFill/>
          <a:ln/>
        </p:spPr>
        <p:txBody>
          <a:bodyPr wrap="none" lIns="0" tIns="0" rIns="0" bIns="0" rtlCol="0" anchor="t"/>
          <a:lstStyle/>
          <a:p>
            <a:pPr algn="l" indent="0" marL="0">
              <a:lnSpc>
                <a:spcPts val="1900"/>
              </a:lnSpc>
              <a:buNone/>
            </a:pPr>
            <a:r>
              <a:rPr lang="en-US" sz="1500" b="1" dirty="0">
                <a:solidFill>
                  <a:srgbClr val="E2E6E9"/>
                </a:solidFill>
                <a:latin typeface="Montserrat Bold" pitchFamily="34" charset="0"/>
                <a:ea typeface="Montserrat Bold" pitchFamily="34" charset="-122"/>
                <a:cs typeface="Montserrat Bold" pitchFamily="34" charset="-120"/>
              </a:rPr>
              <a:t>Herramientas de Desarrollo Gratuitas</a:t>
            </a:r>
            <a:endParaRPr lang="en-US" sz="1500" dirty="0"/>
          </a:p>
        </p:txBody>
      </p:sp>
      <p:sp>
        <p:nvSpPr>
          <p:cNvPr id="10" name="Text 8"/>
          <p:cNvSpPr/>
          <p:nvPr/>
        </p:nvSpPr>
        <p:spPr>
          <a:xfrm>
            <a:off x="1036558" y="5202317"/>
            <a:ext cx="5895142" cy="518160"/>
          </a:xfrm>
          <a:prstGeom prst="rect">
            <a:avLst/>
          </a:prstGeom>
          <a:noFill/>
          <a:ln/>
        </p:spPr>
        <p:txBody>
          <a:bodyPr wrap="square" lIns="0" tIns="0" rIns="0" bIns="0" rtlCol="0" anchor="t"/>
          <a:lstStyle/>
          <a:p>
            <a:pPr algn="l" indent="0" marL="0">
              <a:lnSpc>
                <a:spcPts val="2000"/>
              </a:lnSpc>
              <a:buNone/>
            </a:pPr>
            <a:r>
              <a:rPr lang="en-US" sz="1350" dirty="0">
                <a:solidFill>
                  <a:srgbClr val="E2E6E9"/>
                </a:solidFill>
                <a:latin typeface="Source Sans 3" pitchFamily="34" charset="0"/>
                <a:ea typeface="Source Sans 3" pitchFamily="34" charset="-122"/>
                <a:cs typeface="Source Sans 3" pitchFamily="34" charset="-120"/>
              </a:rPr>
              <a:t>Utilizaremos software y plataformas de código abierto como VS Code, MySQL y GitHub, lo que elimina costos y facilita la colaboración.</a:t>
            </a:r>
            <a:endParaRPr lang="en-US" sz="1350" dirty="0"/>
          </a:p>
        </p:txBody>
      </p:sp>
      <p:sp>
        <p:nvSpPr>
          <p:cNvPr id="11" name="Shape 9"/>
          <p:cNvSpPr/>
          <p:nvPr/>
        </p:nvSpPr>
        <p:spPr>
          <a:xfrm>
            <a:off x="863798" y="6065996"/>
            <a:ext cx="6240661" cy="1281827"/>
          </a:xfrm>
          <a:prstGeom prst="roundRect">
            <a:avLst>
              <a:gd name="adj" fmla="val 32351"/>
            </a:avLst>
          </a:prstGeom>
          <a:solidFill>
            <a:srgbClr val="303132"/>
          </a:solidFill>
          <a:ln/>
        </p:spPr>
      </p:sp>
      <p:sp>
        <p:nvSpPr>
          <p:cNvPr id="12" name="Text 10"/>
          <p:cNvSpPr/>
          <p:nvPr/>
        </p:nvSpPr>
        <p:spPr>
          <a:xfrm>
            <a:off x="1036558" y="6238756"/>
            <a:ext cx="2112050" cy="245388"/>
          </a:xfrm>
          <a:prstGeom prst="rect">
            <a:avLst/>
          </a:prstGeom>
          <a:noFill/>
          <a:ln/>
        </p:spPr>
        <p:txBody>
          <a:bodyPr wrap="none" lIns="0" tIns="0" rIns="0" bIns="0" rtlCol="0" anchor="t"/>
          <a:lstStyle/>
          <a:p>
            <a:pPr algn="l" indent="0" marL="0">
              <a:lnSpc>
                <a:spcPts val="1900"/>
              </a:lnSpc>
              <a:buNone/>
            </a:pPr>
            <a:r>
              <a:rPr lang="en-US" sz="1500" b="1" dirty="0">
                <a:solidFill>
                  <a:srgbClr val="E2E6E9"/>
                </a:solidFill>
                <a:latin typeface="Montserrat Bold" pitchFamily="34" charset="0"/>
                <a:ea typeface="Montserrat Bold" pitchFamily="34" charset="-122"/>
                <a:cs typeface="Montserrat Bold" pitchFamily="34" charset="-120"/>
              </a:rPr>
              <a:t>Trabajo Colaborativo</a:t>
            </a:r>
            <a:endParaRPr lang="en-US" sz="1500" dirty="0"/>
          </a:p>
        </p:txBody>
      </p:sp>
      <p:sp>
        <p:nvSpPr>
          <p:cNvPr id="13" name="Text 11"/>
          <p:cNvSpPr/>
          <p:nvPr/>
        </p:nvSpPr>
        <p:spPr>
          <a:xfrm>
            <a:off x="1036558" y="6656903"/>
            <a:ext cx="5895142" cy="518160"/>
          </a:xfrm>
          <a:prstGeom prst="rect">
            <a:avLst/>
          </a:prstGeom>
          <a:noFill/>
          <a:ln/>
        </p:spPr>
        <p:txBody>
          <a:bodyPr wrap="square" lIns="0" tIns="0" rIns="0" bIns="0" rtlCol="0" anchor="t"/>
          <a:lstStyle/>
          <a:p>
            <a:pPr algn="l" indent="0" marL="0">
              <a:lnSpc>
                <a:spcPts val="2000"/>
              </a:lnSpc>
              <a:buNone/>
            </a:pPr>
            <a:r>
              <a:rPr lang="en-US" sz="1350" dirty="0">
                <a:solidFill>
                  <a:srgbClr val="E2E6E9"/>
                </a:solidFill>
                <a:latin typeface="Source Sans 3" pitchFamily="34" charset="0"/>
                <a:ea typeface="Source Sans 3" pitchFamily="34" charset="-122"/>
                <a:cs typeface="Source Sans 3" pitchFamily="34" charset="-120"/>
              </a:rPr>
              <a:t>El equipo está comprometido y estructurado para maximizar la eficiencia en el desarrollo y la toma de decisiones.</a:t>
            </a:r>
            <a:endParaRPr lang="en-US" sz="1350" dirty="0"/>
          </a:p>
        </p:txBody>
      </p:sp>
      <p:sp>
        <p:nvSpPr>
          <p:cNvPr id="14" name="Text 12"/>
          <p:cNvSpPr/>
          <p:nvPr/>
        </p:nvSpPr>
        <p:spPr>
          <a:xfrm>
            <a:off x="7533561" y="2408992"/>
            <a:ext cx="4938355" cy="294442"/>
          </a:xfrm>
          <a:prstGeom prst="rect">
            <a:avLst/>
          </a:prstGeom>
          <a:noFill/>
          <a:ln/>
        </p:spPr>
        <p:txBody>
          <a:bodyPr wrap="none" lIns="0" tIns="0" rIns="0" bIns="0" rtlCol="0" anchor="t"/>
          <a:lstStyle/>
          <a:p>
            <a:pPr algn="l" indent="0" marL="0">
              <a:lnSpc>
                <a:spcPts val="2300"/>
              </a:lnSpc>
              <a:buNone/>
            </a:pPr>
            <a:r>
              <a:rPr lang="en-US" sz="1850" b="1" dirty="0">
                <a:solidFill>
                  <a:srgbClr val="FFFFFF"/>
                </a:solidFill>
                <a:latin typeface="Montserrat Bold" pitchFamily="34" charset="0"/>
                <a:ea typeface="Montserrat Bold" pitchFamily="34" charset="-122"/>
                <a:cs typeface="Montserrat Bold" pitchFamily="34" charset="-120"/>
              </a:rPr>
              <a:t>Factores Obstaculizadores y Soluciones:</a:t>
            </a:r>
            <a:endParaRPr lang="en-US" sz="1850" dirty="0"/>
          </a:p>
        </p:txBody>
      </p:sp>
      <p:sp>
        <p:nvSpPr>
          <p:cNvPr id="15" name="Shape 13"/>
          <p:cNvSpPr/>
          <p:nvPr/>
        </p:nvSpPr>
        <p:spPr>
          <a:xfrm>
            <a:off x="7533561" y="2897743"/>
            <a:ext cx="6240661" cy="1845707"/>
          </a:xfrm>
          <a:prstGeom prst="roundRect">
            <a:avLst>
              <a:gd name="adj" fmla="val 5945"/>
            </a:avLst>
          </a:prstGeom>
          <a:solidFill>
            <a:srgbClr val="111213"/>
          </a:solidFill>
          <a:ln w="22860">
            <a:solidFill>
              <a:srgbClr val="494A4B"/>
            </a:solidFill>
            <a:prstDash val="solid"/>
          </a:ln>
        </p:spPr>
      </p:sp>
      <p:sp>
        <p:nvSpPr>
          <p:cNvPr id="16" name="Shape 14"/>
          <p:cNvSpPr/>
          <p:nvPr/>
        </p:nvSpPr>
        <p:spPr>
          <a:xfrm>
            <a:off x="7510701" y="2897743"/>
            <a:ext cx="91440" cy="1845707"/>
          </a:xfrm>
          <a:prstGeom prst="roundRect">
            <a:avLst>
              <a:gd name="adj" fmla="val 28344"/>
            </a:avLst>
          </a:prstGeom>
          <a:solidFill>
            <a:srgbClr val="FFFFFF"/>
          </a:solidFill>
          <a:ln/>
        </p:spPr>
      </p:sp>
      <p:sp>
        <p:nvSpPr>
          <p:cNvPr id="17" name="Text 15"/>
          <p:cNvSpPr/>
          <p:nvPr/>
        </p:nvSpPr>
        <p:spPr>
          <a:xfrm>
            <a:off x="7797760" y="3093363"/>
            <a:ext cx="3113365" cy="245388"/>
          </a:xfrm>
          <a:prstGeom prst="rect">
            <a:avLst/>
          </a:prstGeom>
          <a:noFill/>
          <a:ln/>
        </p:spPr>
        <p:txBody>
          <a:bodyPr wrap="none" lIns="0" tIns="0" rIns="0" bIns="0" rtlCol="0" anchor="t"/>
          <a:lstStyle/>
          <a:p>
            <a:pPr algn="l" indent="0" marL="0">
              <a:lnSpc>
                <a:spcPts val="1900"/>
              </a:lnSpc>
              <a:buNone/>
            </a:pPr>
            <a:r>
              <a:rPr lang="en-US" sz="1500" b="1" dirty="0">
                <a:solidFill>
                  <a:srgbClr val="E2E6E9"/>
                </a:solidFill>
                <a:latin typeface="Montserrat Bold" pitchFamily="34" charset="0"/>
                <a:ea typeface="Montserrat Bold" pitchFamily="34" charset="-122"/>
                <a:cs typeface="Montserrat Bold" pitchFamily="34" charset="-120"/>
              </a:rPr>
              <a:t>Disponibilidad de Información</a:t>
            </a:r>
            <a:endParaRPr lang="en-US" sz="1500" dirty="0"/>
          </a:p>
        </p:txBody>
      </p:sp>
      <p:sp>
        <p:nvSpPr>
          <p:cNvPr id="18" name="Text 16"/>
          <p:cNvSpPr/>
          <p:nvPr/>
        </p:nvSpPr>
        <p:spPr>
          <a:xfrm>
            <a:off x="7797760" y="3511510"/>
            <a:ext cx="5780842" cy="1036320"/>
          </a:xfrm>
          <a:prstGeom prst="rect">
            <a:avLst/>
          </a:prstGeom>
          <a:noFill/>
          <a:ln/>
        </p:spPr>
        <p:txBody>
          <a:bodyPr wrap="square" lIns="0" tIns="0" rIns="0" bIns="0" rtlCol="0" anchor="t"/>
          <a:lstStyle/>
          <a:p>
            <a:pPr algn="l" indent="0" marL="0">
              <a:lnSpc>
                <a:spcPts val="2000"/>
              </a:lnSpc>
              <a:buNone/>
            </a:pPr>
            <a:r>
              <a:rPr lang="en-US" sz="1350" dirty="0">
                <a:solidFill>
                  <a:srgbClr val="E2E6E9"/>
                </a:solidFill>
                <a:latin typeface="Source Sans 3" pitchFamily="34" charset="0"/>
                <a:ea typeface="Source Sans 3" pitchFamily="34" charset="-122"/>
                <a:cs typeface="Source Sans 3" pitchFamily="34" charset="-120"/>
              </a:rPr>
              <a:t>La junta de vecinos podría tener disponibilidad limitada para proporcionar información. </a:t>
            </a:r>
            <a:pPr algn="l" indent="0" marL="0">
              <a:lnSpc>
                <a:spcPts val="2000"/>
              </a:lnSpc>
              <a:buNone/>
            </a:pPr>
            <a:r>
              <a:rPr lang="en-US" sz="1350" b="1" dirty="0">
                <a:solidFill>
                  <a:srgbClr val="E2E6E9"/>
                </a:solidFill>
                <a:latin typeface="Source Sans 3" pitchFamily="34" charset="0"/>
                <a:ea typeface="Source Sans 3" pitchFamily="34" charset="-122"/>
                <a:cs typeface="Source Sans 3" pitchFamily="34" charset="-120"/>
              </a:rPr>
              <a:t>Solución:</a:t>
            </a:r>
            <a:pPr algn="l" indent="0" marL="0">
              <a:lnSpc>
                <a:spcPts val="2000"/>
              </a:lnSpc>
              <a:buNone/>
            </a:pPr>
            <a:r>
              <a:rPr lang="en-US" sz="1350" dirty="0">
                <a:solidFill>
                  <a:srgbClr val="E2E6E9"/>
                </a:solidFill>
                <a:latin typeface="Source Sans 3" pitchFamily="34" charset="0"/>
                <a:ea typeface="Source Sans 3" pitchFamily="34" charset="-122"/>
                <a:cs typeface="Source Sans 3" pitchFamily="34" charset="-120"/>
              </a:rPr>
              <a:t> Establecer reuniones con antelación y documentar detalladamente todos los requerimientos desde el inicio.</a:t>
            </a:r>
            <a:endParaRPr lang="en-US" sz="1350" dirty="0"/>
          </a:p>
        </p:txBody>
      </p:sp>
      <p:sp>
        <p:nvSpPr>
          <p:cNvPr id="19" name="Shape 17"/>
          <p:cNvSpPr/>
          <p:nvPr/>
        </p:nvSpPr>
        <p:spPr>
          <a:xfrm>
            <a:off x="7533561" y="4916210"/>
            <a:ext cx="6240661" cy="1586627"/>
          </a:xfrm>
          <a:prstGeom prst="roundRect">
            <a:avLst>
              <a:gd name="adj" fmla="val 6916"/>
            </a:avLst>
          </a:prstGeom>
          <a:solidFill>
            <a:srgbClr val="111213"/>
          </a:solidFill>
          <a:ln w="22860">
            <a:solidFill>
              <a:srgbClr val="494A4B"/>
            </a:solidFill>
            <a:prstDash val="solid"/>
          </a:ln>
        </p:spPr>
      </p:sp>
      <p:sp>
        <p:nvSpPr>
          <p:cNvPr id="20" name="Shape 18"/>
          <p:cNvSpPr/>
          <p:nvPr/>
        </p:nvSpPr>
        <p:spPr>
          <a:xfrm>
            <a:off x="7510701" y="4916210"/>
            <a:ext cx="91440" cy="1586627"/>
          </a:xfrm>
          <a:prstGeom prst="roundRect">
            <a:avLst>
              <a:gd name="adj" fmla="val 28344"/>
            </a:avLst>
          </a:prstGeom>
          <a:solidFill>
            <a:srgbClr val="FFFFFF"/>
          </a:solidFill>
          <a:ln/>
        </p:spPr>
      </p:sp>
      <p:sp>
        <p:nvSpPr>
          <p:cNvPr id="21" name="Text 19"/>
          <p:cNvSpPr/>
          <p:nvPr/>
        </p:nvSpPr>
        <p:spPr>
          <a:xfrm>
            <a:off x="7797760" y="5111829"/>
            <a:ext cx="3801070" cy="245388"/>
          </a:xfrm>
          <a:prstGeom prst="rect">
            <a:avLst/>
          </a:prstGeom>
          <a:noFill/>
          <a:ln/>
        </p:spPr>
        <p:txBody>
          <a:bodyPr wrap="none" lIns="0" tIns="0" rIns="0" bIns="0" rtlCol="0" anchor="t"/>
          <a:lstStyle/>
          <a:p>
            <a:pPr algn="l" indent="0" marL="0">
              <a:lnSpc>
                <a:spcPts val="1900"/>
              </a:lnSpc>
              <a:buNone/>
            </a:pPr>
            <a:r>
              <a:rPr lang="en-US" sz="1500" b="1" dirty="0">
                <a:solidFill>
                  <a:srgbClr val="E2E6E9"/>
                </a:solidFill>
                <a:latin typeface="Montserrat Bold" pitchFamily="34" charset="0"/>
                <a:ea typeface="Montserrat Bold" pitchFamily="34" charset="-122"/>
                <a:cs typeface="Montserrat Bold" pitchFamily="34" charset="-120"/>
              </a:rPr>
              <a:t>Coordinación de Agendas del Equipo</a:t>
            </a:r>
            <a:endParaRPr lang="en-US" sz="1500" dirty="0"/>
          </a:p>
        </p:txBody>
      </p:sp>
      <p:sp>
        <p:nvSpPr>
          <p:cNvPr id="22" name="Text 20"/>
          <p:cNvSpPr/>
          <p:nvPr/>
        </p:nvSpPr>
        <p:spPr>
          <a:xfrm>
            <a:off x="7797760" y="5529977"/>
            <a:ext cx="5780842" cy="777240"/>
          </a:xfrm>
          <a:prstGeom prst="rect">
            <a:avLst/>
          </a:prstGeom>
          <a:noFill/>
          <a:ln/>
        </p:spPr>
        <p:txBody>
          <a:bodyPr wrap="square" lIns="0" tIns="0" rIns="0" bIns="0" rtlCol="0" anchor="t"/>
          <a:lstStyle/>
          <a:p>
            <a:pPr algn="l" indent="0" marL="0">
              <a:lnSpc>
                <a:spcPts val="2000"/>
              </a:lnSpc>
              <a:buNone/>
            </a:pPr>
            <a:r>
              <a:rPr lang="en-US" sz="1350" dirty="0">
                <a:solidFill>
                  <a:srgbClr val="E2E6E9"/>
                </a:solidFill>
                <a:latin typeface="Source Sans 3" pitchFamily="34" charset="0"/>
                <a:ea typeface="Source Sans 3" pitchFamily="34" charset="-122"/>
                <a:cs typeface="Source Sans 3" pitchFamily="34" charset="-120"/>
              </a:rPr>
              <a:t>Gestionar los tiempos y disponibilidad de cada integrante puede ser un reto. </a:t>
            </a:r>
            <a:pPr algn="l" indent="0" marL="0">
              <a:lnSpc>
                <a:spcPts val="2000"/>
              </a:lnSpc>
              <a:buNone/>
            </a:pPr>
            <a:r>
              <a:rPr lang="en-US" sz="1350" b="1" dirty="0">
                <a:solidFill>
                  <a:srgbClr val="E2E6E9"/>
                </a:solidFill>
                <a:latin typeface="Source Sans 3" pitchFamily="34" charset="0"/>
                <a:ea typeface="Source Sans 3" pitchFamily="34" charset="-122"/>
                <a:cs typeface="Source Sans 3" pitchFamily="34" charset="-120"/>
              </a:rPr>
              <a:t>Solución:</a:t>
            </a:r>
            <a:pPr algn="l" indent="0" marL="0">
              <a:lnSpc>
                <a:spcPts val="2000"/>
              </a:lnSpc>
              <a:buNone/>
            </a:pPr>
            <a:r>
              <a:rPr lang="en-US" sz="1350" dirty="0">
                <a:solidFill>
                  <a:srgbClr val="E2E6E9"/>
                </a:solidFill>
                <a:latin typeface="Source Sans 3" pitchFamily="34" charset="0"/>
                <a:ea typeface="Source Sans 3" pitchFamily="34" charset="-122"/>
                <a:cs typeface="Source Sans 3" pitchFamily="34" charset="-120"/>
              </a:rPr>
              <a:t> Establecer un cronograma claro y flexible, con herramientas de planificación compartidas y comunicación constante.</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07720" y="555308"/>
            <a:ext cx="2386608" cy="298371"/>
          </a:xfrm>
          <a:prstGeom prst="rect">
            <a:avLst/>
          </a:prstGeom>
          <a:noFill/>
          <a:ln/>
        </p:spPr>
        <p:txBody>
          <a:bodyPr wrap="none" lIns="0" tIns="0" rIns="0" bIns="0" rtlCol="0" anchor="t"/>
          <a:lstStyle/>
          <a:p>
            <a:pPr algn="l" indent="0" marL="0">
              <a:lnSpc>
                <a:spcPts val="2300"/>
              </a:lnSpc>
              <a:buNone/>
            </a:pPr>
            <a:r>
              <a:rPr lang="en-US" sz="1850" b="1" dirty="0">
                <a:solidFill>
                  <a:srgbClr val="FFFFFF"/>
                </a:solidFill>
                <a:latin typeface="Montserrat Bold" pitchFamily="34" charset="0"/>
                <a:ea typeface="Montserrat Bold" pitchFamily="34" charset="-122"/>
                <a:cs typeface="Montserrat Bold" pitchFamily="34" charset="-120"/>
              </a:rPr>
              <a:t>Objetivo General:</a:t>
            </a:r>
            <a:endParaRPr lang="en-US" sz="1850" dirty="0"/>
          </a:p>
        </p:txBody>
      </p:sp>
      <p:sp>
        <p:nvSpPr>
          <p:cNvPr id="3" name="Shape 1"/>
          <p:cNvSpPr/>
          <p:nvPr/>
        </p:nvSpPr>
        <p:spPr>
          <a:xfrm>
            <a:off x="807720" y="1116211"/>
            <a:ext cx="13014960" cy="741521"/>
          </a:xfrm>
          <a:prstGeom prst="roundRect">
            <a:avLst>
              <a:gd name="adj" fmla="val 2655"/>
            </a:avLst>
          </a:prstGeom>
          <a:solidFill>
            <a:srgbClr val="183A13"/>
          </a:solidFill>
          <a:ln/>
        </p:spPr>
      </p:sp>
      <p:pic>
        <p:nvPicPr>
          <p:cNvPr id="4" name="Image 0" descr="preencoded.png">    </p:cNvPr>
          <p:cNvPicPr>
            <a:picLocks noChangeAspect="1"/>
          </p:cNvPicPr>
          <p:nvPr/>
        </p:nvPicPr>
        <p:blipFill>
          <a:blip r:embed="rId1"/>
          <a:stretch>
            <a:fillRect/>
          </a:stretch>
        </p:blipFill>
        <p:spPr>
          <a:xfrm>
            <a:off x="938927" y="1302425"/>
            <a:ext cx="164068" cy="131207"/>
          </a:xfrm>
          <a:prstGeom prst="rect">
            <a:avLst/>
          </a:prstGeom>
        </p:spPr>
      </p:pic>
      <p:sp>
        <p:nvSpPr>
          <p:cNvPr id="5" name="Text 2"/>
          <p:cNvSpPr/>
          <p:nvPr/>
        </p:nvSpPr>
        <p:spPr>
          <a:xfrm>
            <a:off x="1234202" y="1280160"/>
            <a:ext cx="12457271" cy="393859"/>
          </a:xfrm>
          <a:prstGeom prst="rect">
            <a:avLst/>
          </a:prstGeom>
          <a:noFill/>
          <a:ln/>
        </p:spPr>
        <p:txBody>
          <a:bodyPr wrap="square" lIns="0" tIns="0" rIns="0" bIns="0" rtlCol="0" anchor="t"/>
          <a:lstStyle/>
          <a:p>
            <a:pPr algn="l" indent="0" marL="0">
              <a:lnSpc>
                <a:spcPts val="1550"/>
              </a:lnSpc>
              <a:buNone/>
            </a:pPr>
            <a:r>
              <a:rPr lang="en-US" sz="1000" dirty="0">
                <a:solidFill>
                  <a:srgbClr val="FFFFFF"/>
                </a:solidFill>
                <a:latin typeface="Source Sans 3" pitchFamily="34" charset="0"/>
                <a:ea typeface="Source Sans 3" pitchFamily="34" charset="-122"/>
                <a:cs typeface="Source Sans 3" pitchFamily="34" charset="-120"/>
              </a:rPr>
              <a:t>Desarrollar un </a:t>
            </a:r>
            <a:pPr algn="l" indent="0" marL="0">
              <a:lnSpc>
                <a:spcPts val="1550"/>
              </a:lnSpc>
              <a:buNone/>
            </a:pPr>
            <a:r>
              <a:rPr lang="en-US" sz="1000" b="1" dirty="0">
                <a:solidFill>
                  <a:srgbClr val="FFFFFF"/>
                </a:solidFill>
                <a:latin typeface="Source Sans 3" pitchFamily="34" charset="0"/>
                <a:ea typeface="Source Sans 3" pitchFamily="34" charset="-122"/>
                <a:cs typeface="Source Sans 3" pitchFamily="34" charset="-120"/>
              </a:rPr>
              <a:t>sistema web responsivo</a:t>
            </a:r>
            <a:pPr algn="l" indent="0" marL="0">
              <a:lnSpc>
                <a:spcPts val="1550"/>
              </a:lnSpc>
              <a:buNone/>
            </a:pPr>
            <a:r>
              <a:rPr lang="en-US" sz="1000" dirty="0">
                <a:solidFill>
                  <a:srgbClr val="FFFFFF"/>
                </a:solidFill>
                <a:latin typeface="Source Sans 3" pitchFamily="34" charset="0"/>
                <a:ea typeface="Source Sans 3" pitchFamily="34" charset="-122"/>
                <a:cs typeface="Source Sans 3" pitchFamily="34" charset="-120"/>
              </a:rPr>
              <a:t> que optimice la gestión de la junta de vecinos, permitiendo mejorar los procesos de inscripción, emisión de certificados, postulación de proyectos, comunicación y uso de recursos comunitarios.</a:t>
            </a:r>
            <a:endParaRPr lang="en-US" sz="1000" dirty="0"/>
          </a:p>
        </p:txBody>
      </p:sp>
      <p:sp>
        <p:nvSpPr>
          <p:cNvPr id="6" name="Text 3"/>
          <p:cNvSpPr/>
          <p:nvPr/>
        </p:nvSpPr>
        <p:spPr>
          <a:xfrm>
            <a:off x="807720" y="2054543"/>
            <a:ext cx="2716292" cy="298371"/>
          </a:xfrm>
          <a:prstGeom prst="rect">
            <a:avLst/>
          </a:prstGeom>
          <a:noFill/>
          <a:ln/>
        </p:spPr>
        <p:txBody>
          <a:bodyPr wrap="none" lIns="0" tIns="0" rIns="0" bIns="0" rtlCol="0" anchor="t"/>
          <a:lstStyle/>
          <a:p>
            <a:pPr algn="l" indent="0" marL="0">
              <a:lnSpc>
                <a:spcPts val="2300"/>
              </a:lnSpc>
              <a:buNone/>
            </a:pPr>
            <a:r>
              <a:rPr lang="en-US" sz="1850" b="1" dirty="0">
                <a:solidFill>
                  <a:srgbClr val="FFFFFF"/>
                </a:solidFill>
                <a:latin typeface="Montserrat Bold" pitchFamily="34" charset="0"/>
                <a:ea typeface="Montserrat Bold" pitchFamily="34" charset="-122"/>
                <a:cs typeface="Montserrat Bold" pitchFamily="34" charset="-120"/>
              </a:rPr>
              <a:t>Objetivos Específicos:</a:t>
            </a:r>
            <a:endParaRPr lang="en-US" sz="1850" dirty="0"/>
          </a:p>
        </p:txBody>
      </p:sp>
      <p:sp>
        <p:nvSpPr>
          <p:cNvPr id="7" name="Shape 4"/>
          <p:cNvSpPr/>
          <p:nvPr/>
        </p:nvSpPr>
        <p:spPr>
          <a:xfrm>
            <a:off x="807720" y="2549723"/>
            <a:ext cx="295275" cy="295275"/>
          </a:xfrm>
          <a:prstGeom prst="roundRect">
            <a:avLst>
              <a:gd name="adj" fmla="val 6669"/>
            </a:avLst>
          </a:prstGeom>
          <a:solidFill>
            <a:srgbClr val="303132"/>
          </a:solidFill>
          <a:ln/>
        </p:spPr>
      </p:sp>
      <p:sp>
        <p:nvSpPr>
          <p:cNvPr id="8" name="Text 5"/>
          <p:cNvSpPr/>
          <p:nvPr/>
        </p:nvSpPr>
        <p:spPr>
          <a:xfrm>
            <a:off x="865882" y="2585502"/>
            <a:ext cx="178951" cy="223718"/>
          </a:xfrm>
          <a:prstGeom prst="rect">
            <a:avLst/>
          </a:prstGeom>
          <a:noFill/>
          <a:ln/>
        </p:spPr>
        <p:txBody>
          <a:bodyPr wrap="none" lIns="0" tIns="0" rIns="0" bIns="0" rtlCol="0" anchor="t"/>
          <a:lstStyle/>
          <a:p>
            <a:pPr algn="ctr" indent="0" marL="0">
              <a:lnSpc>
                <a:spcPts val="1400"/>
              </a:lnSpc>
              <a:buNone/>
            </a:pPr>
            <a:r>
              <a:rPr lang="en-US" sz="1400" b="1" dirty="0">
                <a:solidFill>
                  <a:srgbClr val="E2E6E9"/>
                </a:solidFill>
                <a:latin typeface="Montserrat Bold" pitchFamily="34" charset="0"/>
                <a:ea typeface="Montserrat Bold" pitchFamily="34" charset="-122"/>
                <a:cs typeface="Montserrat Bold" pitchFamily="34" charset="-120"/>
              </a:rPr>
              <a:t>1</a:t>
            </a:r>
            <a:endParaRPr lang="en-US" sz="1400" dirty="0"/>
          </a:p>
        </p:txBody>
      </p:sp>
      <p:sp>
        <p:nvSpPr>
          <p:cNvPr id="9" name="Text 6"/>
          <p:cNvSpPr/>
          <p:nvPr/>
        </p:nvSpPr>
        <p:spPr>
          <a:xfrm>
            <a:off x="1234202" y="2594729"/>
            <a:ext cx="1972389" cy="186452"/>
          </a:xfrm>
          <a:prstGeom prst="rect">
            <a:avLst/>
          </a:prstGeom>
          <a:noFill/>
          <a:ln/>
        </p:spPr>
        <p:txBody>
          <a:bodyPr wrap="none" lIns="0" tIns="0" rIns="0" bIns="0" rtlCol="0" anchor="t"/>
          <a:lstStyle/>
          <a:p>
            <a:pPr algn="l" indent="0" marL="0">
              <a:lnSpc>
                <a:spcPts val="1450"/>
              </a:lnSpc>
              <a:buNone/>
            </a:pPr>
            <a:r>
              <a:rPr lang="en-US" sz="1150" b="1" dirty="0">
                <a:solidFill>
                  <a:srgbClr val="E2E6E9"/>
                </a:solidFill>
                <a:latin typeface="Montserrat Bold" pitchFamily="34" charset="0"/>
                <a:ea typeface="Montserrat Bold" pitchFamily="34" charset="-122"/>
                <a:cs typeface="Montserrat Bold" pitchFamily="34" charset="-120"/>
              </a:rPr>
              <a:t>Levantar Requerimientos</a:t>
            </a:r>
            <a:endParaRPr lang="en-US" sz="1150" dirty="0"/>
          </a:p>
        </p:txBody>
      </p:sp>
      <p:sp>
        <p:nvSpPr>
          <p:cNvPr id="10" name="Text 7"/>
          <p:cNvSpPr/>
          <p:nvPr/>
        </p:nvSpPr>
        <p:spPr>
          <a:xfrm>
            <a:off x="1234202" y="2859881"/>
            <a:ext cx="12588478" cy="196929"/>
          </a:xfrm>
          <a:prstGeom prst="rect">
            <a:avLst/>
          </a:prstGeom>
          <a:noFill/>
          <a:ln/>
        </p:spPr>
        <p:txBody>
          <a:bodyPr wrap="none" lIns="0" tIns="0" rIns="0" bIns="0" rtlCol="0" anchor="t"/>
          <a:lstStyle/>
          <a:p>
            <a:pPr algn="l" indent="0" marL="0">
              <a:lnSpc>
                <a:spcPts val="1550"/>
              </a:lnSpc>
              <a:buNone/>
            </a:pPr>
            <a:r>
              <a:rPr lang="en-US" sz="1000" dirty="0">
                <a:solidFill>
                  <a:srgbClr val="E2E6E9"/>
                </a:solidFill>
                <a:latin typeface="Source Sans 3" pitchFamily="34" charset="0"/>
                <a:ea typeface="Source Sans 3" pitchFamily="34" charset="-122"/>
                <a:cs typeface="Source Sans 3" pitchFamily="34" charset="-120"/>
              </a:rPr>
              <a:t>Identificar y documentar detalladamente los requerimientos funcionales y no funcionales de todos los procesos de la junta de vecinos.</a:t>
            </a:r>
            <a:endParaRPr lang="en-US" sz="1000" dirty="0"/>
          </a:p>
        </p:txBody>
      </p:sp>
      <p:sp>
        <p:nvSpPr>
          <p:cNvPr id="11" name="Shape 8"/>
          <p:cNvSpPr/>
          <p:nvPr/>
        </p:nvSpPr>
        <p:spPr>
          <a:xfrm>
            <a:off x="807720" y="3319343"/>
            <a:ext cx="295275" cy="295275"/>
          </a:xfrm>
          <a:prstGeom prst="roundRect">
            <a:avLst>
              <a:gd name="adj" fmla="val 6669"/>
            </a:avLst>
          </a:prstGeom>
          <a:solidFill>
            <a:srgbClr val="303132"/>
          </a:solidFill>
          <a:ln/>
        </p:spPr>
      </p:sp>
      <p:sp>
        <p:nvSpPr>
          <p:cNvPr id="12" name="Text 9"/>
          <p:cNvSpPr/>
          <p:nvPr/>
        </p:nvSpPr>
        <p:spPr>
          <a:xfrm>
            <a:off x="865882" y="3355122"/>
            <a:ext cx="178951" cy="223718"/>
          </a:xfrm>
          <a:prstGeom prst="rect">
            <a:avLst/>
          </a:prstGeom>
          <a:noFill/>
          <a:ln/>
        </p:spPr>
        <p:txBody>
          <a:bodyPr wrap="none" lIns="0" tIns="0" rIns="0" bIns="0" rtlCol="0" anchor="t"/>
          <a:lstStyle/>
          <a:p>
            <a:pPr algn="ctr" indent="0" marL="0">
              <a:lnSpc>
                <a:spcPts val="1400"/>
              </a:lnSpc>
              <a:buNone/>
            </a:pPr>
            <a:r>
              <a:rPr lang="en-US" sz="1400" b="1" dirty="0">
                <a:solidFill>
                  <a:srgbClr val="E2E6E9"/>
                </a:solidFill>
                <a:latin typeface="Montserrat Bold" pitchFamily="34" charset="0"/>
                <a:ea typeface="Montserrat Bold" pitchFamily="34" charset="-122"/>
                <a:cs typeface="Montserrat Bold" pitchFamily="34" charset="-120"/>
              </a:rPr>
              <a:t>2</a:t>
            </a:r>
            <a:endParaRPr lang="en-US" sz="1400" dirty="0"/>
          </a:p>
        </p:txBody>
      </p:sp>
      <p:sp>
        <p:nvSpPr>
          <p:cNvPr id="13" name="Text 10"/>
          <p:cNvSpPr/>
          <p:nvPr/>
        </p:nvSpPr>
        <p:spPr>
          <a:xfrm>
            <a:off x="1234202" y="3364349"/>
            <a:ext cx="2139315" cy="186452"/>
          </a:xfrm>
          <a:prstGeom prst="rect">
            <a:avLst/>
          </a:prstGeom>
          <a:noFill/>
          <a:ln/>
        </p:spPr>
        <p:txBody>
          <a:bodyPr wrap="none" lIns="0" tIns="0" rIns="0" bIns="0" rtlCol="0" anchor="t"/>
          <a:lstStyle/>
          <a:p>
            <a:pPr algn="l" indent="0" marL="0">
              <a:lnSpc>
                <a:spcPts val="1450"/>
              </a:lnSpc>
              <a:buNone/>
            </a:pPr>
            <a:r>
              <a:rPr lang="en-US" sz="1150" b="1" dirty="0">
                <a:solidFill>
                  <a:srgbClr val="E2E6E9"/>
                </a:solidFill>
                <a:latin typeface="Montserrat Bold" pitchFamily="34" charset="0"/>
                <a:ea typeface="Montserrat Bold" pitchFamily="34" charset="-122"/>
                <a:cs typeface="Montserrat Bold" pitchFamily="34" charset="-120"/>
              </a:rPr>
              <a:t>Diseñar el Modelo de Datos</a:t>
            </a:r>
            <a:endParaRPr lang="en-US" sz="1150" dirty="0"/>
          </a:p>
        </p:txBody>
      </p:sp>
      <p:sp>
        <p:nvSpPr>
          <p:cNvPr id="14" name="Text 11"/>
          <p:cNvSpPr/>
          <p:nvPr/>
        </p:nvSpPr>
        <p:spPr>
          <a:xfrm>
            <a:off x="1234202" y="3629501"/>
            <a:ext cx="12588478" cy="196929"/>
          </a:xfrm>
          <a:prstGeom prst="rect">
            <a:avLst/>
          </a:prstGeom>
          <a:noFill/>
          <a:ln/>
        </p:spPr>
        <p:txBody>
          <a:bodyPr wrap="none" lIns="0" tIns="0" rIns="0" bIns="0" rtlCol="0" anchor="t"/>
          <a:lstStyle/>
          <a:p>
            <a:pPr algn="l" indent="0" marL="0">
              <a:lnSpc>
                <a:spcPts val="1550"/>
              </a:lnSpc>
              <a:buNone/>
            </a:pPr>
            <a:r>
              <a:rPr lang="en-US" sz="1000" dirty="0">
                <a:solidFill>
                  <a:srgbClr val="E2E6E9"/>
                </a:solidFill>
                <a:latin typeface="Source Sans 3" pitchFamily="34" charset="0"/>
                <a:ea typeface="Source Sans 3" pitchFamily="34" charset="-122"/>
                <a:cs typeface="Source Sans 3" pitchFamily="34" charset="-120"/>
              </a:rPr>
              <a:t>Crear una estructura de base de datos eficiente y escalable para soportar la información de vecinos, solicitudes, notificaciones y recursos.</a:t>
            </a:r>
            <a:endParaRPr lang="en-US" sz="1000" dirty="0"/>
          </a:p>
        </p:txBody>
      </p:sp>
      <p:sp>
        <p:nvSpPr>
          <p:cNvPr id="15" name="Shape 12"/>
          <p:cNvSpPr/>
          <p:nvPr/>
        </p:nvSpPr>
        <p:spPr>
          <a:xfrm>
            <a:off x="807720" y="4088963"/>
            <a:ext cx="295275" cy="295275"/>
          </a:xfrm>
          <a:prstGeom prst="roundRect">
            <a:avLst>
              <a:gd name="adj" fmla="val 6669"/>
            </a:avLst>
          </a:prstGeom>
          <a:solidFill>
            <a:srgbClr val="303132"/>
          </a:solidFill>
          <a:ln/>
        </p:spPr>
      </p:sp>
      <p:sp>
        <p:nvSpPr>
          <p:cNvPr id="16" name="Text 13"/>
          <p:cNvSpPr/>
          <p:nvPr/>
        </p:nvSpPr>
        <p:spPr>
          <a:xfrm>
            <a:off x="865882" y="4124742"/>
            <a:ext cx="178951" cy="223718"/>
          </a:xfrm>
          <a:prstGeom prst="rect">
            <a:avLst/>
          </a:prstGeom>
          <a:noFill/>
          <a:ln/>
        </p:spPr>
        <p:txBody>
          <a:bodyPr wrap="none" lIns="0" tIns="0" rIns="0" bIns="0" rtlCol="0" anchor="t"/>
          <a:lstStyle/>
          <a:p>
            <a:pPr algn="ctr" indent="0" marL="0">
              <a:lnSpc>
                <a:spcPts val="1400"/>
              </a:lnSpc>
              <a:buNone/>
            </a:pPr>
            <a:r>
              <a:rPr lang="en-US" sz="1400" b="1" dirty="0">
                <a:solidFill>
                  <a:srgbClr val="E2E6E9"/>
                </a:solidFill>
                <a:latin typeface="Montserrat Bold" pitchFamily="34" charset="0"/>
                <a:ea typeface="Montserrat Bold" pitchFamily="34" charset="-122"/>
                <a:cs typeface="Montserrat Bold" pitchFamily="34" charset="-120"/>
              </a:rPr>
              <a:t>3</a:t>
            </a:r>
            <a:endParaRPr lang="en-US" sz="1400" dirty="0"/>
          </a:p>
        </p:txBody>
      </p:sp>
      <p:sp>
        <p:nvSpPr>
          <p:cNvPr id="17" name="Text 14"/>
          <p:cNvSpPr/>
          <p:nvPr/>
        </p:nvSpPr>
        <p:spPr>
          <a:xfrm>
            <a:off x="1234202" y="4133969"/>
            <a:ext cx="2381131" cy="186452"/>
          </a:xfrm>
          <a:prstGeom prst="rect">
            <a:avLst/>
          </a:prstGeom>
          <a:noFill/>
          <a:ln/>
        </p:spPr>
        <p:txBody>
          <a:bodyPr wrap="none" lIns="0" tIns="0" rIns="0" bIns="0" rtlCol="0" anchor="t"/>
          <a:lstStyle/>
          <a:p>
            <a:pPr algn="l" indent="0" marL="0">
              <a:lnSpc>
                <a:spcPts val="1450"/>
              </a:lnSpc>
              <a:buNone/>
            </a:pPr>
            <a:r>
              <a:rPr lang="en-US" sz="1150" b="1" dirty="0">
                <a:solidFill>
                  <a:srgbClr val="E2E6E9"/>
                </a:solidFill>
                <a:latin typeface="Montserrat Bold" pitchFamily="34" charset="0"/>
                <a:ea typeface="Montserrat Bold" pitchFamily="34" charset="-122"/>
                <a:cs typeface="Montserrat Bold" pitchFamily="34" charset="-120"/>
              </a:rPr>
              <a:t>Desarrollar Interfaz de Usuario</a:t>
            </a:r>
            <a:endParaRPr lang="en-US" sz="1150" dirty="0"/>
          </a:p>
        </p:txBody>
      </p:sp>
      <p:sp>
        <p:nvSpPr>
          <p:cNvPr id="18" name="Text 15"/>
          <p:cNvSpPr/>
          <p:nvPr/>
        </p:nvSpPr>
        <p:spPr>
          <a:xfrm>
            <a:off x="1234202" y="4399121"/>
            <a:ext cx="12588478" cy="196929"/>
          </a:xfrm>
          <a:prstGeom prst="rect">
            <a:avLst/>
          </a:prstGeom>
          <a:noFill/>
          <a:ln/>
        </p:spPr>
        <p:txBody>
          <a:bodyPr wrap="none" lIns="0" tIns="0" rIns="0" bIns="0" rtlCol="0" anchor="t"/>
          <a:lstStyle/>
          <a:p>
            <a:pPr algn="l" indent="0" marL="0">
              <a:lnSpc>
                <a:spcPts val="1550"/>
              </a:lnSpc>
              <a:buNone/>
            </a:pPr>
            <a:r>
              <a:rPr lang="en-US" sz="1000" dirty="0">
                <a:solidFill>
                  <a:srgbClr val="E2E6E9"/>
                </a:solidFill>
                <a:latin typeface="Source Sans 3" pitchFamily="34" charset="0"/>
                <a:ea typeface="Source Sans 3" pitchFamily="34" charset="-122"/>
                <a:cs typeface="Source Sans 3" pitchFamily="34" charset="-120"/>
              </a:rPr>
              <a:t>Crear una interfaz de usuario intuitiva, accesible y responsiva, garantizando una experiencia de usuario óptima en cualquier dispositivo.</a:t>
            </a:r>
            <a:endParaRPr lang="en-US" sz="1000" dirty="0"/>
          </a:p>
        </p:txBody>
      </p:sp>
      <p:sp>
        <p:nvSpPr>
          <p:cNvPr id="19" name="Shape 16"/>
          <p:cNvSpPr/>
          <p:nvPr/>
        </p:nvSpPr>
        <p:spPr>
          <a:xfrm>
            <a:off x="807720" y="4858583"/>
            <a:ext cx="295275" cy="295275"/>
          </a:xfrm>
          <a:prstGeom prst="roundRect">
            <a:avLst>
              <a:gd name="adj" fmla="val 6669"/>
            </a:avLst>
          </a:prstGeom>
          <a:solidFill>
            <a:srgbClr val="303132"/>
          </a:solidFill>
          <a:ln/>
        </p:spPr>
      </p:sp>
      <p:sp>
        <p:nvSpPr>
          <p:cNvPr id="20" name="Text 17"/>
          <p:cNvSpPr/>
          <p:nvPr/>
        </p:nvSpPr>
        <p:spPr>
          <a:xfrm>
            <a:off x="865882" y="4894362"/>
            <a:ext cx="178951" cy="223718"/>
          </a:xfrm>
          <a:prstGeom prst="rect">
            <a:avLst/>
          </a:prstGeom>
          <a:noFill/>
          <a:ln/>
        </p:spPr>
        <p:txBody>
          <a:bodyPr wrap="none" lIns="0" tIns="0" rIns="0" bIns="0" rtlCol="0" anchor="t"/>
          <a:lstStyle/>
          <a:p>
            <a:pPr algn="ctr" indent="0" marL="0">
              <a:lnSpc>
                <a:spcPts val="1400"/>
              </a:lnSpc>
              <a:buNone/>
            </a:pPr>
            <a:r>
              <a:rPr lang="en-US" sz="1400" b="1" dirty="0">
                <a:solidFill>
                  <a:srgbClr val="E2E6E9"/>
                </a:solidFill>
                <a:latin typeface="Montserrat Bold" pitchFamily="34" charset="0"/>
                <a:ea typeface="Montserrat Bold" pitchFamily="34" charset="-122"/>
                <a:cs typeface="Montserrat Bold" pitchFamily="34" charset="-120"/>
              </a:rPr>
              <a:t>4</a:t>
            </a:r>
            <a:endParaRPr lang="en-US" sz="1400" dirty="0"/>
          </a:p>
        </p:txBody>
      </p:sp>
      <p:sp>
        <p:nvSpPr>
          <p:cNvPr id="21" name="Text 18"/>
          <p:cNvSpPr/>
          <p:nvPr/>
        </p:nvSpPr>
        <p:spPr>
          <a:xfrm>
            <a:off x="1234202" y="4903589"/>
            <a:ext cx="2528411" cy="186452"/>
          </a:xfrm>
          <a:prstGeom prst="rect">
            <a:avLst/>
          </a:prstGeom>
          <a:noFill/>
          <a:ln/>
        </p:spPr>
        <p:txBody>
          <a:bodyPr wrap="none" lIns="0" tIns="0" rIns="0" bIns="0" rtlCol="0" anchor="t"/>
          <a:lstStyle/>
          <a:p>
            <a:pPr algn="l" indent="0" marL="0">
              <a:lnSpc>
                <a:spcPts val="1450"/>
              </a:lnSpc>
              <a:buNone/>
            </a:pPr>
            <a:r>
              <a:rPr lang="en-US" sz="1150" b="1" dirty="0">
                <a:solidFill>
                  <a:srgbClr val="E2E6E9"/>
                </a:solidFill>
                <a:latin typeface="Montserrat Bold" pitchFamily="34" charset="0"/>
                <a:ea typeface="Montserrat Bold" pitchFamily="34" charset="-122"/>
                <a:cs typeface="Montserrat Bold" pitchFamily="34" charset="-120"/>
              </a:rPr>
              <a:t>Implementar Lógica del Sistema</a:t>
            </a:r>
            <a:endParaRPr lang="en-US" sz="1150" dirty="0"/>
          </a:p>
        </p:txBody>
      </p:sp>
      <p:sp>
        <p:nvSpPr>
          <p:cNvPr id="22" name="Text 19"/>
          <p:cNvSpPr/>
          <p:nvPr/>
        </p:nvSpPr>
        <p:spPr>
          <a:xfrm>
            <a:off x="1234202" y="5168741"/>
            <a:ext cx="12588478" cy="196929"/>
          </a:xfrm>
          <a:prstGeom prst="rect">
            <a:avLst/>
          </a:prstGeom>
          <a:noFill/>
          <a:ln/>
        </p:spPr>
        <p:txBody>
          <a:bodyPr wrap="none" lIns="0" tIns="0" rIns="0" bIns="0" rtlCol="0" anchor="t"/>
          <a:lstStyle/>
          <a:p>
            <a:pPr algn="l" indent="0" marL="0">
              <a:lnSpc>
                <a:spcPts val="1550"/>
              </a:lnSpc>
              <a:buNone/>
            </a:pPr>
            <a:r>
              <a:rPr lang="en-US" sz="1000" dirty="0">
                <a:solidFill>
                  <a:srgbClr val="E2E6E9"/>
                </a:solidFill>
                <a:latin typeface="Source Sans 3" pitchFamily="34" charset="0"/>
                <a:ea typeface="Source Sans 3" pitchFamily="34" charset="-122"/>
                <a:cs typeface="Source Sans 3" pitchFamily="34" charset="-120"/>
              </a:rPr>
              <a:t>Codificar y poner en funcionamiento las funcionalidades principales, incluyendo la gestión de usuarios, certificados, proyectos y calendario.</a:t>
            </a:r>
            <a:endParaRPr lang="en-US" sz="1000" dirty="0"/>
          </a:p>
        </p:txBody>
      </p:sp>
      <p:sp>
        <p:nvSpPr>
          <p:cNvPr id="23" name="Shape 20"/>
          <p:cNvSpPr/>
          <p:nvPr/>
        </p:nvSpPr>
        <p:spPr>
          <a:xfrm>
            <a:off x="807720" y="5628203"/>
            <a:ext cx="295275" cy="295275"/>
          </a:xfrm>
          <a:prstGeom prst="roundRect">
            <a:avLst>
              <a:gd name="adj" fmla="val 6669"/>
            </a:avLst>
          </a:prstGeom>
          <a:solidFill>
            <a:srgbClr val="303132"/>
          </a:solidFill>
          <a:ln/>
        </p:spPr>
      </p:sp>
      <p:sp>
        <p:nvSpPr>
          <p:cNvPr id="24" name="Text 21"/>
          <p:cNvSpPr/>
          <p:nvPr/>
        </p:nvSpPr>
        <p:spPr>
          <a:xfrm>
            <a:off x="865882" y="5663982"/>
            <a:ext cx="178951" cy="223718"/>
          </a:xfrm>
          <a:prstGeom prst="rect">
            <a:avLst/>
          </a:prstGeom>
          <a:noFill/>
          <a:ln/>
        </p:spPr>
        <p:txBody>
          <a:bodyPr wrap="none" lIns="0" tIns="0" rIns="0" bIns="0" rtlCol="0" anchor="t"/>
          <a:lstStyle/>
          <a:p>
            <a:pPr algn="ctr" indent="0" marL="0">
              <a:lnSpc>
                <a:spcPts val="1400"/>
              </a:lnSpc>
              <a:buNone/>
            </a:pPr>
            <a:r>
              <a:rPr lang="en-US" sz="1400" b="1" dirty="0">
                <a:solidFill>
                  <a:srgbClr val="E2E6E9"/>
                </a:solidFill>
                <a:latin typeface="Montserrat Bold" pitchFamily="34" charset="0"/>
                <a:ea typeface="Montserrat Bold" pitchFamily="34" charset="-122"/>
                <a:cs typeface="Montserrat Bold" pitchFamily="34" charset="-120"/>
              </a:rPr>
              <a:t>5</a:t>
            </a:r>
            <a:endParaRPr lang="en-US" sz="1400" dirty="0"/>
          </a:p>
        </p:txBody>
      </p:sp>
      <p:sp>
        <p:nvSpPr>
          <p:cNvPr id="25" name="Text 22"/>
          <p:cNvSpPr/>
          <p:nvPr/>
        </p:nvSpPr>
        <p:spPr>
          <a:xfrm>
            <a:off x="1234202" y="5673209"/>
            <a:ext cx="2822496" cy="186452"/>
          </a:xfrm>
          <a:prstGeom prst="rect">
            <a:avLst/>
          </a:prstGeom>
          <a:noFill/>
          <a:ln/>
        </p:spPr>
        <p:txBody>
          <a:bodyPr wrap="none" lIns="0" tIns="0" rIns="0" bIns="0" rtlCol="0" anchor="t"/>
          <a:lstStyle/>
          <a:p>
            <a:pPr algn="l" indent="0" marL="0">
              <a:lnSpc>
                <a:spcPts val="1450"/>
              </a:lnSpc>
              <a:buNone/>
            </a:pPr>
            <a:r>
              <a:rPr lang="en-US" sz="1150" b="1" dirty="0">
                <a:solidFill>
                  <a:srgbClr val="E2E6E9"/>
                </a:solidFill>
                <a:latin typeface="Montserrat Bold" pitchFamily="34" charset="0"/>
                <a:ea typeface="Montserrat Bold" pitchFamily="34" charset="-122"/>
                <a:cs typeface="Montserrat Bold" pitchFamily="34" charset="-120"/>
              </a:rPr>
              <a:t>Integrar Notificaciones Automáticas</a:t>
            </a:r>
            <a:endParaRPr lang="en-US" sz="1150" dirty="0"/>
          </a:p>
        </p:txBody>
      </p:sp>
      <p:sp>
        <p:nvSpPr>
          <p:cNvPr id="26" name="Text 23"/>
          <p:cNvSpPr/>
          <p:nvPr/>
        </p:nvSpPr>
        <p:spPr>
          <a:xfrm>
            <a:off x="1234202" y="5938361"/>
            <a:ext cx="12588478" cy="196929"/>
          </a:xfrm>
          <a:prstGeom prst="rect">
            <a:avLst/>
          </a:prstGeom>
          <a:noFill/>
          <a:ln/>
        </p:spPr>
        <p:txBody>
          <a:bodyPr wrap="none" lIns="0" tIns="0" rIns="0" bIns="0" rtlCol="0" anchor="t"/>
          <a:lstStyle/>
          <a:p>
            <a:pPr algn="l" indent="0" marL="0">
              <a:lnSpc>
                <a:spcPts val="1550"/>
              </a:lnSpc>
              <a:buNone/>
            </a:pPr>
            <a:r>
              <a:rPr lang="en-US" sz="1000" dirty="0">
                <a:solidFill>
                  <a:srgbClr val="E2E6E9"/>
                </a:solidFill>
                <a:latin typeface="Source Sans 3" pitchFamily="34" charset="0"/>
                <a:ea typeface="Source Sans 3" pitchFamily="34" charset="-122"/>
                <a:cs typeface="Source Sans 3" pitchFamily="34" charset="-120"/>
              </a:rPr>
              <a:t>Desarrollar la integración de sistemas de envío automático de notificaciones vía correo electrónico y WhatsApp.</a:t>
            </a:r>
            <a:endParaRPr lang="en-US" sz="1000" dirty="0"/>
          </a:p>
        </p:txBody>
      </p:sp>
      <p:sp>
        <p:nvSpPr>
          <p:cNvPr id="27" name="Shape 24"/>
          <p:cNvSpPr/>
          <p:nvPr/>
        </p:nvSpPr>
        <p:spPr>
          <a:xfrm>
            <a:off x="807720" y="6397823"/>
            <a:ext cx="295275" cy="295275"/>
          </a:xfrm>
          <a:prstGeom prst="roundRect">
            <a:avLst>
              <a:gd name="adj" fmla="val 6669"/>
            </a:avLst>
          </a:prstGeom>
          <a:solidFill>
            <a:srgbClr val="303132"/>
          </a:solidFill>
          <a:ln/>
        </p:spPr>
      </p:sp>
      <p:sp>
        <p:nvSpPr>
          <p:cNvPr id="28" name="Text 25"/>
          <p:cNvSpPr/>
          <p:nvPr/>
        </p:nvSpPr>
        <p:spPr>
          <a:xfrm>
            <a:off x="865882" y="6433602"/>
            <a:ext cx="178951" cy="223718"/>
          </a:xfrm>
          <a:prstGeom prst="rect">
            <a:avLst/>
          </a:prstGeom>
          <a:noFill/>
          <a:ln/>
        </p:spPr>
        <p:txBody>
          <a:bodyPr wrap="none" lIns="0" tIns="0" rIns="0" bIns="0" rtlCol="0" anchor="t"/>
          <a:lstStyle/>
          <a:p>
            <a:pPr algn="ctr" indent="0" marL="0">
              <a:lnSpc>
                <a:spcPts val="1400"/>
              </a:lnSpc>
              <a:buNone/>
            </a:pPr>
            <a:r>
              <a:rPr lang="en-US" sz="1400" b="1" dirty="0">
                <a:solidFill>
                  <a:srgbClr val="E2E6E9"/>
                </a:solidFill>
                <a:latin typeface="Montserrat Bold" pitchFamily="34" charset="0"/>
                <a:ea typeface="Montserrat Bold" pitchFamily="34" charset="-122"/>
                <a:cs typeface="Montserrat Bold" pitchFamily="34" charset="-120"/>
              </a:rPr>
              <a:t>6</a:t>
            </a:r>
            <a:endParaRPr lang="en-US" sz="1400" dirty="0"/>
          </a:p>
        </p:txBody>
      </p:sp>
      <p:sp>
        <p:nvSpPr>
          <p:cNvPr id="29" name="Text 26"/>
          <p:cNvSpPr/>
          <p:nvPr/>
        </p:nvSpPr>
        <p:spPr>
          <a:xfrm>
            <a:off x="1234202" y="6442829"/>
            <a:ext cx="2494240" cy="186452"/>
          </a:xfrm>
          <a:prstGeom prst="rect">
            <a:avLst/>
          </a:prstGeom>
          <a:noFill/>
          <a:ln/>
        </p:spPr>
        <p:txBody>
          <a:bodyPr wrap="none" lIns="0" tIns="0" rIns="0" bIns="0" rtlCol="0" anchor="t"/>
          <a:lstStyle/>
          <a:p>
            <a:pPr algn="l" indent="0" marL="0">
              <a:lnSpc>
                <a:spcPts val="1450"/>
              </a:lnSpc>
              <a:buNone/>
            </a:pPr>
            <a:r>
              <a:rPr lang="en-US" sz="1150" b="1" dirty="0">
                <a:solidFill>
                  <a:srgbClr val="E2E6E9"/>
                </a:solidFill>
                <a:latin typeface="Montserrat Bold" pitchFamily="34" charset="0"/>
                <a:ea typeface="Montserrat Bold" pitchFamily="34" charset="-122"/>
                <a:cs typeface="Montserrat Bold" pitchFamily="34" charset="-120"/>
              </a:rPr>
              <a:t>Realizar Pruebas y Correcciones</a:t>
            </a:r>
            <a:endParaRPr lang="en-US" sz="1150" dirty="0"/>
          </a:p>
        </p:txBody>
      </p:sp>
      <p:sp>
        <p:nvSpPr>
          <p:cNvPr id="30" name="Text 27"/>
          <p:cNvSpPr/>
          <p:nvPr/>
        </p:nvSpPr>
        <p:spPr>
          <a:xfrm>
            <a:off x="1234202" y="6707981"/>
            <a:ext cx="12588478" cy="196929"/>
          </a:xfrm>
          <a:prstGeom prst="rect">
            <a:avLst/>
          </a:prstGeom>
          <a:noFill/>
          <a:ln/>
        </p:spPr>
        <p:txBody>
          <a:bodyPr wrap="none" lIns="0" tIns="0" rIns="0" bIns="0" rtlCol="0" anchor="t"/>
          <a:lstStyle/>
          <a:p>
            <a:pPr algn="l" indent="0" marL="0">
              <a:lnSpc>
                <a:spcPts val="1550"/>
              </a:lnSpc>
              <a:buNone/>
            </a:pPr>
            <a:r>
              <a:rPr lang="en-US" sz="1000" dirty="0">
                <a:solidFill>
                  <a:srgbClr val="E2E6E9"/>
                </a:solidFill>
                <a:latin typeface="Source Sans 3" pitchFamily="34" charset="0"/>
                <a:ea typeface="Source Sans 3" pitchFamily="34" charset="-122"/>
                <a:cs typeface="Source Sans 3" pitchFamily="34" charset="-120"/>
              </a:rPr>
              <a:t>Ejecutar pruebas exhaustivas de validación y usabilidad, identificando y corrigiendo posibles errores para asegurar la calidad del sistema.</a:t>
            </a:r>
            <a:endParaRPr lang="en-US" sz="1000" dirty="0"/>
          </a:p>
        </p:txBody>
      </p:sp>
      <p:sp>
        <p:nvSpPr>
          <p:cNvPr id="31" name="Shape 28"/>
          <p:cNvSpPr/>
          <p:nvPr/>
        </p:nvSpPr>
        <p:spPr>
          <a:xfrm>
            <a:off x="807720" y="7167443"/>
            <a:ext cx="295275" cy="295275"/>
          </a:xfrm>
          <a:prstGeom prst="roundRect">
            <a:avLst>
              <a:gd name="adj" fmla="val 6669"/>
            </a:avLst>
          </a:prstGeom>
          <a:solidFill>
            <a:srgbClr val="303132"/>
          </a:solidFill>
          <a:ln/>
        </p:spPr>
      </p:sp>
      <p:sp>
        <p:nvSpPr>
          <p:cNvPr id="32" name="Text 29"/>
          <p:cNvSpPr/>
          <p:nvPr/>
        </p:nvSpPr>
        <p:spPr>
          <a:xfrm>
            <a:off x="865882" y="7203222"/>
            <a:ext cx="178951" cy="223718"/>
          </a:xfrm>
          <a:prstGeom prst="rect">
            <a:avLst/>
          </a:prstGeom>
          <a:noFill/>
          <a:ln/>
        </p:spPr>
        <p:txBody>
          <a:bodyPr wrap="none" lIns="0" tIns="0" rIns="0" bIns="0" rtlCol="0" anchor="t"/>
          <a:lstStyle/>
          <a:p>
            <a:pPr algn="ctr" indent="0" marL="0">
              <a:lnSpc>
                <a:spcPts val="1400"/>
              </a:lnSpc>
              <a:buNone/>
            </a:pPr>
            <a:r>
              <a:rPr lang="en-US" sz="1400" b="1" dirty="0">
                <a:solidFill>
                  <a:srgbClr val="E2E6E9"/>
                </a:solidFill>
                <a:latin typeface="Montserrat Bold" pitchFamily="34" charset="0"/>
                <a:ea typeface="Montserrat Bold" pitchFamily="34" charset="-122"/>
                <a:cs typeface="Montserrat Bold" pitchFamily="34" charset="-120"/>
              </a:rPr>
              <a:t>7</a:t>
            </a:r>
            <a:endParaRPr lang="en-US" sz="1400" dirty="0"/>
          </a:p>
        </p:txBody>
      </p:sp>
      <p:sp>
        <p:nvSpPr>
          <p:cNvPr id="33" name="Text 30"/>
          <p:cNvSpPr/>
          <p:nvPr/>
        </p:nvSpPr>
        <p:spPr>
          <a:xfrm>
            <a:off x="1234202" y="7212449"/>
            <a:ext cx="1830943" cy="186452"/>
          </a:xfrm>
          <a:prstGeom prst="rect">
            <a:avLst/>
          </a:prstGeom>
          <a:noFill/>
          <a:ln/>
        </p:spPr>
        <p:txBody>
          <a:bodyPr wrap="none" lIns="0" tIns="0" rIns="0" bIns="0" rtlCol="0" anchor="t"/>
          <a:lstStyle/>
          <a:p>
            <a:pPr algn="l" indent="0" marL="0">
              <a:lnSpc>
                <a:spcPts val="1450"/>
              </a:lnSpc>
              <a:buNone/>
            </a:pPr>
            <a:r>
              <a:rPr lang="en-US" sz="1150" b="1" dirty="0">
                <a:solidFill>
                  <a:srgbClr val="E2E6E9"/>
                </a:solidFill>
                <a:latin typeface="Montserrat Bold" pitchFamily="34" charset="0"/>
                <a:ea typeface="Montserrat Bold" pitchFamily="34" charset="-122"/>
                <a:cs typeface="Montserrat Bold" pitchFamily="34" charset="-120"/>
              </a:rPr>
              <a:t>Documentar el Sistema</a:t>
            </a:r>
            <a:endParaRPr lang="en-US" sz="1150" dirty="0"/>
          </a:p>
        </p:txBody>
      </p:sp>
      <p:sp>
        <p:nvSpPr>
          <p:cNvPr id="34" name="Text 31"/>
          <p:cNvSpPr/>
          <p:nvPr/>
        </p:nvSpPr>
        <p:spPr>
          <a:xfrm>
            <a:off x="1234202" y="7477601"/>
            <a:ext cx="12588478" cy="196929"/>
          </a:xfrm>
          <a:prstGeom prst="rect">
            <a:avLst/>
          </a:prstGeom>
          <a:noFill/>
          <a:ln/>
        </p:spPr>
        <p:txBody>
          <a:bodyPr wrap="none" lIns="0" tIns="0" rIns="0" bIns="0" rtlCol="0" anchor="t"/>
          <a:lstStyle/>
          <a:p>
            <a:pPr algn="l" indent="0" marL="0">
              <a:lnSpc>
                <a:spcPts val="1550"/>
              </a:lnSpc>
              <a:buNone/>
            </a:pPr>
            <a:r>
              <a:rPr lang="en-US" sz="1000" dirty="0">
                <a:solidFill>
                  <a:srgbClr val="E2E6E9"/>
                </a:solidFill>
                <a:latin typeface="Source Sans 3" pitchFamily="34" charset="0"/>
                <a:ea typeface="Source Sans 3" pitchFamily="34" charset="-122"/>
                <a:cs typeface="Source Sans 3" pitchFamily="34" charset="-120"/>
              </a:rPr>
              <a:t>Elaborar la documentación técnica completa del sistema y un manual de usuario detallado para facilitar su uso y mantenimiento futuro.</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63798" y="680918"/>
            <a:ext cx="8542258" cy="460177"/>
          </a:xfrm>
          <a:prstGeom prst="rect">
            <a:avLst/>
          </a:prstGeom>
          <a:noFill/>
          <a:ln/>
        </p:spPr>
        <p:txBody>
          <a:bodyPr wrap="none" lIns="0" tIns="0" rIns="0" bIns="0" rtlCol="0" anchor="t"/>
          <a:lstStyle/>
          <a:p>
            <a:pPr algn="l" indent="0" marL="0">
              <a:lnSpc>
                <a:spcPts val="3600"/>
              </a:lnSpc>
              <a:buNone/>
            </a:pPr>
            <a:r>
              <a:rPr lang="en-US" sz="2850" b="1" dirty="0">
                <a:solidFill>
                  <a:srgbClr val="000000"/>
                </a:solidFill>
                <a:latin typeface="Montserrat Bold" pitchFamily="34" charset="0"/>
                <a:ea typeface="Montserrat Bold" pitchFamily="34" charset="-122"/>
                <a:cs typeface="Montserrat Bold" pitchFamily="34" charset="-120"/>
              </a:rPr>
              <a:t>Metodología: SCRUM para un Desarrollo Ágil</a:t>
            </a:r>
            <a:endParaRPr lang="en-US" sz="2850" dirty="0"/>
          </a:p>
        </p:txBody>
      </p:sp>
      <p:sp>
        <p:nvSpPr>
          <p:cNvPr id="3" name="Text 1"/>
          <p:cNvSpPr/>
          <p:nvPr/>
        </p:nvSpPr>
        <p:spPr>
          <a:xfrm>
            <a:off x="863798" y="1464945"/>
            <a:ext cx="12902803" cy="485775"/>
          </a:xfrm>
          <a:prstGeom prst="rect">
            <a:avLst/>
          </a:prstGeom>
          <a:noFill/>
          <a:ln/>
        </p:spPr>
        <p:txBody>
          <a:bodyPr wrap="square" lIns="0" tIns="0" rIns="0" bIns="0" rtlCol="0" anchor="t"/>
          <a:lstStyle/>
          <a:p>
            <a:pPr algn="l" indent="0" marL="0">
              <a:lnSpc>
                <a:spcPts val="1900"/>
              </a:lnSpc>
              <a:buNone/>
            </a:pPr>
            <a:r>
              <a:rPr lang="en-US" sz="1250" dirty="0">
                <a:solidFill>
                  <a:srgbClr val="000000"/>
                </a:solidFill>
                <a:latin typeface="Source Sans 3" pitchFamily="34" charset="0"/>
                <a:ea typeface="Source Sans 3" pitchFamily="34" charset="-122"/>
                <a:cs typeface="Source Sans 3" pitchFamily="34" charset="-120"/>
              </a:rPr>
              <a:t>Para garantizar un desarrollo eficiente, iterativo y centrado en el cliente, hemos adoptado la metodología Scrum. Este enfoque nos permitirá adaptar el proyecto a las necesidades cambiantes y entregar valor de forma continua.</a:t>
            </a:r>
            <a:endParaRPr lang="en-US" sz="1250" dirty="0"/>
          </a:p>
        </p:txBody>
      </p:sp>
      <p:sp>
        <p:nvSpPr>
          <p:cNvPr id="4" name="Text 2"/>
          <p:cNvSpPr/>
          <p:nvPr/>
        </p:nvSpPr>
        <p:spPr>
          <a:xfrm>
            <a:off x="2528173" y="2512338"/>
            <a:ext cx="2850594" cy="230029"/>
          </a:xfrm>
          <a:prstGeom prst="rect">
            <a:avLst/>
          </a:prstGeom>
          <a:noFill/>
          <a:ln/>
        </p:spPr>
        <p:txBody>
          <a:bodyPr wrap="none" lIns="0" tIns="0" rIns="0" bIns="0" rtlCol="0" anchor="t"/>
          <a:lstStyle/>
          <a:p>
            <a:pPr algn="r" indent="0" marL="0">
              <a:lnSpc>
                <a:spcPts val="1800"/>
              </a:lnSpc>
              <a:buNone/>
            </a:pPr>
            <a:r>
              <a:rPr lang="en-US" sz="1400" b="1" dirty="0">
                <a:solidFill>
                  <a:srgbClr val="000000"/>
                </a:solidFill>
                <a:latin typeface="Montserrat Bold" pitchFamily="34" charset="0"/>
                <a:ea typeface="Montserrat Bold" pitchFamily="34" charset="-122"/>
                <a:cs typeface="Montserrat Bold" pitchFamily="34" charset="-120"/>
              </a:rPr>
              <a:t>Sprint 0: Inicio y Planificación</a:t>
            </a:r>
            <a:endParaRPr lang="en-US" sz="1400" dirty="0"/>
          </a:p>
        </p:txBody>
      </p:sp>
      <p:sp>
        <p:nvSpPr>
          <p:cNvPr id="5" name="Text 3"/>
          <p:cNvSpPr/>
          <p:nvPr/>
        </p:nvSpPr>
        <p:spPr>
          <a:xfrm>
            <a:off x="863798" y="2839522"/>
            <a:ext cx="4514969" cy="485775"/>
          </a:xfrm>
          <a:prstGeom prst="rect">
            <a:avLst/>
          </a:prstGeom>
          <a:noFill/>
          <a:ln/>
        </p:spPr>
        <p:txBody>
          <a:bodyPr wrap="square" lIns="0" tIns="0" rIns="0" bIns="0" rtlCol="0" anchor="t"/>
          <a:lstStyle/>
          <a:p>
            <a:pPr algn="r" indent="0" marL="0">
              <a:lnSpc>
                <a:spcPts val="1900"/>
              </a:lnSpc>
              <a:buNone/>
            </a:pPr>
            <a:r>
              <a:rPr lang="en-US" sz="1250" dirty="0">
                <a:solidFill>
                  <a:srgbClr val="000000"/>
                </a:solidFill>
                <a:latin typeface="Source Sans 3" pitchFamily="34" charset="0"/>
                <a:ea typeface="Source Sans 3" pitchFamily="34" charset="-122"/>
                <a:cs typeface="Source Sans 3" pitchFamily="34" charset="-120"/>
              </a:rPr>
              <a:t>Levantamiento exhaustivo de requerimientos, definición del Product Backlog inicial y asignación de roles clave en el equipo.</a:t>
            </a:r>
            <a:endParaRPr lang="en-US" sz="1250" dirty="0"/>
          </a:p>
        </p:txBody>
      </p:sp>
      <p:pic>
        <p:nvPicPr>
          <p:cNvPr id="6" name="Image 0" descr="preencoded.png">    </p:cNvPr>
          <p:cNvPicPr>
            <a:picLocks noChangeAspect="1"/>
          </p:cNvPicPr>
          <p:nvPr/>
        </p:nvPicPr>
        <p:blipFill>
          <a:blip r:embed="rId1"/>
          <a:stretch>
            <a:fillRect/>
          </a:stretch>
        </p:blipFill>
        <p:spPr>
          <a:xfrm>
            <a:off x="5621655" y="2132886"/>
            <a:ext cx="3386971" cy="3386971"/>
          </a:xfrm>
          <a:prstGeom prst="rect">
            <a:avLst/>
          </a:prstGeom>
        </p:spPr>
      </p:pic>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68951" y="2853750"/>
            <a:ext cx="242292" cy="242292"/>
          </a:xfrm>
          <a:prstGeom prst="rect">
            <a:avLst/>
          </a:prstGeom>
        </p:spPr>
      </p:pic>
      <p:sp>
        <p:nvSpPr>
          <p:cNvPr id="8" name="Text 4"/>
          <p:cNvSpPr/>
          <p:nvPr/>
        </p:nvSpPr>
        <p:spPr>
          <a:xfrm>
            <a:off x="9251513" y="2209919"/>
            <a:ext cx="2973586" cy="230029"/>
          </a:xfrm>
          <a:prstGeom prst="rect">
            <a:avLst/>
          </a:prstGeom>
          <a:noFill/>
          <a:ln/>
        </p:spPr>
        <p:txBody>
          <a:bodyPr wrap="none" lIns="0" tIns="0" rIns="0" bIns="0" rtlCol="0" anchor="t"/>
          <a:lstStyle/>
          <a:p>
            <a:pPr algn="l" indent="0" marL="0">
              <a:lnSpc>
                <a:spcPts val="1800"/>
              </a:lnSpc>
              <a:buNone/>
            </a:pPr>
            <a:r>
              <a:rPr lang="en-US" sz="1400" b="1" dirty="0">
                <a:solidFill>
                  <a:srgbClr val="000000"/>
                </a:solidFill>
                <a:latin typeface="Montserrat Bold" pitchFamily="34" charset="0"/>
                <a:ea typeface="Montserrat Bold" pitchFamily="34" charset="-122"/>
                <a:cs typeface="Montserrat Bold" pitchFamily="34" charset="-120"/>
              </a:rPr>
              <a:t>Sprints 1-2: Desarrollo Backend</a:t>
            </a:r>
            <a:endParaRPr lang="en-US" sz="1400" dirty="0"/>
          </a:p>
        </p:txBody>
      </p:sp>
      <p:sp>
        <p:nvSpPr>
          <p:cNvPr id="9" name="Text 5"/>
          <p:cNvSpPr/>
          <p:nvPr/>
        </p:nvSpPr>
        <p:spPr>
          <a:xfrm>
            <a:off x="9251513" y="2537103"/>
            <a:ext cx="4515088" cy="485775"/>
          </a:xfrm>
          <a:prstGeom prst="rect">
            <a:avLst/>
          </a:prstGeom>
          <a:noFill/>
          <a:ln/>
        </p:spPr>
        <p:txBody>
          <a:bodyPr wrap="square" lIns="0" tIns="0" rIns="0" bIns="0" rtlCol="0" anchor="t"/>
          <a:lstStyle/>
          <a:p>
            <a:pPr algn="l" indent="0" marL="0">
              <a:lnSpc>
                <a:spcPts val="1900"/>
              </a:lnSpc>
              <a:buNone/>
            </a:pPr>
            <a:r>
              <a:rPr lang="en-US" sz="1250" dirty="0">
                <a:solidFill>
                  <a:srgbClr val="000000"/>
                </a:solidFill>
                <a:latin typeface="Source Sans 3" pitchFamily="34" charset="0"/>
                <a:ea typeface="Source Sans 3" pitchFamily="34" charset="-122"/>
                <a:cs typeface="Source Sans 3" pitchFamily="34" charset="-120"/>
              </a:rPr>
              <a:t>Foco en la construcción de la arquitectura del servidor y el diseño robusto de la base de datos.</a:t>
            </a:r>
            <a:endParaRPr lang="en-US" sz="1250" dirty="0"/>
          </a:p>
        </p:txBody>
      </p:sp>
      <p:pic>
        <p:nvPicPr>
          <p:cNvPr id="10" name="Image 2" descr="preencoded.png">    </p:cNvPr>
          <p:cNvPicPr>
            <a:picLocks noChangeAspect="1"/>
          </p:cNvPicPr>
          <p:nvPr/>
        </p:nvPicPr>
        <p:blipFill>
          <a:blip r:embed="rId4"/>
          <a:stretch>
            <a:fillRect/>
          </a:stretch>
        </p:blipFill>
        <p:spPr>
          <a:xfrm>
            <a:off x="5621655" y="2132886"/>
            <a:ext cx="3386971" cy="3386971"/>
          </a:xfrm>
          <a:prstGeom prst="rect">
            <a:avLst/>
          </a:prstGeom>
        </p:spPr>
      </p:pic>
      <p:pic>
        <p:nvPicPr>
          <p:cNvPr id="11"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48647" y="2657415"/>
            <a:ext cx="242292" cy="242292"/>
          </a:xfrm>
          <a:prstGeom prst="rect">
            <a:avLst/>
          </a:prstGeom>
        </p:spPr>
      </p:pic>
      <p:sp>
        <p:nvSpPr>
          <p:cNvPr id="12" name="Text 6"/>
          <p:cNvSpPr/>
          <p:nvPr/>
        </p:nvSpPr>
        <p:spPr>
          <a:xfrm>
            <a:off x="9332476" y="3419832"/>
            <a:ext cx="3047524" cy="230029"/>
          </a:xfrm>
          <a:prstGeom prst="rect">
            <a:avLst/>
          </a:prstGeom>
          <a:noFill/>
          <a:ln/>
        </p:spPr>
        <p:txBody>
          <a:bodyPr wrap="none" lIns="0" tIns="0" rIns="0" bIns="0" rtlCol="0" anchor="t"/>
          <a:lstStyle/>
          <a:p>
            <a:pPr algn="l" indent="0" marL="0">
              <a:lnSpc>
                <a:spcPts val="1800"/>
              </a:lnSpc>
              <a:buNone/>
            </a:pPr>
            <a:r>
              <a:rPr lang="en-US" sz="1400" b="1" dirty="0">
                <a:solidFill>
                  <a:srgbClr val="000000"/>
                </a:solidFill>
                <a:latin typeface="Montserrat Bold" pitchFamily="34" charset="0"/>
                <a:ea typeface="Montserrat Bold" pitchFamily="34" charset="-122"/>
                <a:cs typeface="Montserrat Bold" pitchFamily="34" charset="-120"/>
              </a:rPr>
              <a:t>Sprints 2-3: Desarrollo Frontend</a:t>
            </a:r>
            <a:endParaRPr lang="en-US" sz="1400" dirty="0"/>
          </a:p>
        </p:txBody>
      </p:sp>
      <p:sp>
        <p:nvSpPr>
          <p:cNvPr id="13" name="Text 7"/>
          <p:cNvSpPr/>
          <p:nvPr/>
        </p:nvSpPr>
        <p:spPr>
          <a:xfrm>
            <a:off x="9332476" y="3747016"/>
            <a:ext cx="4434126" cy="485775"/>
          </a:xfrm>
          <a:prstGeom prst="rect">
            <a:avLst/>
          </a:prstGeom>
          <a:noFill/>
          <a:ln/>
        </p:spPr>
        <p:txBody>
          <a:bodyPr wrap="square" lIns="0" tIns="0" rIns="0" bIns="0" rtlCol="0" anchor="t"/>
          <a:lstStyle/>
          <a:p>
            <a:pPr algn="l" indent="0" marL="0">
              <a:lnSpc>
                <a:spcPts val="1900"/>
              </a:lnSpc>
              <a:buNone/>
            </a:pPr>
            <a:r>
              <a:rPr lang="en-US" sz="1250" dirty="0">
                <a:solidFill>
                  <a:srgbClr val="000000"/>
                </a:solidFill>
                <a:latin typeface="Source Sans 3" pitchFamily="34" charset="0"/>
                <a:ea typeface="Source Sans 3" pitchFamily="34" charset="-122"/>
                <a:cs typeface="Source Sans 3" pitchFamily="34" charset="-120"/>
              </a:rPr>
              <a:t>Creación de la interfaz de usuario intuitiva y prototipos funcionales que reflejen la experiencia final.</a:t>
            </a:r>
            <a:endParaRPr lang="en-US" sz="1250" dirty="0"/>
          </a:p>
        </p:txBody>
      </p:sp>
      <p:pic>
        <p:nvPicPr>
          <p:cNvPr id="14" name="Image 4" descr="preencoded.png">    </p:cNvPr>
          <p:cNvPicPr>
            <a:picLocks noChangeAspect="1"/>
          </p:cNvPicPr>
          <p:nvPr/>
        </p:nvPicPr>
        <p:blipFill>
          <a:blip r:embed="rId7"/>
          <a:stretch>
            <a:fillRect/>
          </a:stretch>
        </p:blipFill>
        <p:spPr>
          <a:xfrm>
            <a:off x="5621655" y="2132886"/>
            <a:ext cx="3386971" cy="3386971"/>
          </a:xfrm>
          <a:prstGeom prst="rect">
            <a:avLst/>
          </a:prstGeom>
        </p:spPr>
      </p:pic>
      <p:pic>
        <p:nvPicPr>
          <p:cNvPr id="15" name="Image 5"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361700" y="3908881"/>
            <a:ext cx="242292" cy="242292"/>
          </a:xfrm>
          <a:prstGeom prst="rect">
            <a:avLst/>
          </a:prstGeom>
        </p:spPr>
      </p:pic>
      <p:sp>
        <p:nvSpPr>
          <p:cNvPr id="16" name="Text 8"/>
          <p:cNvSpPr/>
          <p:nvPr/>
        </p:nvSpPr>
        <p:spPr>
          <a:xfrm>
            <a:off x="9251513" y="4629745"/>
            <a:ext cx="2977515" cy="230029"/>
          </a:xfrm>
          <a:prstGeom prst="rect">
            <a:avLst/>
          </a:prstGeom>
          <a:noFill/>
          <a:ln/>
        </p:spPr>
        <p:txBody>
          <a:bodyPr wrap="none" lIns="0" tIns="0" rIns="0" bIns="0" rtlCol="0" anchor="t"/>
          <a:lstStyle/>
          <a:p>
            <a:pPr algn="l" indent="0" marL="0">
              <a:lnSpc>
                <a:spcPts val="1800"/>
              </a:lnSpc>
              <a:buNone/>
            </a:pPr>
            <a:r>
              <a:rPr lang="en-US" sz="1400" b="1" dirty="0">
                <a:solidFill>
                  <a:srgbClr val="000000"/>
                </a:solidFill>
                <a:latin typeface="Montserrat Bold" pitchFamily="34" charset="0"/>
                <a:ea typeface="Montserrat Bold" pitchFamily="34" charset="-122"/>
                <a:cs typeface="Montserrat Bold" pitchFamily="34" charset="-120"/>
              </a:rPr>
              <a:t>Sprint 4: Integración y Pruebas</a:t>
            </a:r>
            <a:endParaRPr lang="en-US" sz="1400" dirty="0"/>
          </a:p>
        </p:txBody>
      </p:sp>
      <p:sp>
        <p:nvSpPr>
          <p:cNvPr id="17" name="Text 9"/>
          <p:cNvSpPr/>
          <p:nvPr/>
        </p:nvSpPr>
        <p:spPr>
          <a:xfrm>
            <a:off x="9251513" y="4956929"/>
            <a:ext cx="4515088" cy="485775"/>
          </a:xfrm>
          <a:prstGeom prst="rect">
            <a:avLst/>
          </a:prstGeom>
          <a:noFill/>
          <a:ln/>
        </p:spPr>
        <p:txBody>
          <a:bodyPr wrap="square" lIns="0" tIns="0" rIns="0" bIns="0" rtlCol="0" anchor="t"/>
          <a:lstStyle/>
          <a:p>
            <a:pPr algn="l" indent="0" marL="0">
              <a:lnSpc>
                <a:spcPts val="1900"/>
              </a:lnSpc>
              <a:buNone/>
            </a:pPr>
            <a:r>
              <a:rPr lang="en-US" sz="1250" dirty="0">
                <a:solidFill>
                  <a:srgbClr val="000000"/>
                </a:solidFill>
                <a:latin typeface="Source Sans 3" pitchFamily="34" charset="0"/>
                <a:ea typeface="Source Sans 3" pitchFamily="34" charset="-122"/>
                <a:cs typeface="Source Sans 3" pitchFamily="34" charset="-120"/>
              </a:rPr>
              <a:t>Fase crítica para ensamblar todos los componentes y realizar pruebas exhaustivas de validación.</a:t>
            </a:r>
            <a:endParaRPr lang="en-US" sz="1250" dirty="0"/>
          </a:p>
        </p:txBody>
      </p:sp>
      <p:pic>
        <p:nvPicPr>
          <p:cNvPr id="18" name="Image 6" descr="preencoded.png">    </p:cNvPr>
          <p:cNvPicPr>
            <a:picLocks noChangeAspect="1"/>
          </p:cNvPicPr>
          <p:nvPr/>
        </p:nvPicPr>
        <p:blipFill>
          <a:blip r:embed="rId10"/>
          <a:stretch>
            <a:fillRect/>
          </a:stretch>
        </p:blipFill>
        <p:spPr>
          <a:xfrm>
            <a:off x="5621655" y="2132886"/>
            <a:ext cx="3386971" cy="3386971"/>
          </a:xfrm>
          <a:prstGeom prst="rect">
            <a:avLst/>
          </a:prstGeom>
        </p:spPr>
      </p:pic>
      <p:pic>
        <p:nvPicPr>
          <p:cNvPr id="19" name="Image 7"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360980" y="4878645"/>
            <a:ext cx="242292" cy="242292"/>
          </a:xfrm>
          <a:prstGeom prst="rect">
            <a:avLst/>
          </a:prstGeom>
        </p:spPr>
      </p:pic>
      <p:sp>
        <p:nvSpPr>
          <p:cNvPr id="20" name="Text 10"/>
          <p:cNvSpPr/>
          <p:nvPr/>
        </p:nvSpPr>
        <p:spPr>
          <a:xfrm>
            <a:off x="1645206" y="4327327"/>
            <a:ext cx="3733562" cy="230029"/>
          </a:xfrm>
          <a:prstGeom prst="rect">
            <a:avLst/>
          </a:prstGeom>
          <a:noFill/>
          <a:ln/>
        </p:spPr>
        <p:txBody>
          <a:bodyPr wrap="none" lIns="0" tIns="0" rIns="0" bIns="0" rtlCol="0" anchor="t"/>
          <a:lstStyle/>
          <a:p>
            <a:pPr algn="r" indent="0" marL="0">
              <a:lnSpc>
                <a:spcPts val="1800"/>
              </a:lnSpc>
              <a:buNone/>
            </a:pPr>
            <a:r>
              <a:rPr lang="en-US" sz="1400" b="1" dirty="0">
                <a:solidFill>
                  <a:srgbClr val="000000"/>
                </a:solidFill>
                <a:latin typeface="Montserrat Bold" pitchFamily="34" charset="0"/>
                <a:ea typeface="Montserrat Bold" pitchFamily="34" charset="-122"/>
                <a:cs typeface="Montserrat Bold" pitchFamily="34" charset="-120"/>
              </a:rPr>
              <a:t>Sprint Final: Documentación y Entrega</a:t>
            </a:r>
            <a:endParaRPr lang="en-US" sz="1400" dirty="0"/>
          </a:p>
        </p:txBody>
      </p:sp>
      <p:sp>
        <p:nvSpPr>
          <p:cNvPr id="21" name="Text 11"/>
          <p:cNvSpPr/>
          <p:nvPr/>
        </p:nvSpPr>
        <p:spPr>
          <a:xfrm>
            <a:off x="863798" y="4654510"/>
            <a:ext cx="4514969" cy="485775"/>
          </a:xfrm>
          <a:prstGeom prst="rect">
            <a:avLst/>
          </a:prstGeom>
          <a:noFill/>
          <a:ln/>
        </p:spPr>
        <p:txBody>
          <a:bodyPr wrap="square" lIns="0" tIns="0" rIns="0" bIns="0" rtlCol="0" anchor="t"/>
          <a:lstStyle/>
          <a:p>
            <a:pPr algn="r" indent="0" marL="0">
              <a:lnSpc>
                <a:spcPts val="1900"/>
              </a:lnSpc>
              <a:buNone/>
            </a:pPr>
            <a:r>
              <a:rPr lang="en-US" sz="1250" dirty="0">
                <a:solidFill>
                  <a:srgbClr val="000000"/>
                </a:solidFill>
                <a:latin typeface="Source Sans 3" pitchFamily="34" charset="0"/>
                <a:ea typeface="Source Sans 3" pitchFamily="34" charset="-122"/>
                <a:cs typeface="Source Sans 3" pitchFamily="34" charset="-120"/>
              </a:rPr>
              <a:t>Preparación de la documentación final, manual de usuario y la presentación del sistema funcional.</a:t>
            </a:r>
            <a:endParaRPr lang="en-US" sz="1250" dirty="0"/>
          </a:p>
        </p:txBody>
      </p:sp>
      <p:pic>
        <p:nvPicPr>
          <p:cNvPr id="22" name="Image 8" descr="preencoded.png">    </p:cNvPr>
          <p:cNvPicPr>
            <a:picLocks noChangeAspect="1"/>
          </p:cNvPicPr>
          <p:nvPr/>
        </p:nvPicPr>
        <p:blipFill>
          <a:blip r:embed="rId13"/>
          <a:stretch>
            <a:fillRect/>
          </a:stretch>
        </p:blipFill>
        <p:spPr>
          <a:xfrm>
            <a:off x="5621655" y="2132886"/>
            <a:ext cx="3386971" cy="3386971"/>
          </a:xfrm>
          <a:prstGeom prst="rect">
            <a:avLst/>
          </a:prstGeom>
        </p:spPr>
      </p:pic>
      <p:pic>
        <p:nvPicPr>
          <p:cNvPr id="23" name="Image 9" descr="preencoded.png">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129397" y="4226540"/>
            <a:ext cx="242292" cy="242292"/>
          </a:xfrm>
          <a:prstGeom prst="rect">
            <a:avLst/>
          </a:prstGeom>
        </p:spPr>
      </p:pic>
      <p:sp>
        <p:nvSpPr>
          <p:cNvPr id="24" name="Text 12"/>
          <p:cNvSpPr/>
          <p:nvPr/>
        </p:nvSpPr>
        <p:spPr>
          <a:xfrm>
            <a:off x="863798" y="5762744"/>
            <a:ext cx="2208848" cy="275987"/>
          </a:xfrm>
          <a:prstGeom prst="rect">
            <a:avLst/>
          </a:prstGeom>
          <a:noFill/>
          <a:ln/>
        </p:spPr>
        <p:txBody>
          <a:bodyPr wrap="none" lIns="0" tIns="0" rIns="0" bIns="0" rtlCol="0" anchor="t"/>
          <a:lstStyle/>
          <a:p>
            <a:pPr algn="l" indent="0" marL="0">
              <a:lnSpc>
                <a:spcPts val="2150"/>
              </a:lnSpc>
              <a:buNone/>
            </a:pPr>
            <a:r>
              <a:rPr lang="en-US" sz="1700" b="1" dirty="0">
                <a:solidFill>
                  <a:srgbClr val="000000"/>
                </a:solidFill>
                <a:latin typeface="Montserrat Bold" pitchFamily="34" charset="0"/>
                <a:ea typeface="Montserrat Bold" pitchFamily="34" charset="-122"/>
                <a:cs typeface="Montserrat Bold" pitchFamily="34" charset="-120"/>
              </a:rPr>
              <a:t>Roles del Equipo:</a:t>
            </a:r>
            <a:endParaRPr lang="en-US" sz="1700" dirty="0"/>
          </a:p>
        </p:txBody>
      </p:sp>
      <p:sp>
        <p:nvSpPr>
          <p:cNvPr id="25" name="Text 13"/>
          <p:cNvSpPr/>
          <p:nvPr/>
        </p:nvSpPr>
        <p:spPr>
          <a:xfrm>
            <a:off x="863798" y="6281618"/>
            <a:ext cx="12902803" cy="242888"/>
          </a:xfrm>
          <a:prstGeom prst="rect">
            <a:avLst/>
          </a:prstGeom>
          <a:noFill/>
          <a:ln/>
        </p:spPr>
        <p:txBody>
          <a:bodyPr wrap="none" lIns="0" tIns="0" rIns="0" bIns="0" rtlCol="0" anchor="t"/>
          <a:lstStyle/>
          <a:p>
            <a:pPr algn="l" indent="0" marL="0">
              <a:lnSpc>
                <a:spcPts val="1900"/>
              </a:lnSpc>
              <a:buNone/>
            </a:pPr>
            <a:r>
              <a:rPr lang="en-US" sz="1250" dirty="0">
                <a:solidFill>
                  <a:srgbClr val="000000"/>
                </a:solidFill>
                <a:latin typeface="Source Sans 3" pitchFamily="34" charset="0"/>
                <a:ea typeface="Source Sans 3" pitchFamily="34" charset="-122"/>
                <a:cs typeface="Source Sans 3" pitchFamily="34" charset="-120"/>
              </a:rPr>
              <a:t>La asignación clara de roles dentro de nuestro equipo Scrum asegura la eficiencia y el liderazgo en cada área:</a:t>
            </a:r>
            <a:endParaRPr lang="en-US" sz="1250" dirty="0"/>
          </a:p>
        </p:txBody>
      </p:sp>
      <p:sp>
        <p:nvSpPr>
          <p:cNvPr id="26" name="Text 14"/>
          <p:cNvSpPr/>
          <p:nvPr/>
        </p:nvSpPr>
        <p:spPr>
          <a:xfrm>
            <a:off x="863798" y="6706672"/>
            <a:ext cx="12902803" cy="242888"/>
          </a:xfrm>
          <a:prstGeom prst="rect">
            <a:avLst/>
          </a:prstGeom>
          <a:noFill/>
          <a:ln/>
        </p:spPr>
        <p:txBody>
          <a:bodyPr wrap="none" lIns="0" tIns="0" rIns="0" bIns="0" rtlCol="0" anchor="t"/>
          <a:lstStyle/>
          <a:p>
            <a:pPr algn="l" marL="342900" indent="-342900">
              <a:lnSpc>
                <a:spcPts val="1900"/>
              </a:lnSpc>
              <a:buSzPct val="100000"/>
              <a:buChar char="•"/>
            </a:pPr>
            <a:r>
              <a:rPr lang="en-US" sz="1250" b="1" dirty="0">
                <a:solidFill>
                  <a:srgbClr val="000000"/>
                </a:solidFill>
                <a:latin typeface="Source Sans 3" pitchFamily="34" charset="0"/>
                <a:ea typeface="Source Sans 3" pitchFamily="34" charset="-122"/>
                <a:cs typeface="Source Sans 3" pitchFamily="34" charset="-120"/>
              </a:rPr>
              <a:t>Product Owner:</a:t>
            </a:r>
            <a:pPr algn="l" indent="0" marL="0">
              <a:lnSpc>
                <a:spcPts val="1900"/>
              </a:lnSpc>
              <a:buNone/>
            </a:pPr>
            <a:r>
              <a:rPr lang="en-US" sz="1250" dirty="0">
                <a:solidFill>
                  <a:srgbClr val="000000"/>
                </a:solidFill>
                <a:latin typeface="Source Sans 3" pitchFamily="34" charset="0"/>
                <a:ea typeface="Source Sans 3" pitchFamily="34" charset="-122"/>
                <a:cs typeface="Source Sans 3" pitchFamily="34" charset="-120"/>
              </a:rPr>
              <a:t> Elías López. Encargado de maximizar el valor del producto y gestionar el Product Backlog.</a:t>
            </a:r>
            <a:endParaRPr lang="en-US" sz="1250" dirty="0"/>
          </a:p>
        </p:txBody>
      </p:sp>
      <p:sp>
        <p:nvSpPr>
          <p:cNvPr id="27" name="Text 15"/>
          <p:cNvSpPr/>
          <p:nvPr/>
        </p:nvSpPr>
        <p:spPr>
          <a:xfrm>
            <a:off x="863798" y="7006233"/>
            <a:ext cx="12902803" cy="242888"/>
          </a:xfrm>
          <a:prstGeom prst="rect">
            <a:avLst/>
          </a:prstGeom>
          <a:noFill/>
          <a:ln/>
        </p:spPr>
        <p:txBody>
          <a:bodyPr wrap="none" lIns="0" tIns="0" rIns="0" bIns="0" rtlCol="0" anchor="t"/>
          <a:lstStyle/>
          <a:p>
            <a:pPr algn="l" marL="342900" indent="-342900">
              <a:lnSpc>
                <a:spcPts val="1900"/>
              </a:lnSpc>
              <a:buSzPct val="100000"/>
              <a:buChar char="•"/>
            </a:pPr>
            <a:r>
              <a:rPr lang="en-US" sz="1250" b="1" dirty="0">
                <a:solidFill>
                  <a:srgbClr val="000000"/>
                </a:solidFill>
                <a:latin typeface="Source Sans 3" pitchFamily="34" charset="0"/>
                <a:ea typeface="Source Sans 3" pitchFamily="34" charset="-122"/>
                <a:cs typeface="Source Sans 3" pitchFamily="34" charset="-120"/>
              </a:rPr>
              <a:t>Scrum Master:</a:t>
            </a:r>
            <a:pPr algn="l" indent="0" marL="0">
              <a:lnSpc>
                <a:spcPts val="1900"/>
              </a:lnSpc>
              <a:buNone/>
            </a:pPr>
            <a:r>
              <a:rPr lang="en-US" sz="1250" dirty="0">
                <a:solidFill>
                  <a:srgbClr val="000000"/>
                </a:solidFill>
                <a:latin typeface="Source Sans 3" pitchFamily="34" charset="0"/>
                <a:ea typeface="Source Sans 3" pitchFamily="34" charset="-122"/>
                <a:cs typeface="Source Sans 3" pitchFamily="34" charset="-120"/>
              </a:rPr>
              <a:t> Matías Contreras. Facilitador del equipo, responsable de asegurar que se siga el proceso Scrum y remover impedimentos.</a:t>
            </a:r>
            <a:endParaRPr lang="en-US" sz="1250" dirty="0"/>
          </a:p>
        </p:txBody>
      </p:sp>
      <p:sp>
        <p:nvSpPr>
          <p:cNvPr id="28" name="Text 16"/>
          <p:cNvSpPr/>
          <p:nvPr/>
        </p:nvSpPr>
        <p:spPr>
          <a:xfrm>
            <a:off x="863798" y="7305794"/>
            <a:ext cx="12902803" cy="242888"/>
          </a:xfrm>
          <a:prstGeom prst="rect">
            <a:avLst/>
          </a:prstGeom>
          <a:noFill/>
          <a:ln/>
        </p:spPr>
        <p:txBody>
          <a:bodyPr wrap="none" lIns="0" tIns="0" rIns="0" bIns="0" rtlCol="0" anchor="t"/>
          <a:lstStyle/>
          <a:p>
            <a:pPr algn="l" marL="342900" indent="-342900">
              <a:lnSpc>
                <a:spcPts val="1900"/>
              </a:lnSpc>
              <a:buSzPct val="100000"/>
              <a:buChar char="•"/>
            </a:pPr>
            <a:r>
              <a:rPr lang="en-US" sz="1250" b="1" dirty="0">
                <a:solidFill>
                  <a:srgbClr val="000000"/>
                </a:solidFill>
                <a:latin typeface="Source Sans 3" pitchFamily="34" charset="0"/>
                <a:ea typeface="Source Sans 3" pitchFamily="34" charset="-122"/>
                <a:cs typeface="Source Sans 3" pitchFamily="34" charset="-120"/>
              </a:rPr>
              <a:t>Developers:</a:t>
            </a:r>
            <a:pPr algn="l" indent="0" marL="0">
              <a:lnSpc>
                <a:spcPts val="1900"/>
              </a:lnSpc>
              <a:buNone/>
            </a:pPr>
            <a:r>
              <a:rPr lang="en-US" sz="1250" dirty="0">
                <a:solidFill>
                  <a:srgbClr val="000000"/>
                </a:solidFill>
                <a:latin typeface="Source Sans 3" pitchFamily="34" charset="0"/>
                <a:ea typeface="Source Sans 3" pitchFamily="34" charset="-122"/>
                <a:cs typeface="Source Sans 3" pitchFamily="34" charset="-120"/>
              </a:rPr>
              <a:t> Danae Ugarte, Matías Contreras y Elías López. Responsables del diseño, construcción y prueba del incremento del producto en cada Sprint.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63798" y="709970"/>
            <a:ext cx="9903381" cy="429458"/>
          </a:xfrm>
          <a:prstGeom prst="rect">
            <a:avLst/>
          </a:prstGeom>
          <a:noFill/>
          <a:ln/>
        </p:spPr>
        <p:txBody>
          <a:bodyPr wrap="none" lIns="0" tIns="0" rIns="0" bIns="0" rtlCol="0" anchor="t"/>
          <a:lstStyle/>
          <a:p>
            <a:pPr algn="l" indent="0" marL="0">
              <a:lnSpc>
                <a:spcPts val="3350"/>
              </a:lnSpc>
              <a:buNone/>
            </a:pPr>
            <a:r>
              <a:rPr lang="en-US" sz="2700" b="1" dirty="0">
                <a:solidFill>
                  <a:srgbClr val="FFFFFF"/>
                </a:solidFill>
                <a:latin typeface="Montserrat Bold" pitchFamily="34" charset="0"/>
                <a:ea typeface="Montserrat Bold" pitchFamily="34" charset="-122"/>
                <a:cs typeface="Montserrat Bold" pitchFamily="34" charset="-120"/>
              </a:rPr>
              <a:t>Plan de Trabajo y Evidencias Clave: Hitos del Desarrollo</a:t>
            </a:r>
            <a:endParaRPr lang="en-US" sz="2700" dirty="0"/>
          </a:p>
        </p:txBody>
      </p:sp>
      <p:sp>
        <p:nvSpPr>
          <p:cNvPr id="3" name="Shape 1"/>
          <p:cNvSpPr/>
          <p:nvPr/>
        </p:nvSpPr>
        <p:spPr>
          <a:xfrm>
            <a:off x="7307580" y="1441728"/>
            <a:ext cx="15240" cy="6077783"/>
          </a:xfrm>
          <a:prstGeom prst="roundRect">
            <a:avLst>
              <a:gd name="adj" fmla="val 148804"/>
            </a:avLst>
          </a:prstGeom>
          <a:solidFill>
            <a:srgbClr val="494A4B"/>
          </a:solidFill>
          <a:ln/>
        </p:spPr>
      </p:sp>
      <p:sp>
        <p:nvSpPr>
          <p:cNvPr id="4" name="Shape 2"/>
          <p:cNvSpPr/>
          <p:nvPr/>
        </p:nvSpPr>
        <p:spPr>
          <a:xfrm>
            <a:off x="6706850" y="1604129"/>
            <a:ext cx="453509" cy="15240"/>
          </a:xfrm>
          <a:prstGeom prst="roundRect">
            <a:avLst>
              <a:gd name="adj" fmla="val 148804"/>
            </a:avLst>
          </a:prstGeom>
          <a:solidFill>
            <a:srgbClr val="494A4B"/>
          </a:solidFill>
          <a:ln/>
        </p:spPr>
      </p:sp>
      <p:sp>
        <p:nvSpPr>
          <p:cNvPr id="5" name="Shape 3"/>
          <p:cNvSpPr/>
          <p:nvPr/>
        </p:nvSpPr>
        <p:spPr>
          <a:xfrm>
            <a:off x="7145119" y="1441728"/>
            <a:ext cx="340162" cy="340162"/>
          </a:xfrm>
          <a:prstGeom prst="roundRect">
            <a:avLst>
              <a:gd name="adj" fmla="val 6667"/>
            </a:avLst>
          </a:prstGeom>
          <a:solidFill>
            <a:srgbClr val="303132"/>
          </a:solidFill>
          <a:ln/>
        </p:spPr>
      </p:sp>
      <p:sp>
        <p:nvSpPr>
          <p:cNvPr id="6" name="Text 4"/>
          <p:cNvSpPr/>
          <p:nvPr/>
        </p:nvSpPr>
        <p:spPr>
          <a:xfrm>
            <a:off x="7212092" y="1482923"/>
            <a:ext cx="206097" cy="257651"/>
          </a:xfrm>
          <a:prstGeom prst="rect">
            <a:avLst/>
          </a:prstGeom>
          <a:noFill/>
          <a:ln/>
        </p:spPr>
        <p:txBody>
          <a:bodyPr wrap="none" lIns="0" tIns="0" rIns="0" bIns="0" rtlCol="0" anchor="t"/>
          <a:lstStyle/>
          <a:p>
            <a:pPr algn="ctr" indent="0" marL="0">
              <a:lnSpc>
                <a:spcPts val="1600"/>
              </a:lnSpc>
              <a:buNone/>
            </a:pPr>
            <a:r>
              <a:rPr lang="en-US" sz="1600" b="1" dirty="0">
                <a:solidFill>
                  <a:srgbClr val="E2E6E9"/>
                </a:solidFill>
                <a:latin typeface="Montserrat Bold" pitchFamily="34" charset="0"/>
                <a:ea typeface="Montserrat Bold" pitchFamily="34" charset="-122"/>
                <a:cs typeface="Montserrat Bold" pitchFamily="34" charset="-120"/>
              </a:rPr>
              <a:t>1</a:t>
            </a:r>
            <a:endParaRPr lang="en-US" sz="1600" dirty="0"/>
          </a:p>
        </p:txBody>
      </p:sp>
      <p:sp>
        <p:nvSpPr>
          <p:cNvPr id="7" name="Text 5"/>
          <p:cNvSpPr/>
          <p:nvPr/>
        </p:nvSpPr>
        <p:spPr>
          <a:xfrm>
            <a:off x="3872032" y="1493639"/>
            <a:ext cx="2687360" cy="214670"/>
          </a:xfrm>
          <a:prstGeom prst="rect">
            <a:avLst/>
          </a:prstGeom>
          <a:noFill/>
          <a:ln/>
        </p:spPr>
        <p:txBody>
          <a:bodyPr wrap="none" lIns="0" tIns="0" rIns="0" bIns="0" rtlCol="0" anchor="t"/>
          <a:lstStyle/>
          <a:p>
            <a:pPr algn="r" indent="0" marL="0">
              <a:lnSpc>
                <a:spcPts val="1650"/>
              </a:lnSpc>
              <a:buNone/>
            </a:pPr>
            <a:r>
              <a:rPr lang="en-US" sz="1350" b="1" dirty="0">
                <a:solidFill>
                  <a:srgbClr val="E2E6E9"/>
                </a:solidFill>
                <a:latin typeface="Montserrat Bold" pitchFamily="34" charset="0"/>
                <a:ea typeface="Montserrat Bold" pitchFamily="34" charset="-122"/>
                <a:cs typeface="Montserrat Bold" pitchFamily="34" charset="-120"/>
              </a:rPr>
              <a:t>Semana 1: Planificación Inicial</a:t>
            </a:r>
            <a:endParaRPr lang="en-US" sz="1350" dirty="0"/>
          </a:p>
        </p:txBody>
      </p:sp>
      <p:sp>
        <p:nvSpPr>
          <p:cNvPr id="8" name="Text 6"/>
          <p:cNvSpPr/>
          <p:nvPr/>
        </p:nvSpPr>
        <p:spPr>
          <a:xfrm>
            <a:off x="863798" y="1798915"/>
            <a:ext cx="5695593" cy="453628"/>
          </a:xfrm>
          <a:prstGeom prst="rect">
            <a:avLst/>
          </a:prstGeom>
          <a:noFill/>
          <a:ln/>
        </p:spPr>
        <p:txBody>
          <a:bodyPr wrap="square" lIns="0" tIns="0" rIns="0" bIns="0" rtlCol="0" anchor="t"/>
          <a:lstStyle/>
          <a:p>
            <a:pPr algn="r" indent="0" marL="0">
              <a:lnSpc>
                <a:spcPts val="1750"/>
              </a:lnSpc>
              <a:buNone/>
            </a:pPr>
            <a:r>
              <a:rPr lang="en-US" sz="1150" dirty="0">
                <a:solidFill>
                  <a:srgbClr val="E2E6E9"/>
                </a:solidFill>
                <a:latin typeface="Source Sans 3" pitchFamily="34" charset="0"/>
                <a:ea typeface="Source Sans 3" pitchFamily="34" charset="-122"/>
                <a:cs typeface="Source Sans 3" pitchFamily="34" charset="-120"/>
              </a:rPr>
              <a:t>Definición de alcance, objetivos, equipo y roles. Actividad crucial para establecer las bases del proyecto.</a:t>
            </a:r>
            <a:endParaRPr lang="en-US" sz="1150" dirty="0"/>
          </a:p>
        </p:txBody>
      </p:sp>
      <p:sp>
        <p:nvSpPr>
          <p:cNvPr id="9" name="Shape 7"/>
          <p:cNvSpPr/>
          <p:nvPr/>
        </p:nvSpPr>
        <p:spPr>
          <a:xfrm>
            <a:off x="7470041" y="2511147"/>
            <a:ext cx="453509" cy="15240"/>
          </a:xfrm>
          <a:prstGeom prst="roundRect">
            <a:avLst>
              <a:gd name="adj" fmla="val 148804"/>
            </a:avLst>
          </a:prstGeom>
          <a:solidFill>
            <a:srgbClr val="494A4B"/>
          </a:solidFill>
          <a:ln/>
        </p:spPr>
      </p:sp>
      <p:sp>
        <p:nvSpPr>
          <p:cNvPr id="10" name="Shape 8"/>
          <p:cNvSpPr/>
          <p:nvPr/>
        </p:nvSpPr>
        <p:spPr>
          <a:xfrm>
            <a:off x="7145119" y="2348746"/>
            <a:ext cx="340162" cy="340162"/>
          </a:xfrm>
          <a:prstGeom prst="roundRect">
            <a:avLst>
              <a:gd name="adj" fmla="val 6667"/>
            </a:avLst>
          </a:prstGeom>
          <a:solidFill>
            <a:srgbClr val="303132"/>
          </a:solidFill>
          <a:ln/>
        </p:spPr>
      </p:sp>
      <p:sp>
        <p:nvSpPr>
          <p:cNvPr id="11" name="Text 9"/>
          <p:cNvSpPr/>
          <p:nvPr/>
        </p:nvSpPr>
        <p:spPr>
          <a:xfrm>
            <a:off x="7212092" y="2389942"/>
            <a:ext cx="206097" cy="257651"/>
          </a:xfrm>
          <a:prstGeom prst="rect">
            <a:avLst/>
          </a:prstGeom>
          <a:noFill/>
          <a:ln/>
        </p:spPr>
        <p:txBody>
          <a:bodyPr wrap="none" lIns="0" tIns="0" rIns="0" bIns="0" rtlCol="0" anchor="t"/>
          <a:lstStyle/>
          <a:p>
            <a:pPr algn="ctr" indent="0" marL="0">
              <a:lnSpc>
                <a:spcPts val="1600"/>
              </a:lnSpc>
              <a:buNone/>
            </a:pPr>
            <a:r>
              <a:rPr lang="en-US" sz="1600" b="1" dirty="0">
                <a:solidFill>
                  <a:srgbClr val="E2E6E9"/>
                </a:solidFill>
                <a:latin typeface="Montserrat Bold" pitchFamily="34" charset="0"/>
                <a:ea typeface="Montserrat Bold" pitchFamily="34" charset="-122"/>
                <a:cs typeface="Montserrat Bold" pitchFamily="34" charset="-120"/>
              </a:rPr>
              <a:t>2</a:t>
            </a:r>
            <a:endParaRPr lang="en-US" sz="1600" dirty="0"/>
          </a:p>
        </p:txBody>
      </p:sp>
      <p:sp>
        <p:nvSpPr>
          <p:cNvPr id="12" name="Text 10"/>
          <p:cNvSpPr/>
          <p:nvPr/>
        </p:nvSpPr>
        <p:spPr>
          <a:xfrm>
            <a:off x="8071009" y="2400657"/>
            <a:ext cx="4310301" cy="214670"/>
          </a:xfrm>
          <a:prstGeom prst="rect">
            <a:avLst/>
          </a:prstGeom>
          <a:noFill/>
          <a:ln/>
        </p:spPr>
        <p:txBody>
          <a:bodyPr wrap="none" lIns="0" tIns="0" rIns="0" bIns="0" rtlCol="0" anchor="t"/>
          <a:lstStyle/>
          <a:p>
            <a:pPr algn="l" indent="0" marL="0">
              <a:lnSpc>
                <a:spcPts val="1650"/>
              </a:lnSpc>
              <a:buNone/>
            </a:pPr>
            <a:r>
              <a:rPr lang="en-US" sz="1350" b="1" dirty="0">
                <a:solidFill>
                  <a:srgbClr val="E2E6E9"/>
                </a:solidFill>
                <a:latin typeface="Montserrat Bold" pitchFamily="34" charset="0"/>
                <a:ea typeface="Montserrat Bold" pitchFamily="34" charset="-122"/>
                <a:cs typeface="Montserrat Bold" pitchFamily="34" charset="-120"/>
              </a:rPr>
              <a:t>Semanas 1-2: Levantamiento de Requerimientos</a:t>
            </a:r>
            <a:endParaRPr lang="en-US" sz="1350" dirty="0"/>
          </a:p>
        </p:txBody>
      </p:sp>
      <p:sp>
        <p:nvSpPr>
          <p:cNvPr id="13" name="Text 11"/>
          <p:cNvSpPr/>
          <p:nvPr/>
        </p:nvSpPr>
        <p:spPr>
          <a:xfrm>
            <a:off x="8071009" y="2705933"/>
            <a:ext cx="5695593" cy="680442"/>
          </a:xfrm>
          <a:prstGeom prst="rect">
            <a:avLst/>
          </a:prstGeom>
          <a:noFill/>
          <a:ln/>
        </p:spPr>
        <p:txBody>
          <a:bodyPr wrap="square" lIns="0" tIns="0" rIns="0" bIns="0" rtlCol="0" anchor="t"/>
          <a:lstStyle/>
          <a:p>
            <a:pPr algn="l" indent="0" marL="0">
              <a:lnSpc>
                <a:spcPts val="1750"/>
              </a:lnSpc>
              <a:buNone/>
            </a:pPr>
            <a:r>
              <a:rPr lang="en-US" sz="1150" dirty="0">
                <a:solidFill>
                  <a:srgbClr val="E2E6E9"/>
                </a:solidFill>
                <a:latin typeface="Source Sans 3" pitchFamily="34" charset="0"/>
                <a:ea typeface="Source Sans 3" pitchFamily="34" charset="-122"/>
                <a:cs typeface="Source Sans 3" pitchFamily="34" charset="-120"/>
              </a:rPr>
              <a:t>Entrevistas y observación en la junta de vecinos. Documentación y creación de historias de usuario. </a:t>
            </a:r>
            <a:pPr algn="l" indent="0" marL="0">
              <a:lnSpc>
                <a:spcPts val="1750"/>
              </a:lnSpc>
              <a:buNone/>
            </a:pPr>
            <a:r>
              <a:rPr lang="en-US" sz="1150" b="1" dirty="0">
                <a:solidFill>
                  <a:srgbClr val="E2E6E9"/>
                </a:solidFill>
                <a:latin typeface="Source Sans 3" pitchFamily="34" charset="0"/>
                <a:ea typeface="Source Sans 3" pitchFamily="34" charset="-122"/>
                <a:cs typeface="Source Sans 3" pitchFamily="34" charset="-120"/>
              </a:rPr>
              <a:t>Evidencia:</a:t>
            </a:r>
            <a:pPr algn="l" indent="0" marL="0">
              <a:lnSpc>
                <a:spcPts val="1750"/>
              </a:lnSpc>
              <a:buNone/>
            </a:pPr>
            <a:r>
              <a:rPr lang="en-US" sz="1150" dirty="0">
                <a:solidFill>
                  <a:srgbClr val="E2E6E9"/>
                </a:solidFill>
                <a:latin typeface="Source Sans 3" pitchFamily="34" charset="0"/>
                <a:ea typeface="Source Sans 3" pitchFamily="34" charset="-122"/>
                <a:cs typeface="Source Sans 3" pitchFamily="34" charset="-120"/>
              </a:rPr>
              <a:t> Informe de Levantamiento de Requerimientos.</a:t>
            </a:r>
            <a:endParaRPr lang="en-US" sz="1150" dirty="0"/>
          </a:p>
        </p:txBody>
      </p:sp>
      <p:sp>
        <p:nvSpPr>
          <p:cNvPr id="14" name="Shape 12"/>
          <p:cNvSpPr/>
          <p:nvPr/>
        </p:nvSpPr>
        <p:spPr>
          <a:xfrm>
            <a:off x="6706850" y="3292912"/>
            <a:ext cx="453509" cy="15240"/>
          </a:xfrm>
          <a:prstGeom prst="roundRect">
            <a:avLst>
              <a:gd name="adj" fmla="val 148804"/>
            </a:avLst>
          </a:prstGeom>
          <a:solidFill>
            <a:srgbClr val="494A4B"/>
          </a:solidFill>
          <a:ln/>
        </p:spPr>
      </p:sp>
      <p:sp>
        <p:nvSpPr>
          <p:cNvPr id="15" name="Shape 13"/>
          <p:cNvSpPr/>
          <p:nvPr/>
        </p:nvSpPr>
        <p:spPr>
          <a:xfrm>
            <a:off x="7145119" y="3130510"/>
            <a:ext cx="340162" cy="340162"/>
          </a:xfrm>
          <a:prstGeom prst="roundRect">
            <a:avLst>
              <a:gd name="adj" fmla="val 6667"/>
            </a:avLst>
          </a:prstGeom>
          <a:solidFill>
            <a:srgbClr val="303132"/>
          </a:solidFill>
          <a:ln/>
        </p:spPr>
      </p:sp>
      <p:sp>
        <p:nvSpPr>
          <p:cNvPr id="16" name="Text 14"/>
          <p:cNvSpPr/>
          <p:nvPr/>
        </p:nvSpPr>
        <p:spPr>
          <a:xfrm>
            <a:off x="7212092" y="3171706"/>
            <a:ext cx="206097" cy="257651"/>
          </a:xfrm>
          <a:prstGeom prst="rect">
            <a:avLst/>
          </a:prstGeom>
          <a:noFill/>
          <a:ln/>
        </p:spPr>
        <p:txBody>
          <a:bodyPr wrap="none" lIns="0" tIns="0" rIns="0" bIns="0" rtlCol="0" anchor="t"/>
          <a:lstStyle/>
          <a:p>
            <a:pPr algn="ctr" indent="0" marL="0">
              <a:lnSpc>
                <a:spcPts val="1600"/>
              </a:lnSpc>
              <a:buNone/>
            </a:pPr>
            <a:r>
              <a:rPr lang="en-US" sz="1600" b="1" dirty="0">
                <a:solidFill>
                  <a:srgbClr val="E2E6E9"/>
                </a:solidFill>
                <a:latin typeface="Montserrat Bold" pitchFamily="34" charset="0"/>
                <a:ea typeface="Montserrat Bold" pitchFamily="34" charset="-122"/>
                <a:cs typeface="Montserrat Bold" pitchFamily="34" charset="-120"/>
              </a:rPr>
              <a:t>3</a:t>
            </a:r>
            <a:endParaRPr lang="en-US" sz="1600" dirty="0"/>
          </a:p>
        </p:txBody>
      </p:sp>
      <p:sp>
        <p:nvSpPr>
          <p:cNvPr id="17" name="Text 15"/>
          <p:cNvSpPr/>
          <p:nvPr/>
        </p:nvSpPr>
        <p:spPr>
          <a:xfrm>
            <a:off x="3122771" y="3182422"/>
            <a:ext cx="3436620" cy="214670"/>
          </a:xfrm>
          <a:prstGeom prst="rect">
            <a:avLst/>
          </a:prstGeom>
          <a:noFill/>
          <a:ln/>
        </p:spPr>
        <p:txBody>
          <a:bodyPr wrap="none" lIns="0" tIns="0" rIns="0" bIns="0" rtlCol="0" anchor="t"/>
          <a:lstStyle/>
          <a:p>
            <a:pPr algn="r" indent="0" marL="0">
              <a:lnSpc>
                <a:spcPts val="1650"/>
              </a:lnSpc>
              <a:buNone/>
            </a:pPr>
            <a:r>
              <a:rPr lang="en-US" sz="1350" b="1" dirty="0">
                <a:solidFill>
                  <a:srgbClr val="E2E6E9"/>
                </a:solidFill>
                <a:latin typeface="Montserrat Bold" pitchFamily="34" charset="0"/>
                <a:ea typeface="Montserrat Bold" pitchFamily="34" charset="-122"/>
                <a:cs typeface="Montserrat Bold" pitchFamily="34" charset="-120"/>
              </a:rPr>
              <a:t>Semana 3: Diseño de Modelo de Datos</a:t>
            </a:r>
            <a:endParaRPr lang="en-US" sz="1350" dirty="0"/>
          </a:p>
        </p:txBody>
      </p:sp>
      <p:sp>
        <p:nvSpPr>
          <p:cNvPr id="18" name="Text 16"/>
          <p:cNvSpPr/>
          <p:nvPr/>
        </p:nvSpPr>
        <p:spPr>
          <a:xfrm>
            <a:off x="863798" y="3487698"/>
            <a:ext cx="5695593" cy="453628"/>
          </a:xfrm>
          <a:prstGeom prst="rect">
            <a:avLst/>
          </a:prstGeom>
          <a:noFill/>
          <a:ln/>
        </p:spPr>
        <p:txBody>
          <a:bodyPr wrap="square" lIns="0" tIns="0" rIns="0" bIns="0" rtlCol="0" anchor="t"/>
          <a:lstStyle/>
          <a:p>
            <a:pPr algn="r" indent="0" marL="0">
              <a:lnSpc>
                <a:spcPts val="1750"/>
              </a:lnSpc>
              <a:buNone/>
            </a:pPr>
            <a:r>
              <a:rPr lang="en-US" sz="1150" dirty="0">
                <a:solidFill>
                  <a:srgbClr val="E2E6E9"/>
                </a:solidFill>
                <a:latin typeface="Source Sans 3" pitchFamily="34" charset="0"/>
                <a:ea typeface="Source Sans 3" pitchFamily="34" charset="-122"/>
                <a:cs typeface="Source Sans 3" pitchFamily="34" charset="-120"/>
              </a:rPr>
              <a:t>Elaboración de diagramas ER y definición de tablas. </a:t>
            </a:r>
            <a:pPr algn="r" indent="0" marL="0">
              <a:lnSpc>
                <a:spcPts val="1750"/>
              </a:lnSpc>
              <a:buNone/>
            </a:pPr>
            <a:r>
              <a:rPr lang="en-US" sz="1150" b="1" dirty="0">
                <a:solidFill>
                  <a:srgbClr val="E2E6E9"/>
                </a:solidFill>
                <a:latin typeface="Source Sans 3" pitchFamily="34" charset="0"/>
                <a:ea typeface="Source Sans 3" pitchFamily="34" charset="-122"/>
                <a:cs typeface="Source Sans 3" pitchFamily="34" charset="-120"/>
              </a:rPr>
              <a:t>Evidencia:</a:t>
            </a:r>
            <a:pPr algn="r" indent="0" marL="0">
              <a:lnSpc>
                <a:spcPts val="1750"/>
              </a:lnSpc>
              <a:buNone/>
            </a:pPr>
            <a:r>
              <a:rPr lang="en-US" sz="1150" dirty="0">
                <a:solidFill>
                  <a:srgbClr val="E2E6E9"/>
                </a:solidFill>
                <a:latin typeface="Source Sans 3" pitchFamily="34" charset="0"/>
                <a:ea typeface="Source Sans 3" pitchFamily="34" charset="-122"/>
                <a:cs typeface="Source Sans 3" pitchFamily="34" charset="-120"/>
              </a:rPr>
              <a:t> Modelo de Datos y Diagramas de Arquitectura.</a:t>
            </a:r>
            <a:endParaRPr lang="en-US" sz="1150" dirty="0"/>
          </a:p>
        </p:txBody>
      </p:sp>
      <p:sp>
        <p:nvSpPr>
          <p:cNvPr id="19" name="Shape 17"/>
          <p:cNvSpPr/>
          <p:nvPr/>
        </p:nvSpPr>
        <p:spPr>
          <a:xfrm>
            <a:off x="7470041" y="4074795"/>
            <a:ext cx="453509" cy="15240"/>
          </a:xfrm>
          <a:prstGeom prst="roundRect">
            <a:avLst>
              <a:gd name="adj" fmla="val 148804"/>
            </a:avLst>
          </a:prstGeom>
          <a:solidFill>
            <a:srgbClr val="494A4B"/>
          </a:solidFill>
          <a:ln/>
        </p:spPr>
      </p:sp>
      <p:sp>
        <p:nvSpPr>
          <p:cNvPr id="20" name="Shape 18"/>
          <p:cNvSpPr/>
          <p:nvPr/>
        </p:nvSpPr>
        <p:spPr>
          <a:xfrm>
            <a:off x="7145119" y="3912394"/>
            <a:ext cx="340162" cy="340162"/>
          </a:xfrm>
          <a:prstGeom prst="roundRect">
            <a:avLst>
              <a:gd name="adj" fmla="val 6667"/>
            </a:avLst>
          </a:prstGeom>
          <a:solidFill>
            <a:srgbClr val="303132"/>
          </a:solidFill>
          <a:ln/>
        </p:spPr>
      </p:sp>
      <p:sp>
        <p:nvSpPr>
          <p:cNvPr id="21" name="Text 19"/>
          <p:cNvSpPr/>
          <p:nvPr/>
        </p:nvSpPr>
        <p:spPr>
          <a:xfrm>
            <a:off x="7212092" y="3953589"/>
            <a:ext cx="206097" cy="257651"/>
          </a:xfrm>
          <a:prstGeom prst="rect">
            <a:avLst/>
          </a:prstGeom>
          <a:noFill/>
          <a:ln/>
        </p:spPr>
        <p:txBody>
          <a:bodyPr wrap="none" lIns="0" tIns="0" rIns="0" bIns="0" rtlCol="0" anchor="t"/>
          <a:lstStyle/>
          <a:p>
            <a:pPr algn="ctr" indent="0" marL="0">
              <a:lnSpc>
                <a:spcPts val="1600"/>
              </a:lnSpc>
              <a:buNone/>
            </a:pPr>
            <a:r>
              <a:rPr lang="en-US" sz="1600" b="1" dirty="0">
                <a:solidFill>
                  <a:srgbClr val="E2E6E9"/>
                </a:solidFill>
                <a:latin typeface="Montserrat Bold" pitchFamily="34" charset="0"/>
                <a:ea typeface="Montserrat Bold" pitchFamily="34" charset="-122"/>
                <a:cs typeface="Montserrat Bold" pitchFamily="34" charset="-120"/>
              </a:rPr>
              <a:t>4</a:t>
            </a:r>
            <a:endParaRPr lang="en-US" sz="1600" dirty="0"/>
          </a:p>
        </p:txBody>
      </p:sp>
      <p:sp>
        <p:nvSpPr>
          <p:cNvPr id="22" name="Text 20"/>
          <p:cNvSpPr/>
          <p:nvPr/>
        </p:nvSpPr>
        <p:spPr>
          <a:xfrm>
            <a:off x="8071009" y="3964305"/>
            <a:ext cx="3125867" cy="214670"/>
          </a:xfrm>
          <a:prstGeom prst="rect">
            <a:avLst/>
          </a:prstGeom>
          <a:noFill/>
          <a:ln/>
        </p:spPr>
        <p:txBody>
          <a:bodyPr wrap="none" lIns="0" tIns="0" rIns="0" bIns="0" rtlCol="0" anchor="t"/>
          <a:lstStyle/>
          <a:p>
            <a:pPr algn="l" indent="0" marL="0">
              <a:lnSpc>
                <a:spcPts val="1650"/>
              </a:lnSpc>
              <a:buNone/>
            </a:pPr>
            <a:r>
              <a:rPr lang="en-US" sz="1350" b="1" dirty="0">
                <a:solidFill>
                  <a:srgbClr val="E2E6E9"/>
                </a:solidFill>
                <a:latin typeface="Montserrat Bold" pitchFamily="34" charset="0"/>
                <a:ea typeface="Montserrat Bold" pitchFamily="34" charset="-122"/>
                <a:cs typeface="Montserrat Bold" pitchFamily="34" charset="-120"/>
              </a:rPr>
              <a:t>Semanas 4-6: Prototipo de Interfaz</a:t>
            </a:r>
            <a:endParaRPr lang="en-US" sz="1350" dirty="0"/>
          </a:p>
        </p:txBody>
      </p:sp>
      <p:sp>
        <p:nvSpPr>
          <p:cNvPr id="23" name="Text 21"/>
          <p:cNvSpPr/>
          <p:nvPr/>
        </p:nvSpPr>
        <p:spPr>
          <a:xfrm>
            <a:off x="8071009" y="4269581"/>
            <a:ext cx="5695593" cy="453628"/>
          </a:xfrm>
          <a:prstGeom prst="rect">
            <a:avLst/>
          </a:prstGeom>
          <a:noFill/>
          <a:ln/>
        </p:spPr>
        <p:txBody>
          <a:bodyPr wrap="square" lIns="0" tIns="0" rIns="0" bIns="0" rtlCol="0" anchor="t"/>
          <a:lstStyle/>
          <a:p>
            <a:pPr algn="l" indent="0" marL="0">
              <a:lnSpc>
                <a:spcPts val="1750"/>
              </a:lnSpc>
              <a:buNone/>
            </a:pPr>
            <a:r>
              <a:rPr lang="en-US" sz="1150" dirty="0">
                <a:solidFill>
                  <a:srgbClr val="E2E6E9"/>
                </a:solidFill>
                <a:latin typeface="Source Sans 3" pitchFamily="34" charset="0"/>
                <a:ea typeface="Source Sans 3" pitchFamily="34" charset="-122"/>
                <a:cs typeface="Source Sans 3" pitchFamily="34" charset="-120"/>
              </a:rPr>
              <a:t>Creación de bocetos y prototipos navegables de las pantallas principales del sistema. </a:t>
            </a:r>
            <a:pPr algn="l" indent="0" marL="0">
              <a:lnSpc>
                <a:spcPts val="1750"/>
              </a:lnSpc>
              <a:buNone/>
            </a:pPr>
            <a:r>
              <a:rPr lang="en-US" sz="1150" b="1" dirty="0">
                <a:solidFill>
                  <a:srgbClr val="E2E6E9"/>
                </a:solidFill>
                <a:latin typeface="Source Sans 3" pitchFamily="34" charset="0"/>
                <a:ea typeface="Source Sans 3" pitchFamily="34" charset="-122"/>
                <a:cs typeface="Source Sans 3" pitchFamily="34" charset="-120"/>
              </a:rPr>
              <a:t>Evidencia:</a:t>
            </a:r>
            <a:pPr algn="l" indent="0" marL="0">
              <a:lnSpc>
                <a:spcPts val="1750"/>
              </a:lnSpc>
              <a:buNone/>
            </a:pPr>
            <a:r>
              <a:rPr lang="en-US" sz="1150" dirty="0">
                <a:solidFill>
                  <a:srgbClr val="E2E6E9"/>
                </a:solidFill>
                <a:latin typeface="Source Sans 3" pitchFamily="34" charset="0"/>
                <a:ea typeface="Source Sans 3" pitchFamily="34" charset="-122"/>
                <a:cs typeface="Source Sans 3" pitchFamily="34" charset="-120"/>
              </a:rPr>
              <a:t> Prototipo de Interfaz de Usuario (Mockups).</a:t>
            </a:r>
            <a:endParaRPr lang="en-US" sz="1150" dirty="0"/>
          </a:p>
        </p:txBody>
      </p:sp>
      <p:sp>
        <p:nvSpPr>
          <p:cNvPr id="24" name="Shape 22"/>
          <p:cNvSpPr/>
          <p:nvPr/>
        </p:nvSpPr>
        <p:spPr>
          <a:xfrm>
            <a:off x="6706850" y="4856678"/>
            <a:ext cx="453509" cy="15240"/>
          </a:xfrm>
          <a:prstGeom prst="roundRect">
            <a:avLst>
              <a:gd name="adj" fmla="val 148804"/>
            </a:avLst>
          </a:prstGeom>
          <a:solidFill>
            <a:srgbClr val="494A4B"/>
          </a:solidFill>
          <a:ln/>
        </p:spPr>
      </p:sp>
      <p:sp>
        <p:nvSpPr>
          <p:cNvPr id="25" name="Shape 23"/>
          <p:cNvSpPr/>
          <p:nvPr/>
        </p:nvSpPr>
        <p:spPr>
          <a:xfrm>
            <a:off x="7145119" y="4694277"/>
            <a:ext cx="340162" cy="340162"/>
          </a:xfrm>
          <a:prstGeom prst="roundRect">
            <a:avLst>
              <a:gd name="adj" fmla="val 6667"/>
            </a:avLst>
          </a:prstGeom>
          <a:solidFill>
            <a:srgbClr val="303132"/>
          </a:solidFill>
          <a:ln/>
        </p:spPr>
      </p:sp>
      <p:sp>
        <p:nvSpPr>
          <p:cNvPr id="26" name="Text 24"/>
          <p:cNvSpPr/>
          <p:nvPr/>
        </p:nvSpPr>
        <p:spPr>
          <a:xfrm>
            <a:off x="7212092" y="4735473"/>
            <a:ext cx="206097" cy="257651"/>
          </a:xfrm>
          <a:prstGeom prst="rect">
            <a:avLst/>
          </a:prstGeom>
          <a:noFill/>
          <a:ln/>
        </p:spPr>
        <p:txBody>
          <a:bodyPr wrap="none" lIns="0" tIns="0" rIns="0" bIns="0" rtlCol="0" anchor="t"/>
          <a:lstStyle/>
          <a:p>
            <a:pPr algn="ctr" indent="0" marL="0">
              <a:lnSpc>
                <a:spcPts val="1600"/>
              </a:lnSpc>
              <a:buNone/>
            </a:pPr>
            <a:r>
              <a:rPr lang="en-US" sz="1600" b="1" dirty="0">
                <a:solidFill>
                  <a:srgbClr val="E2E6E9"/>
                </a:solidFill>
                <a:latin typeface="Montserrat Bold" pitchFamily="34" charset="0"/>
                <a:ea typeface="Montserrat Bold" pitchFamily="34" charset="-122"/>
                <a:cs typeface="Montserrat Bold" pitchFamily="34" charset="-120"/>
              </a:rPr>
              <a:t>5</a:t>
            </a:r>
            <a:endParaRPr lang="en-US" sz="1600" dirty="0"/>
          </a:p>
        </p:txBody>
      </p:sp>
      <p:sp>
        <p:nvSpPr>
          <p:cNvPr id="27" name="Text 25"/>
          <p:cNvSpPr/>
          <p:nvPr/>
        </p:nvSpPr>
        <p:spPr>
          <a:xfrm>
            <a:off x="2456855" y="4746188"/>
            <a:ext cx="4102537" cy="214670"/>
          </a:xfrm>
          <a:prstGeom prst="rect">
            <a:avLst/>
          </a:prstGeom>
          <a:noFill/>
          <a:ln/>
        </p:spPr>
        <p:txBody>
          <a:bodyPr wrap="none" lIns="0" tIns="0" rIns="0" bIns="0" rtlCol="0" anchor="t"/>
          <a:lstStyle/>
          <a:p>
            <a:pPr algn="r" indent="0" marL="0">
              <a:lnSpc>
                <a:spcPts val="1650"/>
              </a:lnSpc>
              <a:buNone/>
            </a:pPr>
            <a:r>
              <a:rPr lang="en-US" sz="1350" b="1" dirty="0">
                <a:solidFill>
                  <a:srgbClr val="E2E6E9"/>
                </a:solidFill>
                <a:latin typeface="Montserrat Bold" pitchFamily="34" charset="0"/>
                <a:ea typeface="Montserrat Bold" pitchFamily="34" charset="-122"/>
                <a:cs typeface="Montserrat Bold" pitchFamily="34" charset="-120"/>
              </a:rPr>
              <a:t>Semanas 7-14: Desarrollo Backend y Frontend</a:t>
            </a:r>
            <a:endParaRPr lang="en-US" sz="1350" dirty="0"/>
          </a:p>
        </p:txBody>
      </p:sp>
      <p:sp>
        <p:nvSpPr>
          <p:cNvPr id="28" name="Text 26"/>
          <p:cNvSpPr/>
          <p:nvPr/>
        </p:nvSpPr>
        <p:spPr>
          <a:xfrm>
            <a:off x="863798" y="5051465"/>
            <a:ext cx="5695593" cy="453628"/>
          </a:xfrm>
          <a:prstGeom prst="rect">
            <a:avLst/>
          </a:prstGeom>
          <a:noFill/>
          <a:ln/>
        </p:spPr>
        <p:txBody>
          <a:bodyPr wrap="square" lIns="0" tIns="0" rIns="0" bIns="0" rtlCol="0" anchor="t"/>
          <a:lstStyle/>
          <a:p>
            <a:pPr algn="r" indent="0" marL="0">
              <a:lnSpc>
                <a:spcPts val="1750"/>
              </a:lnSpc>
              <a:buNone/>
            </a:pPr>
            <a:r>
              <a:rPr lang="en-US" sz="1150" dirty="0">
                <a:solidFill>
                  <a:srgbClr val="E2E6E9"/>
                </a:solidFill>
                <a:latin typeface="Source Sans 3" pitchFamily="34" charset="0"/>
                <a:ea typeface="Source Sans 3" pitchFamily="34" charset="-122"/>
                <a:cs typeface="Source Sans 3" pitchFamily="34" charset="-120"/>
              </a:rPr>
              <a:t>Implementación de la lógica de negocio y creación de la interfaz web responsiva. </a:t>
            </a:r>
            <a:pPr algn="r" indent="0" marL="0">
              <a:lnSpc>
                <a:spcPts val="1750"/>
              </a:lnSpc>
              <a:buNone/>
            </a:pPr>
            <a:r>
              <a:rPr lang="en-US" sz="1150" b="1" dirty="0">
                <a:solidFill>
                  <a:srgbClr val="E2E6E9"/>
                </a:solidFill>
                <a:latin typeface="Source Sans 3" pitchFamily="34" charset="0"/>
                <a:ea typeface="Source Sans 3" pitchFamily="34" charset="-122"/>
                <a:cs typeface="Source Sans 3" pitchFamily="34" charset="-120"/>
              </a:rPr>
              <a:t>Evidencia:</a:t>
            </a:r>
            <a:pPr algn="r" indent="0" marL="0">
              <a:lnSpc>
                <a:spcPts val="1750"/>
              </a:lnSpc>
              <a:buNone/>
            </a:pPr>
            <a:r>
              <a:rPr lang="en-US" sz="1150" dirty="0">
                <a:solidFill>
                  <a:srgbClr val="E2E6E9"/>
                </a:solidFill>
                <a:latin typeface="Source Sans 3" pitchFamily="34" charset="0"/>
                <a:ea typeface="Source Sans 3" pitchFamily="34" charset="-122"/>
                <a:cs typeface="Source Sans 3" pitchFamily="34" charset="-120"/>
              </a:rPr>
              <a:t> Sistema Web / App Funcionando.</a:t>
            </a:r>
            <a:endParaRPr lang="en-US" sz="1150" dirty="0"/>
          </a:p>
        </p:txBody>
      </p:sp>
      <p:sp>
        <p:nvSpPr>
          <p:cNvPr id="29" name="Shape 27"/>
          <p:cNvSpPr/>
          <p:nvPr/>
        </p:nvSpPr>
        <p:spPr>
          <a:xfrm>
            <a:off x="7470041" y="5638562"/>
            <a:ext cx="453509" cy="15240"/>
          </a:xfrm>
          <a:prstGeom prst="roundRect">
            <a:avLst>
              <a:gd name="adj" fmla="val 148804"/>
            </a:avLst>
          </a:prstGeom>
          <a:solidFill>
            <a:srgbClr val="494A4B"/>
          </a:solidFill>
          <a:ln/>
        </p:spPr>
      </p:sp>
      <p:sp>
        <p:nvSpPr>
          <p:cNvPr id="30" name="Shape 28"/>
          <p:cNvSpPr/>
          <p:nvPr/>
        </p:nvSpPr>
        <p:spPr>
          <a:xfrm>
            <a:off x="7145119" y="5476161"/>
            <a:ext cx="340162" cy="340162"/>
          </a:xfrm>
          <a:prstGeom prst="roundRect">
            <a:avLst>
              <a:gd name="adj" fmla="val 6667"/>
            </a:avLst>
          </a:prstGeom>
          <a:solidFill>
            <a:srgbClr val="303132"/>
          </a:solidFill>
          <a:ln/>
        </p:spPr>
      </p:sp>
      <p:sp>
        <p:nvSpPr>
          <p:cNvPr id="31" name="Text 29"/>
          <p:cNvSpPr/>
          <p:nvPr/>
        </p:nvSpPr>
        <p:spPr>
          <a:xfrm>
            <a:off x="7212092" y="5517356"/>
            <a:ext cx="206097" cy="257651"/>
          </a:xfrm>
          <a:prstGeom prst="rect">
            <a:avLst/>
          </a:prstGeom>
          <a:noFill/>
          <a:ln/>
        </p:spPr>
        <p:txBody>
          <a:bodyPr wrap="none" lIns="0" tIns="0" rIns="0" bIns="0" rtlCol="0" anchor="t"/>
          <a:lstStyle/>
          <a:p>
            <a:pPr algn="ctr" indent="0" marL="0">
              <a:lnSpc>
                <a:spcPts val="1600"/>
              </a:lnSpc>
              <a:buNone/>
            </a:pPr>
            <a:r>
              <a:rPr lang="en-US" sz="1600" b="1" dirty="0">
                <a:solidFill>
                  <a:srgbClr val="E2E6E9"/>
                </a:solidFill>
                <a:latin typeface="Montserrat Bold" pitchFamily="34" charset="0"/>
                <a:ea typeface="Montserrat Bold" pitchFamily="34" charset="-122"/>
                <a:cs typeface="Montserrat Bold" pitchFamily="34" charset="-120"/>
              </a:rPr>
              <a:t>6</a:t>
            </a:r>
            <a:endParaRPr lang="en-US" sz="1600" dirty="0"/>
          </a:p>
        </p:txBody>
      </p:sp>
      <p:sp>
        <p:nvSpPr>
          <p:cNvPr id="32" name="Text 30"/>
          <p:cNvSpPr/>
          <p:nvPr/>
        </p:nvSpPr>
        <p:spPr>
          <a:xfrm>
            <a:off x="8071009" y="5528072"/>
            <a:ext cx="3245644" cy="214670"/>
          </a:xfrm>
          <a:prstGeom prst="rect">
            <a:avLst/>
          </a:prstGeom>
          <a:noFill/>
          <a:ln/>
        </p:spPr>
        <p:txBody>
          <a:bodyPr wrap="none" lIns="0" tIns="0" rIns="0" bIns="0" rtlCol="0" anchor="t"/>
          <a:lstStyle/>
          <a:p>
            <a:pPr algn="l" indent="0" marL="0">
              <a:lnSpc>
                <a:spcPts val="1650"/>
              </a:lnSpc>
              <a:buNone/>
            </a:pPr>
            <a:r>
              <a:rPr lang="en-US" sz="1350" b="1" dirty="0">
                <a:solidFill>
                  <a:srgbClr val="E2E6E9"/>
                </a:solidFill>
                <a:latin typeface="Montserrat Bold" pitchFamily="34" charset="0"/>
                <a:ea typeface="Montserrat Bold" pitchFamily="34" charset="-122"/>
                <a:cs typeface="Montserrat Bold" pitchFamily="34" charset="-120"/>
              </a:rPr>
              <a:t>Semanas 15-16: Pruebas y Validación</a:t>
            </a:r>
            <a:endParaRPr lang="en-US" sz="1350" dirty="0"/>
          </a:p>
        </p:txBody>
      </p:sp>
      <p:sp>
        <p:nvSpPr>
          <p:cNvPr id="33" name="Text 31"/>
          <p:cNvSpPr/>
          <p:nvPr/>
        </p:nvSpPr>
        <p:spPr>
          <a:xfrm>
            <a:off x="8071009" y="5833348"/>
            <a:ext cx="5695593" cy="453628"/>
          </a:xfrm>
          <a:prstGeom prst="rect">
            <a:avLst/>
          </a:prstGeom>
          <a:noFill/>
          <a:ln/>
        </p:spPr>
        <p:txBody>
          <a:bodyPr wrap="square" lIns="0" tIns="0" rIns="0" bIns="0" rtlCol="0" anchor="t"/>
          <a:lstStyle/>
          <a:p>
            <a:pPr algn="l" indent="0" marL="0">
              <a:lnSpc>
                <a:spcPts val="1750"/>
              </a:lnSpc>
              <a:buNone/>
            </a:pPr>
            <a:r>
              <a:rPr lang="en-US" sz="1150" dirty="0">
                <a:solidFill>
                  <a:srgbClr val="E2E6E9"/>
                </a:solidFill>
                <a:latin typeface="Source Sans 3" pitchFamily="34" charset="0"/>
                <a:ea typeface="Source Sans 3" pitchFamily="34" charset="-122"/>
                <a:cs typeface="Source Sans 3" pitchFamily="34" charset="-120"/>
              </a:rPr>
              <a:t>Ejecución de pruebas unitarias, de integración y de aceptación. Corrección de errores. </a:t>
            </a:r>
            <a:pPr algn="l" indent="0" marL="0">
              <a:lnSpc>
                <a:spcPts val="1750"/>
              </a:lnSpc>
              <a:buNone/>
            </a:pPr>
            <a:r>
              <a:rPr lang="en-US" sz="1150" b="1" dirty="0">
                <a:solidFill>
                  <a:srgbClr val="E2E6E9"/>
                </a:solidFill>
                <a:latin typeface="Source Sans 3" pitchFamily="34" charset="0"/>
                <a:ea typeface="Source Sans 3" pitchFamily="34" charset="-122"/>
                <a:cs typeface="Source Sans 3" pitchFamily="34" charset="-120"/>
              </a:rPr>
              <a:t>Evidencia:</a:t>
            </a:r>
            <a:pPr algn="l" indent="0" marL="0">
              <a:lnSpc>
                <a:spcPts val="1750"/>
              </a:lnSpc>
              <a:buNone/>
            </a:pPr>
            <a:r>
              <a:rPr lang="en-US" sz="1150" dirty="0">
                <a:solidFill>
                  <a:srgbClr val="E2E6E9"/>
                </a:solidFill>
                <a:latin typeface="Source Sans 3" pitchFamily="34" charset="0"/>
                <a:ea typeface="Source Sans 3" pitchFamily="34" charset="-122"/>
                <a:cs typeface="Source Sans 3" pitchFamily="34" charset="-120"/>
              </a:rPr>
              <a:t> Documentación de Pruebas y Validación.</a:t>
            </a:r>
            <a:endParaRPr lang="en-US" sz="1150" dirty="0"/>
          </a:p>
        </p:txBody>
      </p:sp>
      <p:sp>
        <p:nvSpPr>
          <p:cNvPr id="34" name="Shape 32"/>
          <p:cNvSpPr/>
          <p:nvPr/>
        </p:nvSpPr>
        <p:spPr>
          <a:xfrm>
            <a:off x="6706850" y="6420445"/>
            <a:ext cx="453509" cy="15240"/>
          </a:xfrm>
          <a:prstGeom prst="roundRect">
            <a:avLst>
              <a:gd name="adj" fmla="val 148804"/>
            </a:avLst>
          </a:prstGeom>
          <a:solidFill>
            <a:srgbClr val="494A4B"/>
          </a:solidFill>
          <a:ln/>
        </p:spPr>
      </p:sp>
      <p:sp>
        <p:nvSpPr>
          <p:cNvPr id="35" name="Shape 33"/>
          <p:cNvSpPr/>
          <p:nvPr/>
        </p:nvSpPr>
        <p:spPr>
          <a:xfrm>
            <a:off x="7145119" y="6258044"/>
            <a:ext cx="340162" cy="340162"/>
          </a:xfrm>
          <a:prstGeom prst="roundRect">
            <a:avLst>
              <a:gd name="adj" fmla="val 6667"/>
            </a:avLst>
          </a:prstGeom>
          <a:solidFill>
            <a:srgbClr val="303132"/>
          </a:solidFill>
          <a:ln/>
        </p:spPr>
      </p:sp>
      <p:sp>
        <p:nvSpPr>
          <p:cNvPr id="36" name="Text 34"/>
          <p:cNvSpPr/>
          <p:nvPr/>
        </p:nvSpPr>
        <p:spPr>
          <a:xfrm>
            <a:off x="7212092" y="6299240"/>
            <a:ext cx="206097" cy="257651"/>
          </a:xfrm>
          <a:prstGeom prst="rect">
            <a:avLst/>
          </a:prstGeom>
          <a:noFill/>
          <a:ln/>
        </p:spPr>
        <p:txBody>
          <a:bodyPr wrap="none" lIns="0" tIns="0" rIns="0" bIns="0" rtlCol="0" anchor="t"/>
          <a:lstStyle/>
          <a:p>
            <a:pPr algn="ctr" indent="0" marL="0">
              <a:lnSpc>
                <a:spcPts val="1600"/>
              </a:lnSpc>
              <a:buNone/>
            </a:pPr>
            <a:r>
              <a:rPr lang="en-US" sz="1600" b="1" dirty="0">
                <a:solidFill>
                  <a:srgbClr val="E2E6E9"/>
                </a:solidFill>
                <a:latin typeface="Montserrat Bold" pitchFamily="34" charset="0"/>
                <a:ea typeface="Montserrat Bold" pitchFamily="34" charset="-122"/>
                <a:cs typeface="Montserrat Bold" pitchFamily="34" charset="-120"/>
              </a:rPr>
              <a:t>7</a:t>
            </a:r>
            <a:endParaRPr lang="en-US" sz="1600" dirty="0"/>
          </a:p>
        </p:txBody>
      </p:sp>
      <p:sp>
        <p:nvSpPr>
          <p:cNvPr id="37" name="Text 35"/>
          <p:cNvSpPr/>
          <p:nvPr/>
        </p:nvSpPr>
        <p:spPr>
          <a:xfrm>
            <a:off x="1875115" y="6309955"/>
            <a:ext cx="4684276" cy="214670"/>
          </a:xfrm>
          <a:prstGeom prst="rect">
            <a:avLst/>
          </a:prstGeom>
          <a:noFill/>
          <a:ln/>
        </p:spPr>
        <p:txBody>
          <a:bodyPr wrap="none" lIns="0" tIns="0" rIns="0" bIns="0" rtlCol="0" anchor="t"/>
          <a:lstStyle/>
          <a:p>
            <a:pPr algn="r" indent="0" marL="0">
              <a:lnSpc>
                <a:spcPts val="1650"/>
              </a:lnSpc>
              <a:buNone/>
            </a:pPr>
            <a:r>
              <a:rPr lang="en-US" sz="1350" b="1" dirty="0">
                <a:solidFill>
                  <a:srgbClr val="E2E6E9"/>
                </a:solidFill>
                <a:latin typeface="Montserrat Bold" pitchFamily="34" charset="0"/>
                <a:ea typeface="Montserrat Bold" pitchFamily="34" charset="-122"/>
                <a:cs typeface="Montserrat Bold" pitchFamily="34" charset="-120"/>
              </a:rPr>
              <a:t>Semanas 17-18: Documentación y Presentación Final</a:t>
            </a:r>
            <a:endParaRPr lang="en-US" sz="1350" dirty="0"/>
          </a:p>
        </p:txBody>
      </p:sp>
      <p:sp>
        <p:nvSpPr>
          <p:cNvPr id="38" name="Text 36"/>
          <p:cNvSpPr/>
          <p:nvPr/>
        </p:nvSpPr>
        <p:spPr>
          <a:xfrm>
            <a:off x="863798" y="6615232"/>
            <a:ext cx="5695593" cy="453628"/>
          </a:xfrm>
          <a:prstGeom prst="rect">
            <a:avLst/>
          </a:prstGeom>
          <a:noFill/>
          <a:ln/>
        </p:spPr>
        <p:txBody>
          <a:bodyPr wrap="square" lIns="0" tIns="0" rIns="0" bIns="0" rtlCol="0" anchor="t"/>
          <a:lstStyle/>
          <a:p>
            <a:pPr algn="r" indent="0" marL="0">
              <a:lnSpc>
                <a:spcPts val="1750"/>
              </a:lnSpc>
              <a:buNone/>
            </a:pPr>
            <a:r>
              <a:rPr lang="en-US" sz="1150" dirty="0">
                <a:solidFill>
                  <a:srgbClr val="E2E6E9"/>
                </a:solidFill>
                <a:latin typeface="Source Sans 3" pitchFamily="34" charset="0"/>
                <a:ea typeface="Source Sans 3" pitchFamily="34" charset="-122"/>
                <a:cs typeface="Source Sans 3" pitchFamily="34" charset="-120"/>
              </a:rPr>
              <a:t>Elaboración del manual de usuario y documentación técnica, y exposición del proyecto. </a:t>
            </a:r>
            <a:pPr algn="r" indent="0" marL="0">
              <a:lnSpc>
                <a:spcPts val="1750"/>
              </a:lnSpc>
              <a:buNone/>
            </a:pPr>
            <a:r>
              <a:rPr lang="en-US" sz="1150" b="1" dirty="0">
                <a:solidFill>
                  <a:srgbClr val="E2E6E9"/>
                </a:solidFill>
                <a:latin typeface="Source Sans 3" pitchFamily="34" charset="0"/>
                <a:ea typeface="Source Sans 3" pitchFamily="34" charset="-122"/>
                <a:cs typeface="Source Sans 3" pitchFamily="34" charset="-120"/>
              </a:rPr>
              <a:t>Evidencia:</a:t>
            </a:r>
            <a:pPr algn="r" indent="0" marL="0">
              <a:lnSpc>
                <a:spcPts val="1750"/>
              </a:lnSpc>
              <a:buNone/>
            </a:pPr>
            <a:r>
              <a:rPr lang="en-US" sz="1150" dirty="0">
                <a:solidFill>
                  <a:srgbClr val="E2E6E9"/>
                </a:solidFill>
                <a:latin typeface="Source Sans 3" pitchFamily="34" charset="0"/>
                <a:ea typeface="Source Sans 3" pitchFamily="34" charset="-122"/>
                <a:cs typeface="Source Sans 3" pitchFamily="34" charset="-120"/>
              </a:rPr>
              <a:t> Manual de Usuario, Documentación Técnica y Presentación Final.</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2025-11-25T04:26:20Z</dcterms:created>
  <dcterms:modified xsi:type="dcterms:W3CDTF">2025-11-25T04:26:20Z</dcterms:modified>
</cp:coreProperties>
</file>