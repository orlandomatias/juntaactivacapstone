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Raleway Heavy" charset="1" panose="00000000000000000000"/>
      <p:regular r:id="rId19"/>
    </p:embeddedFont>
    <p:embeddedFont>
      <p:font typeface="Garet" charset="1" panose="00000000000000000000"/>
      <p:regular r:id="rId20"/>
    </p:embeddedFont>
    <p:embeddedFont>
      <p:font typeface="Raleway" charset="1" panose="00000000000000000000"/>
      <p:regular r:id="rId21"/>
    </p:embeddedFont>
    <p:embeddedFont>
      <p:font typeface="Open Sans Bold" charset="1" panose="020B0806030504020204"/>
      <p:regular r:id="rId22"/>
    </p:embeddedFont>
    <p:embeddedFont>
      <p:font typeface="Raleway Bold" charset="1" panose="00000000000000000000"/>
      <p:regular r:id="rId23"/>
    </p:embeddedFont>
    <p:embeddedFont>
      <p:font typeface="Open Sans" charset="1" panose="020B0606030504020204"/>
      <p:regular r:id="rId24"/>
    </p:embeddedFont>
    <p:embeddedFont>
      <p:font typeface="Garet Bold" charset="1" panose="00000000000000000000"/>
      <p:regular r:id="rId25"/>
    </p:embeddedFont>
    <p:embeddedFont>
      <p:font typeface="Montserrat Bold" charset="1" panose="00000800000000000000"/>
      <p:regular r:id="rId26"/>
    </p:embeddedFont>
    <p:embeddedFont>
      <p:font typeface="Montserrat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5.png" Type="http://schemas.openxmlformats.org/officeDocument/2006/relationships/image"/><Relationship Id="rId13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11" Target="../media/image34.png" Type="http://schemas.openxmlformats.org/officeDocument/2006/relationships/image"/><Relationship Id="rId12" Target="../media/image35.png" Type="http://schemas.openxmlformats.org/officeDocument/2006/relationships/image"/><Relationship Id="rId13" Target="../media/image36.svg" Type="http://schemas.openxmlformats.org/officeDocument/2006/relationships/image"/><Relationship Id="rId14" Target="../media/image37.png" Type="http://schemas.openxmlformats.org/officeDocument/2006/relationships/image"/><Relationship Id="rId15" Target="../media/image3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3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312014" y="3532270"/>
            <a:ext cx="13663973" cy="2062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08"/>
              </a:lnSpc>
            </a:pPr>
            <a:r>
              <a:rPr lang="en-US" b="true" sz="12602" spc="63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PROYECTO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06417" y="7712678"/>
            <a:ext cx="5675166" cy="32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Presentación final Capstone</a:t>
            </a:r>
          </a:p>
        </p:txBody>
      </p:sp>
      <p:sp>
        <p:nvSpPr>
          <p:cNvPr name="TextBox 16" id="16"/>
          <p:cNvSpPr txBox="true"/>
          <p:nvPr/>
        </p:nvSpPr>
        <p:spPr>
          <a:xfrm rot="-17737">
            <a:off x="14201031" y="1415891"/>
            <a:ext cx="2622496" cy="24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39"/>
              </a:lnSpc>
              <a:spcBef>
                <a:spcPct val="0"/>
              </a:spcBef>
            </a:pPr>
            <a:r>
              <a:rPr lang="en-US" sz="1457" spc="91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Diciembre 2025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12014" y="2477718"/>
            <a:ext cx="13663973" cy="139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89"/>
              </a:lnSpc>
            </a:pPr>
            <a:r>
              <a:rPr lang="en-US" sz="8541" spc="42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PROPUESTA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97630" y="5423144"/>
            <a:ext cx="781585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2740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“JuntaActiva”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1948494" y="3903589"/>
            <a:ext cx="3195946" cy="3523271"/>
            <a:chOff x="0" y="0"/>
            <a:chExt cx="4261261" cy="4697695"/>
          </a:xfrm>
        </p:grpSpPr>
        <p:pic>
          <p:nvPicPr>
            <p:cNvPr name="Picture 13" id="13"/>
            <p:cNvPicPr>
              <a:picLocks noChangeAspect="true"/>
            </p:cNvPicPr>
            <p:nvPr/>
          </p:nvPicPr>
          <p:blipFill>
            <a:blip r:embed="rId2"/>
            <a:srcRect l="19664" t="11330" r="11431" b="33217"/>
            <a:stretch>
              <a:fillRect/>
            </a:stretch>
          </p:blipFill>
          <p:spPr>
            <a:xfrm flipH="false" flipV="false">
              <a:off x="0" y="0"/>
              <a:ext cx="4261261" cy="4697695"/>
            </a:xfrm>
            <a:prstGeom prst="rect">
              <a:avLst/>
            </a:prstGeom>
          </p:spPr>
        </p:pic>
      </p:grpSp>
      <p:grpSp>
        <p:nvGrpSpPr>
          <p:cNvPr name="Group 14" id="14"/>
          <p:cNvGrpSpPr/>
          <p:nvPr/>
        </p:nvGrpSpPr>
        <p:grpSpPr>
          <a:xfrm rot="0">
            <a:off x="7220095" y="3903589"/>
            <a:ext cx="3195946" cy="3523271"/>
            <a:chOff x="0" y="0"/>
            <a:chExt cx="4261261" cy="4697695"/>
          </a:xfrm>
        </p:grpSpPr>
        <p:pic>
          <p:nvPicPr>
            <p:cNvPr name="Picture 15" id="15"/>
            <p:cNvPicPr>
              <a:picLocks noChangeAspect="true"/>
            </p:cNvPicPr>
            <p:nvPr/>
          </p:nvPicPr>
          <p:blipFill>
            <a:blip r:embed="rId3"/>
            <a:srcRect l="7863" t="13800" r="27600" b="55073"/>
            <a:stretch>
              <a:fillRect/>
            </a:stretch>
          </p:blipFill>
          <p:spPr>
            <a:xfrm flipH="false" flipV="false">
              <a:off x="0" y="0"/>
              <a:ext cx="4261261" cy="4697695"/>
            </a:xfrm>
            <a:prstGeom prst="rect">
              <a:avLst/>
            </a:prstGeom>
          </p:spPr>
        </p:pic>
      </p:grpSp>
      <p:grpSp>
        <p:nvGrpSpPr>
          <p:cNvPr name="Group 16" id="16"/>
          <p:cNvGrpSpPr/>
          <p:nvPr/>
        </p:nvGrpSpPr>
        <p:grpSpPr>
          <a:xfrm rot="0">
            <a:off x="12965852" y="3903589"/>
            <a:ext cx="3195946" cy="3523271"/>
            <a:chOff x="0" y="0"/>
            <a:chExt cx="4261261" cy="4697695"/>
          </a:xfrm>
        </p:grpSpPr>
        <p:pic>
          <p:nvPicPr>
            <p:cNvPr name="Picture 17" id="17"/>
            <p:cNvPicPr>
              <a:picLocks noChangeAspect="true"/>
            </p:cNvPicPr>
            <p:nvPr/>
          </p:nvPicPr>
          <p:blipFill>
            <a:blip r:embed="rId4"/>
            <a:srcRect l="0" t="2523" r="0" b="17000"/>
            <a:stretch>
              <a:fillRect/>
            </a:stretch>
          </p:blipFill>
          <p:spPr>
            <a:xfrm flipH="false" flipV="false">
              <a:off x="0" y="0"/>
              <a:ext cx="4261261" cy="4697695"/>
            </a:xfrm>
            <a:prstGeom prst="rect">
              <a:avLst/>
            </a:prstGeom>
          </p:spPr>
        </p:pic>
      </p:grpSp>
      <p:sp>
        <p:nvSpPr>
          <p:cNvPr name="TextBox 18" id="18"/>
          <p:cNvSpPr txBox="true"/>
          <p:nvPr/>
        </p:nvSpPr>
        <p:spPr>
          <a:xfrm rot="0">
            <a:off x="1645060" y="2043634"/>
            <a:ext cx="15016929" cy="101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9"/>
              </a:lnSpc>
            </a:pPr>
            <a:r>
              <a:rPr lang="en-US" b="true" sz="6920" spc="222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EQUIPO DE TRABAJO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48494" y="7860187"/>
            <a:ext cx="2930775" cy="361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0"/>
              </a:lnSpc>
            </a:pPr>
            <a:r>
              <a:rPr lang="en-US" sz="243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Matías Contreras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352681" y="7860187"/>
            <a:ext cx="2930775" cy="361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0"/>
              </a:lnSpc>
            </a:pPr>
            <a:r>
              <a:rPr lang="en-US" sz="243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Danae Ugarte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98438" y="7860187"/>
            <a:ext cx="2930775" cy="361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0"/>
              </a:lnSpc>
            </a:pPr>
            <a:r>
              <a:rPr lang="en-US" sz="243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Elías López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48494" y="8314187"/>
            <a:ext cx="2930775" cy="214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6"/>
              </a:lnSpc>
            </a:pPr>
            <a:r>
              <a:rPr lang="en-US" sz="1101" spc="26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JEFE DE EQUIPO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52681" y="8397716"/>
            <a:ext cx="2930775" cy="214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6"/>
              </a:lnSpc>
            </a:pPr>
            <a:r>
              <a:rPr lang="en-US" sz="1101" spc="26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MIEMBRO DEL EQUIPÒ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098438" y="8314187"/>
            <a:ext cx="2930775" cy="214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6"/>
              </a:lnSpc>
            </a:pPr>
            <a:r>
              <a:rPr lang="en-US" sz="1101" spc="26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MIEMBRO DEL EQUIPÒ</a:t>
            </a:r>
          </a:p>
        </p:txBody>
      </p:sp>
      <p:sp>
        <p:nvSpPr>
          <p:cNvPr name="TextBox 25" id="25"/>
          <p:cNvSpPr txBox="true"/>
          <p:nvPr/>
        </p:nvSpPr>
        <p:spPr>
          <a:xfrm rot="-17737">
            <a:off x="7792921" y="1321405"/>
            <a:ext cx="2622496" cy="24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9"/>
              </a:lnSpc>
              <a:spcBef>
                <a:spcPct val="0"/>
              </a:spcBef>
            </a:pPr>
            <a:r>
              <a:rPr lang="en-US" sz="1457" spc="91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JuntaActiva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23082"/>
            <a:ext cx="17451709" cy="9630621"/>
            <a:chOff x="0" y="0"/>
            <a:chExt cx="23268945" cy="1284082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62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30679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70297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1362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69"/>
                  </a:lnTo>
                  <a:lnTo>
                    <a:pt x="0" y="4439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5400000">
              <a:off x="18828976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156772" y="2542416"/>
            <a:ext cx="11974456" cy="2014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9"/>
              </a:lnSpc>
            </a:pPr>
            <a:r>
              <a:rPr lang="en-US" b="true" sz="6920" spc="2228">
                <a:solidFill>
                  <a:srgbClr val="27403B"/>
                </a:solidFill>
                <a:latin typeface="Raleway Bold"/>
                <a:ea typeface="Raleway Bold"/>
                <a:cs typeface="Raleway Bold"/>
                <a:sym typeface="Raleway Bold"/>
              </a:rPr>
              <a:t>DESCRIPCIÓN DEL PROYECTO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54465" y="6290644"/>
            <a:ext cx="5753683" cy="201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19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Las juntas de vecinos enfrentan desafíos significativos en su gestión debido a la ausencia de un sistema digital centralizado para procesos administrativos y comunitarios.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56584" y="5577168"/>
            <a:ext cx="795763" cy="44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708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59046" y="5577168"/>
            <a:ext cx="795763" cy="44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44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56927" y="6290644"/>
            <a:ext cx="5702453" cy="160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19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 solución a esta problemática es la implementación de un Sistema Digital Centralizado diseñado para optimizar la gestión integral de las juntas de vecinos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061719" y="5577168"/>
            <a:ext cx="6197102" cy="41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0"/>
              </a:lnSpc>
            </a:pPr>
            <a:r>
              <a:rPr lang="en-US" b="true" sz="2754" spc="70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PROBLEMA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94446" y="5577168"/>
            <a:ext cx="6904037" cy="41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0"/>
              </a:lnSpc>
            </a:pPr>
            <a:r>
              <a:rPr lang="en-US" b="true" sz="2754" spc="70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PROPUESTA A SOLUCIÓN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23082"/>
            <a:ext cx="17451709" cy="9630621"/>
            <a:chOff x="0" y="0"/>
            <a:chExt cx="23268945" cy="1284082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62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30679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70297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1362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69"/>
                  </a:lnTo>
                  <a:lnTo>
                    <a:pt x="0" y="4439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5400000">
              <a:off x="18828976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56455" y="3642693"/>
            <a:ext cx="5103815" cy="5448302"/>
            <a:chOff x="0" y="0"/>
            <a:chExt cx="1344215" cy="14349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4215" cy="1434944"/>
            </a:xfrm>
            <a:custGeom>
              <a:avLst/>
              <a:gdLst/>
              <a:ahLst/>
              <a:cxnLst/>
              <a:rect r="r" b="b" t="t" l="l"/>
              <a:pathLst>
                <a:path h="1434944" w="1344215">
                  <a:moveTo>
                    <a:pt x="1264796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1355526"/>
                  </a:lnTo>
                  <a:cubicBezTo>
                    <a:pt x="43699" y="1355526"/>
                    <a:pt x="79418" y="1390865"/>
                    <a:pt x="79418" y="1434944"/>
                  </a:cubicBezTo>
                  <a:lnTo>
                    <a:pt x="1264796" y="1434944"/>
                  </a:lnTo>
                  <a:cubicBezTo>
                    <a:pt x="1264796" y="1391244"/>
                    <a:pt x="1300135" y="1355526"/>
                    <a:pt x="1344215" y="1355526"/>
                  </a:cubicBezTo>
                  <a:lnTo>
                    <a:pt x="1344215" y="79418"/>
                  </a:lnTo>
                  <a:cubicBezTo>
                    <a:pt x="1300515" y="79418"/>
                    <a:pt x="1264796" y="44079"/>
                    <a:pt x="1264796" y="0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38100" y="9525"/>
              <a:ext cx="1268015" cy="1387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459046" y="5577168"/>
            <a:ext cx="795763" cy="44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44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02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53652" y="3642693"/>
            <a:ext cx="5103815" cy="5448302"/>
            <a:chOff x="0" y="0"/>
            <a:chExt cx="1344215" cy="14349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4215" cy="1434944"/>
            </a:xfrm>
            <a:custGeom>
              <a:avLst/>
              <a:gdLst/>
              <a:ahLst/>
              <a:cxnLst/>
              <a:rect r="r" b="b" t="t" l="l"/>
              <a:pathLst>
                <a:path h="1434944" w="1344215">
                  <a:moveTo>
                    <a:pt x="1264796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1355526"/>
                  </a:lnTo>
                  <a:cubicBezTo>
                    <a:pt x="43699" y="1355526"/>
                    <a:pt x="79418" y="1390865"/>
                    <a:pt x="79418" y="1434944"/>
                  </a:cubicBezTo>
                  <a:lnTo>
                    <a:pt x="1264796" y="1434944"/>
                  </a:lnTo>
                  <a:cubicBezTo>
                    <a:pt x="1264796" y="1391244"/>
                    <a:pt x="1300135" y="1355526"/>
                    <a:pt x="1344215" y="1355526"/>
                  </a:cubicBezTo>
                  <a:lnTo>
                    <a:pt x="1344215" y="79418"/>
                  </a:lnTo>
                  <a:cubicBezTo>
                    <a:pt x="1300515" y="79418"/>
                    <a:pt x="1264796" y="44079"/>
                    <a:pt x="1264796" y="0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38100" y="9525"/>
              <a:ext cx="1268015" cy="1387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064169" y="3642693"/>
            <a:ext cx="5103815" cy="5448302"/>
            <a:chOff x="0" y="0"/>
            <a:chExt cx="1344215" cy="14349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44215" cy="1434944"/>
            </a:xfrm>
            <a:custGeom>
              <a:avLst/>
              <a:gdLst/>
              <a:ahLst/>
              <a:cxnLst/>
              <a:rect r="r" b="b" t="t" l="l"/>
              <a:pathLst>
                <a:path h="1434944" w="1344215">
                  <a:moveTo>
                    <a:pt x="1264796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1355526"/>
                  </a:lnTo>
                  <a:cubicBezTo>
                    <a:pt x="43699" y="1355526"/>
                    <a:pt x="79418" y="1390865"/>
                    <a:pt x="79418" y="1434944"/>
                  </a:cubicBezTo>
                  <a:lnTo>
                    <a:pt x="1264796" y="1434944"/>
                  </a:lnTo>
                  <a:cubicBezTo>
                    <a:pt x="1264796" y="1391244"/>
                    <a:pt x="1300135" y="1355526"/>
                    <a:pt x="1344215" y="1355526"/>
                  </a:cubicBezTo>
                  <a:lnTo>
                    <a:pt x="1344215" y="79418"/>
                  </a:lnTo>
                  <a:cubicBezTo>
                    <a:pt x="1300515" y="79418"/>
                    <a:pt x="1264796" y="44079"/>
                    <a:pt x="1264796" y="0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38100" y="9525"/>
              <a:ext cx="1268015" cy="1387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7015866" y="4072079"/>
            <a:ext cx="4179387" cy="71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b="true" sz="2454" spc="628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VECINOS MAYORES DE 14 AÑOS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2279089" y="5112348"/>
            <a:ext cx="265854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Administradores</a:t>
            </a:r>
          </a:p>
        </p:txBody>
      </p:sp>
      <p:sp>
        <p:nvSpPr>
          <p:cNvPr name="AutoShape 27" id="27"/>
          <p:cNvSpPr/>
          <p:nvPr/>
        </p:nvSpPr>
        <p:spPr>
          <a:xfrm>
            <a:off x="1028700" y="5119343"/>
            <a:ext cx="5131570" cy="0"/>
          </a:xfrm>
          <a:prstGeom prst="line">
            <a:avLst/>
          </a:prstGeom>
          <a:ln cap="flat" w="38100">
            <a:solidFill>
              <a:srgbClr val="50848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6596855" y="5119343"/>
            <a:ext cx="5104043" cy="5108"/>
          </a:xfrm>
          <a:prstGeom prst="line">
            <a:avLst/>
          </a:prstGeom>
          <a:ln cap="flat" w="38100">
            <a:solidFill>
              <a:srgbClr val="50848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V="true">
            <a:off x="12095655" y="5145340"/>
            <a:ext cx="5104043" cy="5108"/>
          </a:xfrm>
          <a:prstGeom prst="line">
            <a:avLst/>
          </a:prstGeom>
          <a:ln cap="flat" w="38100">
            <a:solidFill>
              <a:srgbClr val="50848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3118332" y="1256607"/>
            <a:ext cx="11974456" cy="2014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9"/>
              </a:lnSpc>
            </a:pPr>
            <a:r>
              <a:rPr lang="en-US" b="true" sz="6920" spc="222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PÚBLICO OBJETIVO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18669" y="3888860"/>
            <a:ext cx="4179387" cy="1066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b="true" sz="2454" spc="628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DIRECTORIO JUNTA DE VECINOS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52817" y="3888860"/>
            <a:ext cx="4179387" cy="1066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b="true" sz="2454" spc="628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HABITANTES DE LA COMUNIDAD EN GENERAL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553652" y="5112348"/>
            <a:ext cx="5103815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Usuarios activos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090603" y="5112348"/>
            <a:ext cx="5103815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Público abierto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246780" y="5961329"/>
            <a:ext cx="4723165" cy="211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6172" indent="-328086" lvl="1">
              <a:lnSpc>
                <a:spcPts val="4254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Gestión de trámites</a:t>
            </a:r>
          </a:p>
          <a:p>
            <a:pPr algn="l">
              <a:lnSpc>
                <a:spcPts val="4254"/>
              </a:lnSpc>
            </a:pPr>
          </a:p>
          <a:p>
            <a:pPr algn="l" marL="656172" indent="-328086" lvl="1">
              <a:lnSpc>
                <a:spcPts val="4254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Funcionamiento interno de la junta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787180" y="5961329"/>
            <a:ext cx="4723165" cy="211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6172" indent="-328086" lvl="1">
              <a:lnSpc>
                <a:spcPts val="4254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Realización de certificados</a:t>
            </a:r>
          </a:p>
          <a:p>
            <a:pPr algn="l">
              <a:lnSpc>
                <a:spcPts val="4254"/>
              </a:lnSpc>
            </a:pPr>
          </a:p>
          <a:p>
            <a:pPr algn="l" marL="656172" indent="-328086" lvl="1">
              <a:lnSpc>
                <a:spcPts val="4254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Proyectos / Eventos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286117" y="5961329"/>
            <a:ext cx="4723165" cy="3180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6172" indent="-328086" lvl="1">
              <a:lnSpc>
                <a:spcPts val="4254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Consultar noticias</a:t>
            </a:r>
          </a:p>
          <a:p>
            <a:pPr algn="l">
              <a:lnSpc>
                <a:spcPts val="4254"/>
              </a:lnSpc>
            </a:pPr>
          </a:p>
          <a:p>
            <a:pPr algn="l" marL="656172" indent="-328086" lvl="1">
              <a:lnSpc>
                <a:spcPts val="4254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Realización de certificados</a:t>
            </a:r>
          </a:p>
          <a:p>
            <a:pPr algn="l">
              <a:lnSpc>
                <a:spcPts val="4254"/>
              </a:lnSpc>
            </a:pPr>
          </a:p>
          <a:p>
            <a:pPr algn="l">
              <a:lnSpc>
                <a:spcPts val="4254"/>
              </a:lnSpc>
            </a:pPr>
          </a:p>
        </p:txBody>
      </p:sp>
      <p:sp>
        <p:nvSpPr>
          <p:cNvPr name="AutoShape 39" id="39"/>
          <p:cNvSpPr/>
          <p:nvPr/>
        </p:nvSpPr>
        <p:spPr>
          <a:xfrm>
            <a:off x="1012507" y="5624793"/>
            <a:ext cx="5131570" cy="0"/>
          </a:xfrm>
          <a:prstGeom prst="line">
            <a:avLst/>
          </a:prstGeom>
          <a:ln cap="flat" w="38100">
            <a:solidFill>
              <a:srgbClr val="50848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6553652" y="5643843"/>
            <a:ext cx="5131570" cy="0"/>
          </a:xfrm>
          <a:prstGeom prst="line">
            <a:avLst/>
          </a:prstGeom>
          <a:ln cap="flat" w="38100">
            <a:solidFill>
              <a:srgbClr val="50848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>
            <a:off x="12068128" y="5624793"/>
            <a:ext cx="5131570" cy="0"/>
          </a:xfrm>
          <a:prstGeom prst="line">
            <a:avLst/>
          </a:prstGeom>
          <a:ln cap="flat" w="38100">
            <a:solidFill>
              <a:srgbClr val="50848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747488" y="3545607"/>
            <a:ext cx="3640964" cy="4216187"/>
            <a:chOff x="0" y="0"/>
            <a:chExt cx="4854618" cy="5621582"/>
          </a:xfrm>
        </p:grpSpPr>
        <p:pic>
          <p:nvPicPr>
            <p:cNvPr name="Picture 14" id="14"/>
            <p:cNvPicPr>
              <a:picLocks noChangeAspect="true"/>
            </p:cNvPicPr>
            <p:nvPr/>
          </p:nvPicPr>
          <p:blipFill>
            <a:blip r:embed="rId4"/>
            <a:srcRect l="6821" t="0" r="6821" b="0"/>
            <a:stretch>
              <a:fillRect/>
            </a:stretch>
          </p:blipFill>
          <p:spPr>
            <a:xfrm flipH="false" flipV="false">
              <a:off x="0" y="0"/>
              <a:ext cx="4854618" cy="5621582"/>
            </a:xfrm>
            <a:prstGeom prst="rect">
              <a:avLst/>
            </a:prstGeom>
          </p:spPr>
        </p:pic>
      </p:grpSp>
      <p:sp>
        <p:nvSpPr>
          <p:cNvPr name="TextBox 15" id="15"/>
          <p:cNvSpPr txBox="true"/>
          <p:nvPr/>
        </p:nvSpPr>
        <p:spPr>
          <a:xfrm rot="0">
            <a:off x="1840087" y="2582898"/>
            <a:ext cx="7588554" cy="2014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9"/>
              </a:lnSpc>
            </a:pPr>
            <a:r>
              <a:rPr lang="en-US" b="true" sz="6920" spc="222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OBJETIVO GENERAL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57287" y="5093084"/>
            <a:ext cx="6986713" cy="1111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8"/>
              </a:lnSpc>
            </a:pPr>
            <a:r>
              <a:rPr lang="en-US" sz="24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Mejorar la gestión, diseñar e implementar un sistema que fomente la participación comunitaria en la juntas de vecinos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17530" y="6690566"/>
            <a:ext cx="6986713" cy="11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0"/>
              </a:lnSpc>
            </a:pPr>
            <a:r>
              <a:rPr lang="en-US" sz="25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¿Cómo?</a:t>
            </a:r>
            <a:r>
              <a:rPr lang="en-US" sz="2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Resolviendo las ineficiencias causadas por los trámites manuales, la duplicidad y las barreras de comunicación.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23082"/>
            <a:ext cx="17451709" cy="9643754"/>
            <a:chOff x="0" y="0"/>
            <a:chExt cx="23268945" cy="1285833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62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30679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70297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400858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362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69"/>
                  </a:lnTo>
                  <a:lnTo>
                    <a:pt x="0" y="4439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5400000">
              <a:off x="18828976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5400000">
              <a:off x="0" y="8418368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866360" y="2747252"/>
            <a:ext cx="2842329" cy="2842329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733382" y="812800"/>
                  </a:lnTo>
                  <a:cubicBezTo>
                    <a:pt x="733382" y="769101"/>
                    <a:pt x="768721" y="733382"/>
                    <a:pt x="812800" y="733382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38100" y="-19050"/>
              <a:ext cx="736600" cy="793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4"/>
                </a:lnSpc>
              </a:pPr>
              <a:r>
                <a:rPr lang="en-US" b="true" sz="2574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Inicio registro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823040" y="6172200"/>
            <a:ext cx="2464484" cy="246448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733382" y="812800"/>
                  </a:lnTo>
                  <a:cubicBezTo>
                    <a:pt x="733382" y="769101"/>
                    <a:pt x="768721" y="733382"/>
                    <a:pt x="812800" y="733382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38100" y="0"/>
              <a:ext cx="736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4"/>
                </a:lnSpc>
              </a:pPr>
              <a:r>
                <a:rPr lang="en-US" b="true" sz="2174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Panel administrativo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144462" y="6172200"/>
            <a:ext cx="2464484" cy="2464484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733382" y="812800"/>
                  </a:lnTo>
                  <a:cubicBezTo>
                    <a:pt x="733382" y="769101"/>
                    <a:pt x="768721" y="733382"/>
                    <a:pt x="812800" y="733382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38100" y="0"/>
              <a:ext cx="736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4"/>
                </a:lnSpc>
              </a:pPr>
              <a:r>
                <a:rPr lang="en-US" b="true" sz="2174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Interfcaz simple y responsiva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466196" y="6172200"/>
            <a:ext cx="2464484" cy="246448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733382" y="812800"/>
                  </a:lnTo>
                  <a:cubicBezTo>
                    <a:pt x="733382" y="769101"/>
                    <a:pt x="768721" y="733382"/>
                    <a:pt x="812800" y="733382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38100" y="0"/>
              <a:ext cx="736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4"/>
                </a:lnSpc>
              </a:pPr>
              <a:r>
                <a:rPr lang="en-US" b="true" sz="2174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Base de datos ordenadas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787930" y="6172200"/>
            <a:ext cx="2464484" cy="2464484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733382" y="812800"/>
                  </a:lnTo>
                  <a:cubicBezTo>
                    <a:pt x="733382" y="769101"/>
                    <a:pt x="768721" y="733382"/>
                    <a:pt x="812800" y="733382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38100" y="0"/>
              <a:ext cx="736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4"/>
                </a:lnSpc>
              </a:pPr>
              <a:r>
                <a:rPr lang="en-US" b="true" sz="2174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Publicación de noticias y actividades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684395" y="2747252"/>
            <a:ext cx="2842329" cy="2842329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733382" y="812800"/>
                  </a:lnTo>
                  <a:cubicBezTo>
                    <a:pt x="733382" y="769101"/>
                    <a:pt x="768721" y="733382"/>
                    <a:pt x="812800" y="733382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38100" y="-19050"/>
              <a:ext cx="736600" cy="793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4"/>
                </a:lnSpc>
              </a:pPr>
              <a:r>
                <a:rPr lang="en-US" b="true" sz="2574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Envío de solicitud y certificados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498274" y="2747252"/>
            <a:ext cx="2842329" cy="2842329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733382" y="812800"/>
                  </a:lnTo>
                  <a:cubicBezTo>
                    <a:pt x="733382" y="769101"/>
                    <a:pt x="768721" y="733382"/>
                    <a:pt x="812800" y="733382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38100" y="-19050"/>
              <a:ext cx="736600" cy="793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4"/>
                </a:lnSpc>
              </a:pPr>
              <a:r>
                <a:rPr lang="en-US" b="true" sz="2574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Reservas de espacios comunitarios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6207707" y="2517584"/>
            <a:ext cx="1001963" cy="898123"/>
          </a:xfrm>
          <a:custGeom>
            <a:avLst/>
            <a:gdLst/>
            <a:ahLst/>
            <a:cxnLst/>
            <a:rect r="r" b="b" t="t" l="l"/>
            <a:pathLst>
              <a:path h="898123" w="1001963">
                <a:moveTo>
                  <a:pt x="0" y="0"/>
                </a:moveTo>
                <a:lnTo>
                  <a:pt x="1001963" y="0"/>
                </a:lnTo>
                <a:lnTo>
                  <a:pt x="1001963" y="898123"/>
                </a:lnTo>
                <a:lnTo>
                  <a:pt x="0" y="8981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9777037" y="2517584"/>
            <a:ext cx="749687" cy="749687"/>
          </a:xfrm>
          <a:custGeom>
            <a:avLst/>
            <a:gdLst/>
            <a:ahLst/>
            <a:cxnLst/>
            <a:rect r="r" b="b" t="t" l="l"/>
            <a:pathLst>
              <a:path h="749687" w="749687">
                <a:moveTo>
                  <a:pt x="0" y="0"/>
                </a:moveTo>
                <a:lnTo>
                  <a:pt x="749687" y="0"/>
                </a:lnTo>
                <a:lnTo>
                  <a:pt x="749687" y="749687"/>
                </a:lnTo>
                <a:lnTo>
                  <a:pt x="0" y="7496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3846641" y="2517584"/>
            <a:ext cx="987925" cy="950204"/>
          </a:xfrm>
          <a:custGeom>
            <a:avLst/>
            <a:gdLst/>
            <a:ahLst/>
            <a:cxnLst/>
            <a:rect r="r" b="b" t="t" l="l"/>
            <a:pathLst>
              <a:path h="950204" w="987925">
                <a:moveTo>
                  <a:pt x="0" y="0"/>
                </a:moveTo>
                <a:lnTo>
                  <a:pt x="987924" y="0"/>
                </a:lnTo>
                <a:lnTo>
                  <a:pt x="987924" y="950204"/>
                </a:lnTo>
                <a:lnTo>
                  <a:pt x="0" y="9502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4599110" y="5884856"/>
            <a:ext cx="846772" cy="846772"/>
          </a:xfrm>
          <a:custGeom>
            <a:avLst/>
            <a:gdLst/>
            <a:ahLst/>
            <a:cxnLst/>
            <a:rect r="r" b="b" t="t" l="l"/>
            <a:pathLst>
              <a:path h="846772" w="846772">
                <a:moveTo>
                  <a:pt x="0" y="0"/>
                </a:moveTo>
                <a:lnTo>
                  <a:pt x="846772" y="0"/>
                </a:lnTo>
                <a:lnTo>
                  <a:pt x="846772" y="846772"/>
                </a:lnTo>
                <a:lnTo>
                  <a:pt x="0" y="8467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8076715" y="6006788"/>
            <a:ext cx="742387" cy="724840"/>
          </a:xfrm>
          <a:custGeom>
            <a:avLst/>
            <a:gdLst/>
            <a:ahLst/>
            <a:cxnLst/>
            <a:rect r="r" b="b" t="t" l="l"/>
            <a:pathLst>
              <a:path h="724840" w="742387">
                <a:moveTo>
                  <a:pt x="0" y="0"/>
                </a:moveTo>
                <a:lnTo>
                  <a:pt x="742387" y="0"/>
                </a:lnTo>
                <a:lnTo>
                  <a:pt x="742387" y="724840"/>
                </a:lnTo>
                <a:lnTo>
                  <a:pt x="0" y="72484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1427830" y="6006788"/>
            <a:ext cx="833054" cy="830025"/>
          </a:xfrm>
          <a:custGeom>
            <a:avLst/>
            <a:gdLst/>
            <a:ahLst/>
            <a:cxnLst/>
            <a:rect r="r" b="b" t="t" l="l"/>
            <a:pathLst>
              <a:path h="830025" w="833054">
                <a:moveTo>
                  <a:pt x="0" y="0"/>
                </a:moveTo>
                <a:lnTo>
                  <a:pt x="833054" y="0"/>
                </a:lnTo>
                <a:lnTo>
                  <a:pt x="833054" y="830025"/>
                </a:lnTo>
                <a:lnTo>
                  <a:pt x="0" y="8300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4806107" y="5944198"/>
            <a:ext cx="892615" cy="892615"/>
          </a:xfrm>
          <a:custGeom>
            <a:avLst/>
            <a:gdLst/>
            <a:ahLst/>
            <a:cxnLst/>
            <a:rect r="r" b="b" t="t" l="l"/>
            <a:pathLst>
              <a:path h="892615" w="892615">
                <a:moveTo>
                  <a:pt x="0" y="0"/>
                </a:moveTo>
                <a:lnTo>
                  <a:pt x="892615" y="0"/>
                </a:lnTo>
                <a:lnTo>
                  <a:pt x="892615" y="892615"/>
                </a:lnTo>
                <a:lnTo>
                  <a:pt x="0" y="89261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635535" y="1434207"/>
            <a:ext cx="15016929" cy="101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9"/>
              </a:lnSpc>
            </a:pPr>
            <a:r>
              <a:rPr lang="en-US" b="true" sz="6920" spc="222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ALCANCE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0180" y="323082"/>
            <a:ext cx="17451709" cy="9643754"/>
            <a:chOff x="0" y="0"/>
            <a:chExt cx="23268945" cy="1285833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62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30679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70297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400858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362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69"/>
                  </a:lnTo>
                  <a:lnTo>
                    <a:pt x="0" y="4439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5400000">
              <a:off x="18828976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5400000">
              <a:off x="0" y="8418368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866360" y="2747252"/>
            <a:ext cx="2842329" cy="2842329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733382" y="812800"/>
                  </a:lnTo>
                  <a:cubicBezTo>
                    <a:pt x="733382" y="769101"/>
                    <a:pt x="768721" y="733382"/>
                    <a:pt x="812800" y="733382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38100" y="-19050"/>
              <a:ext cx="736600" cy="793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4"/>
                </a:lnSpc>
              </a:pPr>
              <a:r>
                <a:rPr lang="en-US" b="true" sz="2574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Aplicación móvil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684395" y="2747252"/>
            <a:ext cx="2842329" cy="284232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733382" y="812800"/>
                  </a:lnTo>
                  <a:cubicBezTo>
                    <a:pt x="733382" y="769101"/>
                    <a:pt x="768721" y="733382"/>
                    <a:pt x="812800" y="733382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38100" y="-19050"/>
              <a:ext cx="736600" cy="793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4"/>
                </a:lnSpc>
              </a:pPr>
              <a:r>
                <a:rPr lang="en-US" b="true" sz="2574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Integraciones con sistema externos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498274" y="2747252"/>
            <a:ext cx="2842329" cy="2842329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733382" y="812800"/>
                  </a:lnTo>
                  <a:cubicBezTo>
                    <a:pt x="733382" y="769101"/>
                    <a:pt x="768721" y="733382"/>
                    <a:pt x="812800" y="733382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38100" y="-19050"/>
              <a:ext cx="736600" cy="793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4"/>
                </a:lnSpc>
              </a:pPr>
              <a:r>
                <a:rPr lang="en-US" b="true" sz="2574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Firmas digitales. avanzadas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498274" y="6123074"/>
            <a:ext cx="2842329" cy="2842329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733382" y="812800"/>
                  </a:lnTo>
                  <a:cubicBezTo>
                    <a:pt x="733382" y="769101"/>
                    <a:pt x="768721" y="733382"/>
                    <a:pt x="812800" y="733382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38100" y="-19050"/>
              <a:ext cx="736600" cy="793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4"/>
                </a:lnSpc>
              </a:pPr>
              <a:r>
                <a:rPr lang="en-US" b="true" sz="2574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Gráficos o paneles avanzados tipo analítica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684395" y="6123074"/>
            <a:ext cx="2842329" cy="2842329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733382" y="812800"/>
                  </a:lnTo>
                  <a:cubicBezTo>
                    <a:pt x="733382" y="769101"/>
                    <a:pt x="768721" y="733382"/>
                    <a:pt x="812800" y="733382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38100" y="-19050"/>
              <a:ext cx="736600" cy="793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4"/>
                </a:lnSpc>
              </a:pPr>
              <a:r>
                <a:rPr lang="en-US" b="true" sz="2574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Funciones financieras o de pagos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870516" y="6123074"/>
            <a:ext cx="2842329" cy="2842329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733382" y="812800"/>
                  </a:lnTo>
                  <a:cubicBezTo>
                    <a:pt x="733382" y="769101"/>
                    <a:pt x="768721" y="733382"/>
                    <a:pt x="812800" y="733382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38100" y="-19050"/>
              <a:ext cx="736600" cy="793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4"/>
                </a:lnSpc>
              </a:pPr>
              <a:r>
                <a:rPr lang="en-US" b="true" sz="2574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Chat en tiempo real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9947349" y="2309039"/>
            <a:ext cx="1158749" cy="1158749"/>
          </a:xfrm>
          <a:custGeom>
            <a:avLst/>
            <a:gdLst/>
            <a:ahLst/>
            <a:cxnLst/>
            <a:rect r="r" b="b" t="t" l="l"/>
            <a:pathLst>
              <a:path h="1158749" w="1158749">
                <a:moveTo>
                  <a:pt x="0" y="0"/>
                </a:moveTo>
                <a:lnTo>
                  <a:pt x="1158749" y="0"/>
                </a:lnTo>
                <a:lnTo>
                  <a:pt x="1158749" y="1158749"/>
                </a:lnTo>
                <a:lnTo>
                  <a:pt x="0" y="11587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3714059" y="2309039"/>
            <a:ext cx="1104441" cy="937771"/>
          </a:xfrm>
          <a:custGeom>
            <a:avLst/>
            <a:gdLst/>
            <a:ahLst/>
            <a:cxnLst/>
            <a:rect r="r" b="b" t="t" l="l"/>
            <a:pathLst>
              <a:path h="937771" w="1104441">
                <a:moveTo>
                  <a:pt x="0" y="0"/>
                </a:moveTo>
                <a:lnTo>
                  <a:pt x="1104441" y="0"/>
                </a:lnTo>
                <a:lnTo>
                  <a:pt x="1104441" y="937771"/>
                </a:lnTo>
                <a:lnTo>
                  <a:pt x="0" y="9377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5989604" y="5884856"/>
            <a:ext cx="1007095" cy="994278"/>
          </a:xfrm>
          <a:custGeom>
            <a:avLst/>
            <a:gdLst/>
            <a:ahLst/>
            <a:cxnLst/>
            <a:rect r="r" b="b" t="t" l="l"/>
            <a:pathLst>
              <a:path h="994278" w="1007095">
                <a:moveTo>
                  <a:pt x="0" y="0"/>
                </a:moveTo>
                <a:lnTo>
                  <a:pt x="1007095" y="0"/>
                </a:lnTo>
                <a:lnTo>
                  <a:pt x="1007095" y="994277"/>
                </a:lnTo>
                <a:lnTo>
                  <a:pt x="0" y="9942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947349" y="5884856"/>
            <a:ext cx="1031797" cy="994278"/>
          </a:xfrm>
          <a:custGeom>
            <a:avLst/>
            <a:gdLst/>
            <a:ahLst/>
            <a:cxnLst/>
            <a:rect r="r" b="b" t="t" l="l"/>
            <a:pathLst>
              <a:path h="994278" w="1031797">
                <a:moveTo>
                  <a:pt x="0" y="0"/>
                </a:moveTo>
                <a:lnTo>
                  <a:pt x="1031798" y="0"/>
                </a:lnTo>
                <a:lnTo>
                  <a:pt x="1031798" y="994277"/>
                </a:lnTo>
                <a:lnTo>
                  <a:pt x="0" y="9942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5989604" y="2460693"/>
            <a:ext cx="1007095" cy="1007095"/>
          </a:xfrm>
          <a:custGeom>
            <a:avLst/>
            <a:gdLst/>
            <a:ahLst/>
            <a:cxnLst/>
            <a:rect r="r" b="b" t="t" l="l"/>
            <a:pathLst>
              <a:path h="1007095" w="1007095">
                <a:moveTo>
                  <a:pt x="0" y="0"/>
                </a:moveTo>
                <a:lnTo>
                  <a:pt x="1007095" y="0"/>
                </a:lnTo>
                <a:lnTo>
                  <a:pt x="1007095" y="1007095"/>
                </a:lnTo>
                <a:lnTo>
                  <a:pt x="0" y="10070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3674835" y="5951481"/>
            <a:ext cx="1331537" cy="861028"/>
          </a:xfrm>
          <a:custGeom>
            <a:avLst/>
            <a:gdLst/>
            <a:ahLst/>
            <a:cxnLst/>
            <a:rect r="r" b="b" t="t" l="l"/>
            <a:pathLst>
              <a:path h="861028" w="1331537">
                <a:moveTo>
                  <a:pt x="0" y="0"/>
                </a:moveTo>
                <a:lnTo>
                  <a:pt x="1331536" y="0"/>
                </a:lnTo>
                <a:lnTo>
                  <a:pt x="1331536" y="861027"/>
                </a:lnTo>
                <a:lnTo>
                  <a:pt x="0" y="8610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635535" y="1434207"/>
            <a:ext cx="15016929" cy="101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9"/>
              </a:lnSpc>
            </a:pPr>
            <a:r>
              <a:rPr lang="en-US" b="true" sz="6920" spc="222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LIMITACIONES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370180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4114800" cy="12827209"/>
              <a:chOff x="0" y="0"/>
              <a:chExt cx="812800" cy="253377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2533770"/>
              </a:xfrm>
              <a:custGeom>
                <a:avLst/>
                <a:gdLst/>
                <a:ahLst/>
                <a:cxnLst/>
                <a:rect r="r" b="b" t="t" l="l"/>
                <a:pathLst>
                  <a:path h="253377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533770"/>
                    </a:lnTo>
                    <a:lnTo>
                      <a:pt x="0" y="2533770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812800" cy="25623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60545" y="317890"/>
              <a:ext cx="4114800" cy="12139068"/>
              <a:chOff x="0" y="0"/>
              <a:chExt cx="812800" cy="239784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2397841"/>
              </a:xfrm>
              <a:custGeom>
                <a:avLst/>
                <a:gdLst/>
                <a:ahLst/>
                <a:cxnLst/>
                <a:rect r="r" b="b" t="t" l="l"/>
                <a:pathLst>
                  <a:path h="2397841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397841"/>
                    </a:lnTo>
                    <a:lnTo>
                      <a:pt x="0" y="2397841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812800" cy="24264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607108" y="689043"/>
              <a:ext cx="4172145" cy="11422256"/>
              <a:chOff x="0" y="0"/>
              <a:chExt cx="824127" cy="225624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24127" cy="2256248"/>
              </a:xfrm>
              <a:custGeom>
                <a:avLst/>
                <a:gdLst/>
                <a:ahLst/>
                <a:cxnLst/>
                <a:rect r="r" b="b" t="t" l="l"/>
                <a:pathLst>
                  <a:path h="2256248" w="824127">
                    <a:moveTo>
                      <a:pt x="0" y="0"/>
                    </a:moveTo>
                    <a:lnTo>
                      <a:pt x="824127" y="0"/>
                    </a:lnTo>
                    <a:lnTo>
                      <a:pt x="824127" y="2256248"/>
                    </a:lnTo>
                    <a:lnTo>
                      <a:pt x="0" y="2256248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824127" cy="22848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grpSp>
        <p:nvGrpSpPr>
          <p:cNvPr name="Group 21" id="21"/>
          <p:cNvGrpSpPr/>
          <p:nvPr/>
        </p:nvGrpSpPr>
        <p:grpSpPr>
          <a:xfrm rot="0">
            <a:off x="1218032" y="2169712"/>
            <a:ext cx="5608243" cy="7088588"/>
            <a:chOff x="0" y="0"/>
            <a:chExt cx="812800" cy="102734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1027346"/>
            </a:xfrm>
            <a:custGeom>
              <a:avLst/>
              <a:gdLst/>
              <a:ahLst/>
              <a:cxnLst/>
              <a:rect r="r" b="b" t="t" l="l"/>
              <a:pathLst>
                <a:path h="1027346" w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947927"/>
                  </a:lnTo>
                  <a:cubicBezTo>
                    <a:pt x="43699" y="947927"/>
                    <a:pt x="79418" y="983266"/>
                    <a:pt x="79418" y="1027346"/>
                  </a:cubicBezTo>
                  <a:lnTo>
                    <a:pt x="733382" y="1027346"/>
                  </a:lnTo>
                  <a:cubicBezTo>
                    <a:pt x="733382" y="983646"/>
                    <a:pt x="768721" y="947927"/>
                    <a:pt x="812800" y="947927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38100" y="9525"/>
              <a:ext cx="736600" cy="979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graphicFrame>
        <p:nvGraphicFramePr>
          <p:cNvPr name="Object 24" id="24"/>
          <p:cNvGraphicFramePr/>
          <p:nvPr/>
        </p:nvGraphicFramePr>
        <p:xfrm>
          <a:off x="1807194" y="3065262"/>
          <a:ext cx="4257675" cy="3771900"/>
        </p:xfrm>
        <a:graphic>
          <a:graphicData uri="http://schemas.openxmlformats.org/presentationml/2006/ole">
            <p:oleObj imgW="5105400" imgH="4610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25" id="25"/>
          <p:cNvGrpSpPr/>
          <p:nvPr/>
        </p:nvGrpSpPr>
        <p:grpSpPr>
          <a:xfrm rot="0">
            <a:off x="7401641" y="5999888"/>
            <a:ext cx="6314439" cy="1366536"/>
            <a:chOff x="0" y="0"/>
            <a:chExt cx="1231366" cy="26648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31366" cy="266486"/>
            </a:xfrm>
            <a:custGeom>
              <a:avLst/>
              <a:gdLst/>
              <a:ahLst/>
              <a:cxnLst/>
              <a:rect r="r" b="b" t="t" l="l"/>
              <a:pathLst>
                <a:path h="266486" w="1231366">
                  <a:moveTo>
                    <a:pt x="1151948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187067"/>
                  </a:lnTo>
                  <a:cubicBezTo>
                    <a:pt x="43699" y="187067"/>
                    <a:pt x="79418" y="222406"/>
                    <a:pt x="79418" y="266486"/>
                  </a:cubicBezTo>
                  <a:lnTo>
                    <a:pt x="1151948" y="266486"/>
                  </a:lnTo>
                  <a:cubicBezTo>
                    <a:pt x="1151948" y="222786"/>
                    <a:pt x="1187287" y="187067"/>
                    <a:pt x="1231366" y="187067"/>
                  </a:cubicBezTo>
                  <a:lnTo>
                    <a:pt x="1231366" y="79418"/>
                  </a:lnTo>
                  <a:cubicBezTo>
                    <a:pt x="1187667" y="79418"/>
                    <a:pt x="1151948" y="44079"/>
                    <a:pt x="1151948" y="0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38100" y="9525"/>
              <a:ext cx="1155166" cy="218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44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401641" y="2493499"/>
            <a:ext cx="6314439" cy="3220508"/>
            <a:chOff x="0" y="0"/>
            <a:chExt cx="1231366" cy="6280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31366" cy="628025"/>
            </a:xfrm>
            <a:custGeom>
              <a:avLst/>
              <a:gdLst/>
              <a:ahLst/>
              <a:cxnLst/>
              <a:rect r="r" b="b" t="t" l="l"/>
              <a:pathLst>
                <a:path h="628025" w="1231366">
                  <a:moveTo>
                    <a:pt x="1151948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548607"/>
                  </a:lnTo>
                  <a:cubicBezTo>
                    <a:pt x="43699" y="548607"/>
                    <a:pt x="79418" y="583946"/>
                    <a:pt x="79418" y="628025"/>
                  </a:cubicBezTo>
                  <a:lnTo>
                    <a:pt x="1151948" y="628025"/>
                  </a:lnTo>
                  <a:cubicBezTo>
                    <a:pt x="1151948" y="584325"/>
                    <a:pt x="1187287" y="548607"/>
                    <a:pt x="1231366" y="548607"/>
                  </a:cubicBezTo>
                  <a:lnTo>
                    <a:pt x="1231366" y="79418"/>
                  </a:lnTo>
                  <a:cubicBezTo>
                    <a:pt x="1187667" y="79418"/>
                    <a:pt x="1151948" y="44079"/>
                    <a:pt x="1151948" y="0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38100" y="9525"/>
              <a:ext cx="1155166" cy="58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44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764926" y="1236144"/>
            <a:ext cx="12622254" cy="933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2"/>
              </a:lnSpc>
            </a:pPr>
            <a:r>
              <a:rPr lang="en-US" b="true" sz="6265" spc="2017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METODOLOGÍA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913735" y="2231407"/>
            <a:ext cx="4216837" cy="69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b="true">
                <a:solidFill>
                  <a:srgbClr val="2740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Product Backlog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63119" y="2417299"/>
            <a:ext cx="1391484" cy="69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b="true">
                <a:solidFill>
                  <a:srgbClr val="2740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Roles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29233" y="5971181"/>
            <a:ext cx="1659255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2740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453251" y="3284708"/>
            <a:ext cx="6262829" cy="235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3"/>
              </a:lnSpc>
            </a:pPr>
            <a:r>
              <a:rPr lang="en-US" b="true" sz="2679" spc="29">
                <a:solidFill>
                  <a:srgbClr val="2740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Scrum Master: Matías Conteras</a:t>
            </a:r>
          </a:p>
          <a:p>
            <a:pPr algn="ctr">
              <a:lnSpc>
                <a:spcPts val="4743"/>
              </a:lnSpc>
            </a:pPr>
            <a:r>
              <a:rPr lang="en-US" b="true" sz="2679" spc="29">
                <a:solidFill>
                  <a:srgbClr val="2740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Product Owner: Elías López</a:t>
            </a:r>
          </a:p>
          <a:p>
            <a:pPr algn="ctr">
              <a:lnSpc>
                <a:spcPts val="4743"/>
              </a:lnSpc>
            </a:pPr>
            <a:r>
              <a:rPr lang="en-US" b="true" sz="2679" spc="29">
                <a:solidFill>
                  <a:srgbClr val="2740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Tester: Danae Ugarte</a:t>
            </a:r>
          </a:p>
          <a:p>
            <a:pPr algn="ctr">
              <a:lnSpc>
                <a:spcPts val="4743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8000267" y="6616481"/>
            <a:ext cx="5117187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true">
                <a:solidFill>
                  <a:srgbClr val="2740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 sprints + semana final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7401641" y="7756949"/>
            <a:ext cx="6314439" cy="1366536"/>
            <a:chOff x="0" y="0"/>
            <a:chExt cx="1231366" cy="26648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31366" cy="266486"/>
            </a:xfrm>
            <a:custGeom>
              <a:avLst/>
              <a:gdLst/>
              <a:ahLst/>
              <a:cxnLst/>
              <a:rect r="r" b="b" t="t" l="l"/>
              <a:pathLst>
                <a:path h="266486" w="1231366">
                  <a:moveTo>
                    <a:pt x="1151948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187067"/>
                  </a:lnTo>
                  <a:cubicBezTo>
                    <a:pt x="43699" y="187067"/>
                    <a:pt x="79418" y="222406"/>
                    <a:pt x="79418" y="266486"/>
                  </a:cubicBezTo>
                  <a:lnTo>
                    <a:pt x="1151948" y="266486"/>
                  </a:lnTo>
                  <a:cubicBezTo>
                    <a:pt x="1151948" y="222786"/>
                    <a:pt x="1187287" y="187067"/>
                    <a:pt x="1231366" y="187067"/>
                  </a:cubicBezTo>
                  <a:lnTo>
                    <a:pt x="1231366" y="79418"/>
                  </a:lnTo>
                  <a:cubicBezTo>
                    <a:pt x="1187667" y="79418"/>
                    <a:pt x="1151948" y="44079"/>
                    <a:pt x="115194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9" id="39"/>
            <p:cNvSpPr txBox="true"/>
            <p:nvPr/>
          </p:nvSpPr>
          <p:spPr>
            <a:xfrm>
              <a:off x="38100" y="9525"/>
              <a:ext cx="1155166" cy="218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44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279265" y="8091920"/>
            <a:ext cx="2610803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b="true" sz="37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Obstáculos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4114800" cy="12827209"/>
              <a:chOff x="0" y="0"/>
              <a:chExt cx="812800" cy="253377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2533770"/>
              </a:xfrm>
              <a:custGeom>
                <a:avLst/>
                <a:gdLst/>
                <a:ahLst/>
                <a:cxnLst/>
                <a:rect r="r" b="b" t="t" l="l"/>
                <a:pathLst>
                  <a:path h="253377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533770"/>
                    </a:lnTo>
                    <a:lnTo>
                      <a:pt x="0" y="2533770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812800" cy="25623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60545" y="317890"/>
              <a:ext cx="4114800" cy="12139068"/>
              <a:chOff x="0" y="0"/>
              <a:chExt cx="812800" cy="239784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2397841"/>
              </a:xfrm>
              <a:custGeom>
                <a:avLst/>
                <a:gdLst/>
                <a:ahLst/>
                <a:cxnLst/>
                <a:rect r="r" b="b" t="t" l="l"/>
                <a:pathLst>
                  <a:path h="2397841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397841"/>
                    </a:lnTo>
                    <a:lnTo>
                      <a:pt x="0" y="2397841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812800" cy="24264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607108" y="689043"/>
              <a:ext cx="4172145" cy="11422256"/>
              <a:chOff x="0" y="0"/>
              <a:chExt cx="824127" cy="225624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24127" cy="2256248"/>
              </a:xfrm>
              <a:custGeom>
                <a:avLst/>
                <a:gdLst/>
                <a:ahLst/>
                <a:cxnLst/>
                <a:rect r="r" b="b" t="t" l="l"/>
                <a:pathLst>
                  <a:path h="2256248" w="824127">
                    <a:moveTo>
                      <a:pt x="0" y="0"/>
                    </a:moveTo>
                    <a:lnTo>
                      <a:pt x="824127" y="0"/>
                    </a:lnTo>
                    <a:lnTo>
                      <a:pt x="824127" y="2256248"/>
                    </a:lnTo>
                    <a:lnTo>
                      <a:pt x="0" y="2256248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824127" cy="22848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sp>
        <p:nvSpPr>
          <p:cNvPr name="Freeform 21" id="21"/>
          <p:cNvSpPr/>
          <p:nvPr/>
        </p:nvSpPr>
        <p:spPr>
          <a:xfrm flipH="false" flipV="false" rot="0">
            <a:off x="2725153" y="2213615"/>
            <a:ext cx="13032711" cy="7044685"/>
          </a:xfrm>
          <a:custGeom>
            <a:avLst/>
            <a:gdLst/>
            <a:ahLst/>
            <a:cxnLst/>
            <a:rect r="r" b="b" t="t" l="l"/>
            <a:pathLst>
              <a:path h="7044685" w="13032711">
                <a:moveTo>
                  <a:pt x="0" y="0"/>
                </a:moveTo>
                <a:lnTo>
                  <a:pt x="13032711" y="0"/>
                </a:lnTo>
                <a:lnTo>
                  <a:pt x="13032711" y="7044685"/>
                </a:lnTo>
                <a:lnTo>
                  <a:pt x="0" y="70446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9" r="0" b="-759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794432" y="1138315"/>
            <a:ext cx="12622254" cy="107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6"/>
              </a:lnSpc>
            </a:pPr>
            <a:r>
              <a:rPr lang="en-US" b="true" sz="7365" spc="2371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CRONOGRAMA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73263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5400000">
              <a:off x="18828976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818475" y="3600450"/>
            <a:ext cx="3086900" cy="2630884"/>
            <a:chOff x="0" y="0"/>
            <a:chExt cx="953684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3684" cy="812800"/>
            </a:xfrm>
            <a:custGeom>
              <a:avLst/>
              <a:gdLst/>
              <a:ahLst/>
              <a:cxnLst/>
              <a:rect r="r" b="b" t="t" l="l"/>
              <a:pathLst>
                <a:path h="812800" w="953684">
                  <a:moveTo>
                    <a:pt x="874266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874266" y="812800"/>
                  </a:lnTo>
                  <a:cubicBezTo>
                    <a:pt x="874266" y="769101"/>
                    <a:pt x="909605" y="733382"/>
                    <a:pt x="953684" y="733382"/>
                  </a:cubicBezTo>
                  <a:lnTo>
                    <a:pt x="953684" y="79418"/>
                  </a:lnTo>
                  <a:cubicBezTo>
                    <a:pt x="909985" y="79418"/>
                    <a:pt x="874266" y="44079"/>
                    <a:pt x="874266" y="0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38100" y="0"/>
              <a:ext cx="877484" cy="774700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184"/>
                </a:lnSpc>
              </a:pPr>
              <a:r>
                <a:rPr lang="en-US" sz="2274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Front-End Web</a:t>
              </a:r>
            </a:p>
            <a:p>
              <a:pPr algn="ctr">
                <a:lnSpc>
                  <a:spcPts val="3184"/>
                </a:lnSpc>
              </a:pPr>
              <a:r>
                <a:rPr lang="en-US" sz="227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HTML</a:t>
              </a:r>
            </a:p>
            <a:p>
              <a:pPr algn="ctr">
                <a:lnSpc>
                  <a:spcPts val="3184"/>
                </a:lnSpc>
              </a:pPr>
              <a:r>
                <a:rPr lang="en-US" sz="227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CSS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359650" y="3600450"/>
            <a:ext cx="3086900" cy="2630884"/>
            <a:chOff x="0" y="0"/>
            <a:chExt cx="953684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3684" cy="812800"/>
            </a:xfrm>
            <a:custGeom>
              <a:avLst/>
              <a:gdLst/>
              <a:ahLst/>
              <a:cxnLst/>
              <a:rect r="r" b="b" t="t" l="l"/>
              <a:pathLst>
                <a:path h="812800" w="953684">
                  <a:moveTo>
                    <a:pt x="874266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874266" y="812800"/>
                  </a:lnTo>
                  <a:cubicBezTo>
                    <a:pt x="874266" y="769101"/>
                    <a:pt x="909605" y="733382"/>
                    <a:pt x="953684" y="733382"/>
                  </a:cubicBezTo>
                  <a:lnTo>
                    <a:pt x="953684" y="79418"/>
                  </a:lnTo>
                  <a:cubicBezTo>
                    <a:pt x="909985" y="79418"/>
                    <a:pt x="874266" y="44079"/>
                    <a:pt x="874266" y="0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38100" y="0"/>
              <a:ext cx="877484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4"/>
                </a:lnSpc>
              </a:pPr>
              <a:r>
                <a:rPr lang="en-US" sz="2274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Back-End</a:t>
              </a:r>
            </a:p>
            <a:p>
              <a:pPr algn="ctr">
                <a:lnSpc>
                  <a:spcPts val="3184"/>
                </a:lnSpc>
              </a:pPr>
              <a:r>
                <a:rPr lang="en-US" sz="227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Django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903999" y="3600450"/>
            <a:ext cx="3086900" cy="2630884"/>
            <a:chOff x="0" y="0"/>
            <a:chExt cx="953684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53684" cy="812800"/>
            </a:xfrm>
            <a:custGeom>
              <a:avLst/>
              <a:gdLst/>
              <a:ahLst/>
              <a:cxnLst/>
              <a:rect r="r" b="b" t="t" l="l"/>
              <a:pathLst>
                <a:path h="812800" w="953684">
                  <a:moveTo>
                    <a:pt x="874266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874266" y="812800"/>
                  </a:lnTo>
                  <a:cubicBezTo>
                    <a:pt x="874266" y="769101"/>
                    <a:pt x="909605" y="733382"/>
                    <a:pt x="953684" y="733382"/>
                  </a:cubicBezTo>
                  <a:lnTo>
                    <a:pt x="953684" y="79418"/>
                  </a:lnTo>
                  <a:cubicBezTo>
                    <a:pt x="909985" y="79418"/>
                    <a:pt x="874266" y="44079"/>
                    <a:pt x="874266" y="0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38100" y="0"/>
              <a:ext cx="877484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4"/>
                </a:lnSpc>
              </a:pPr>
              <a:r>
                <a:rPr lang="en-US" sz="2274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Base de datos</a:t>
              </a:r>
            </a:p>
            <a:p>
              <a:pPr algn="ctr">
                <a:lnSpc>
                  <a:spcPts val="3184"/>
                </a:lnSpc>
              </a:pPr>
              <a:r>
                <a:rPr lang="en-US" sz="227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MySQL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59729" y="5372500"/>
            <a:ext cx="1217983" cy="1717668"/>
          </a:xfrm>
          <a:custGeom>
            <a:avLst/>
            <a:gdLst/>
            <a:ahLst/>
            <a:cxnLst/>
            <a:rect r="r" b="b" t="t" l="l"/>
            <a:pathLst>
              <a:path h="1717668" w="1217983">
                <a:moveTo>
                  <a:pt x="0" y="0"/>
                </a:moveTo>
                <a:lnTo>
                  <a:pt x="1217983" y="0"/>
                </a:lnTo>
                <a:lnTo>
                  <a:pt x="1217983" y="1717668"/>
                </a:lnTo>
                <a:lnTo>
                  <a:pt x="0" y="1717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685074" y="5593956"/>
            <a:ext cx="1175207" cy="1496212"/>
          </a:xfrm>
          <a:custGeom>
            <a:avLst/>
            <a:gdLst/>
            <a:ahLst/>
            <a:cxnLst/>
            <a:rect r="r" b="b" t="t" l="l"/>
            <a:pathLst>
              <a:path h="1496212" w="1175207">
                <a:moveTo>
                  <a:pt x="0" y="0"/>
                </a:moveTo>
                <a:lnTo>
                  <a:pt x="1175207" y="0"/>
                </a:lnTo>
                <a:lnTo>
                  <a:pt x="1175207" y="1496212"/>
                </a:lnTo>
                <a:lnTo>
                  <a:pt x="0" y="14962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447449" y="5372500"/>
            <a:ext cx="2515784" cy="1321930"/>
          </a:xfrm>
          <a:custGeom>
            <a:avLst/>
            <a:gdLst/>
            <a:ahLst/>
            <a:cxnLst/>
            <a:rect r="r" b="b" t="t" l="l"/>
            <a:pathLst>
              <a:path h="1321930" w="2515784">
                <a:moveTo>
                  <a:pt x="0" y="0"/>
                </a:moveTo>
                <a:lnTo>
                  <a:pt x="2515784" y="0"/>
                </a:lnTo>
                <a:lnTo>
                  <a:pt x="2515784" y="1321930"/>
                </a:lnTo>
                <a:lnTo>
                  <a:pt x="0" y="13219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729573" y="5593956"/>
            <a:ext cx="1433953" cy="1433953"/>
          </a:xfrm>
          <a:custGeom>
            <a:avLst/>
            <a:gdLst/>
            <a:ahLst/>
            <a:cxnLst/>
            <a:rect r="r" b="b" t="t" l="l"/>
            <a:pathLst>
              <a:path h="1433953" w="1433953">
                <a:moveTo>
                  <a:pt x="0" y="0"/>
                </a:moveTo>
                <a:lnTo>
                  <a:pt x="1433953" y="0"/>
                </a:lnTo>
                <a:lnTo>
                  <a:pt x="1433953" y="1433953"/>
                </a:lnTo>
                <a:lnTo>
                  <a:pt x="0" y="14339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5267526" y="4483399"/>
            <a:ext cx="1729972" cy="864986"/>
            <a:chOff x="0" y="0"/>
            <a:chExt cx="812800" cy="406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BBBB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77800" y="-28575"/>
              <a:ext cx="5588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907370" y="1703883"/>
            <a:ext cx="12473261" cy="186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1"/>
              </a:lnSpc>
            </a:pPr>
            <a:r>
              <a:rPr lang="en-US" b="true" sz="6361" spc="2048">
                <a:solidFill>
                  <a:srgbClr val="000000"/>
                </a:solidFill>
                <a:latin typeface="Raleway Heavy"/>
                <a:ea typeface="Raleway Heavy"/>
                <a:cs typeface="Raleway Heavy"/>
                <a:sym typeface="Raleway Heavy"/>
              </a:rPr>
              <a:t>ARQUITECTURA DEL SISTEMA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808499" y="4507514"/>
            <a:ext cx="1729972" cy="864986"/>
            <a:chOff x="0" y="0"/>
            <a:chExt cx="812800" cy="406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BBBB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77800" y="-28575"/>
              <a:ext cx="5588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4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23082"/>
            <a:ext cx="17451709" cy="9643754"/>
            <a:chOff x="0" y="0"/>
            <a:chExt cx="23268945" cy="1285833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62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30679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70297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400858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362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69"/>
                  </a:lnTo>
                  <a:lnTo>
                    <a:pt x="0" y="4439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5400000">
              <a:off x="18828976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5400000">
              <a:off x="0" y="8418368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3156772" y="3876288"/>
            <a:ext cx="1217983" cy="1717668"/>
          </a:xfrm>
          <a:custGeom>
            <a:avLst/>
            <a:gdLst/>
            <a:ahLst/>
            <a:cxnLst/>
            <a:rect r="r" b="b" t="t" l="l"/>
            <a:pathLst>
              <a:path h="1717668" w="1217983">
                <a:moveTo>
                  <a:pt x="0" y="0"/>
                </a:moveTo>
                <a:lnTo>
                  <a:pt x="1217983" y="0"/>
                </a:lnTo>
                <a:lnTo>
                  <a:pt x="1217983" y="1717668"/>
                </a:lnTo>
                <a:lnTo>
                  <a:pt x="0" y="1717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528579" y="5946324"/>
            <a:ext cx="1175207" cy="1496212"/>
          </a:xfrm>
          <a:custGeom>
            <a:avLst/>
            <a:gdLst/>
            <a:ahLst/>
            <a:cxnLst/>
            <a:rect r="r" b="b" t="t" l="l"/>
            <a:pathLst>
              <a:path h="1496212" w="1175207">
                <a:moveTo>
                  <a:pt x="0" y="0"/>
                </a:moveTo>
                <a:lnTo>
                  <a:pt x="1175207" y="0"/>
                </a:lnTo>
                <a:lnTo>
                  <a:pt x="1175207" y="1496212"/>
                </a:lnTo>
                <a:lnTo>
                  <a:pt x="0" y="14962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335095" y="4160003"/>
            <a:ext cx="1433953" cy="1433953"/>
          </a:xfrm>
          <a:custGeom>
            <a:avLst/>
            <a:gdLst/>
            <a:ahLst/>
            <a:cxnLst/>
            <a:rect r="r" b="b" t="t" l="l"/>
            <a:pathLst>
              <a:path h="1433953" w="1433953">
                <a:moveTo>
                  <a:pt x="0" y="0"/>
                </a:moveTo>
                <a:lnTo>
                  <a:pt x="1433953" y="0"/>
                </a:lnTo>
                <a:lnTo>
                  <a:pt x="1433953" y="1433953"/>
                </a:lnTo>
                <a:lnTo>
                  <a:pt x="0" y="14339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584264" y="5946324"/>
            <a:ext cx="2515784" cy="1321930"/>
          </a:xfrm>
          <a:custGeom>
            <a:avLst/>
            <a:gdLst/>
            <a:ahLst/>
            <a:cxnLst/>
            <a:rect r="r" b="b" t="t" l="l"/>
            <a:pathLst>
              <a:path h="1321930" w="2515784">
                <a:moveTo>
                  <a:pt x="0" y="0"/>
                </a:moveTo>
                <a:lnTo>
                  <a:pt x="2515784" y="0"/>
                </a:lnTo>
                <a:lnTo>
                  <a:pt x="2515784" y="1321930"/>
                </a:lnTo>
                <a:lnTo>
                  <a:pt x="0" y="13219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176474" y="3990844"/>
            <a:ext cx="1853136" cy="1772272"/>
          </a:xfrm>
          <a:custGeom>
            <a:avLst/>
            <a:gdLst/>
            <a:ahLst/>
            <a:cxnLst/>
            <a:rect r="r" b="b" t="t" l="l"/>
            <a:pathLst>
              <a:path h="1772272" w="1853136">
                <a:moveTo>
                  <a:pt x="0" y="0"/>
                </a:moveTo>
                <a:lnTo>
                  <a:pt x="1853136" y="0"/>
                </a:lnTo>
                <a:lnTo>
                  <a:pt x="1853136" y="1772272"/>
                </a:lnTo>
                <a:lnTo>
                  <a:pt x="0" y="177227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056346" y="7268254"/>
            <a:ext cx="1539723" cy="1539723"/>
          </a:xfrm>
          <a:custGeom>
            <a:avLst/>
            <a:gdLst/>
            <a:ahLst/>
            <a:cxnLst/>
            <a:rect r="r" b="b" t="t" l="l"/>
            <a:pathLst>
              <a:path h="1539723" w="1539723">
                <a:moveTo>
                  <a:pt x="0" y="0"/>
                </a:moveTo>
                <a:lnTo>
                  <a:pt x="1539723" y="0"/>
                </a:lnTo>
                <a:lnTo>
                  <a:pt x="1539723" y="1539723"/>
                </a:lnTo>
                <a:lnTo>
                  <a:pt x="0" y="15397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596069" y="3990844"/>
            <a:ext cx="1493545" cy="1493545"/>
          </a:xfrm>
          <a:custGeom>
            <a:avLst/>
            <a:gdLst/>
            <a:ahLst/>
            <a:cxnLst/>
            <a:rect r="r" b="b" t="t" l="l"/>
            <a:pathLst>
              <a:path h="1493545" w="1493545">
                <a:moveTo>
                  <a:pt x="0" y="0"/>
                </a:moveTo>
                <a:lnTo>
                  <a:pt x="1493546" y="0"/>
                </a:lnTo>
                <a:lnTo>
                  <a:pt x="1493546" y="1493545"/>
                </a:lnTo>
                <a:lnTo>
                  <a:pt x="0" y="149354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156772" y="1692656"/>
            <a:ext cx="11974456" cy="1750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3"/>
              </a:lnSpc>
            </a:pPr>
            <a:r>
              <a:rPr lang="en-US" b="true" sz="6020" spc="1938">
                <a:solidFill>
                  <a:srgbClr val="27403B"/>
                </a:solidFill>
                <a:latin typeface="Raleway Bold"/>
                <a:ea typeface="Raleway Bold"/>
                <a:cs typeface="Raleway Bold"/>
                <a:sym typeface="Raleway Bold"/>
              </a:rPr>
              <a:t>TECNOLOGÍAS UTILIZADAS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78386" y="3861163"/>
            <a:ext cx="14737527" cy="208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7"/>
              </a:lnSpc>
            </a:pPr>
            <a:r>
              <a:rPr lang="en-US" b="true" sz="7137" spc="229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DEMOSTRACIÓN DEL PROYECTO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312014" y="4499190"/>
            <a:ext cx="13663973" cy="223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8"/>
              </a:lnSpc>
            </a:pPr>
            <a:r>
              <a:rPr lang="en-US" b="true" sz="13601" spc="68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GRACIAS</a:t>
            </a:r>
          </a:p>
        </p:txBody>
      </p:sp>
      <p:sp>
        <p:nvSpPr>
          <p:cNvPr name="TextBox 15" id="15"/>
          <p:cNvSpPr txBox="true"/>
          <p:nvPr/>
        </p:nvSpPr>
        <p:spPr>
          <a:xfrm rot="-17737">
            <a:off x="14201031" y="1415891"/>
            <a:ext cx="2622496" cy="24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39"/>
              </a:lnSpc>
              <a:spcBef>
                <a:spcPct val="0"/>
              </a:spcBef>
            </a:pPr>
            <a:r>
              <a:rPr lang="en-US" sz="1457" spc="91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Diciembre 2025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12014" y="3294756"/>
            <a:ext cx="13663973" cy="15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MUCHAS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DAG6BXtvAJQ</dc:identifier>
  <dcterms:modified xsi:type="dcterms:W3CDTF">2011-08-01T06:04:30Z</dcterms:modified>
  <cp:revision>1</cp:revision>
  <dc:title>Diciembre 2025</dc:title>
</cp:coreProperties>
</file>